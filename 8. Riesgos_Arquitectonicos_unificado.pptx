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73F"/>
        </a:solidFill>
      </p:bgPr>
    </p:bg>
    <p:spTree>
      <p:nvGrpSpPr>
        <p:cNvPr id="1" name=""/>
        <p:cNvGrpSpPr/>
        <p:nvPr/>
      </p:nvGrpSpPr>
      <p:grpSpPr>
        <a:xfrm>
          <a:off x="0" y="0"/>
          <a:ext cx="0" cy="0"/>
          <a:chOff x="0" y="0"/>
          <a:chExt cx="0" cy="0"/>
        </a:xfrm>
      </p:grpSpPr>
      <p:sp>
        <p:nvSpPr>
          <p:cNvPr id="2" name="Shape 0"/>
          <p:cNvSpPr/>
          <p:nvPr/>
        </p:nvSpPr>
        <p:spPr>
          <a:xfrm>
            <a:off x="685800" y="685800"/>
            <a:ext cx="10817352" cy="5486400"/>
          </a:xfrm>
          <a:prstGeom prst="rect">
            <a:avLst/>
          </a:prstGeom>
          <a:solidFill>
            <a:srgbClr val="16273F"/>
          </a:solidFill>
          <a:ln w="12700">
            <a:solidFill>
              <a:srgbClr val="486680"/>
            </a:solidFill>
            <a:prstDash val="solid"/>
          </a:ln>
        </p:spPr>
      </p:sp>
      <p:sp>
        <p:nvSpPr>
          <p:cNvPr id="3" name="Shape 1"/>
          <p:cNvSpPr/>
          <p:nvPr/>
        </p:nvSpPr>
        <p:spPr>
          <a:xfrm>
            <a:off x="566928" y="680314"/>
            <a:ext cx="237744" cy="10973"/>
          </a:xfrm>
          <a:prstGeom prst="rect">
            <a:avLst/>
          </a:prstGeom>
          <a:solidFill>
            <a:srgbClr val="B85C2E"/>
          </a:solidFill>
          <a:ln/>
        </p:spPr>
      </p:sp>
      <p:sp>
        <p:nvSpPr>
          <p:cNvPr id="4" name="Shape 2"/>
          <p:cNvSpPr/>
          <p:nvPr/>
        </p:nvSpPr>
        <p:spPr>
          <a:xfrm>
            <a:off x="680314" y="566928"/>
            <a:ext cx="10973" cy="237744"/>
          </a:xfrm>
          <a:prstGeom prst="rect">
            <a:avLst/>
          </a:prstGeom>
          <a:solidFill>
            <a:srgbClr val="B85C2E"/>
          </a:solidFill>
          <a:ln/>
        </p:spPr>
      </p:sp>
      <p:sp>
        <p:nvSpPr>
          <p:cNvPr id="5" name="Shape 3"/>
          <p:cNvSpPr/>
          <p:nvPr/>
        </p:nvSpPr>
        <p:spPr>
          <a:xfrm>
            <a:off x="11384280" y="680314"/>
            <a:ext cx="237744" cy="10973"/>
          </a:xfrm>
          <a:prstGeom prst="rect">
            <a:avLst/>
          </a:prstGeom>
          <a:solidFill>
            <a:srgbClr val="B85C2E"/>
          </a:solidFill>
          <a:ln/>
        </p:spPr>
      </p:sp>
      <p:sp>
        <p:nvSpPr>
          <p:cNvPr id="6" name="Shape 4"/>
          <p:cNvSpPr/>
          <p:nvPr/>
        </p:nvSpPr>
        <p:spPr>
          <a:xfrm>
            <a:off x="11497666" y="566928"/>
            <a:ext cx="10973" cy="237744"/>
          </a:xfrm>
          <a:prstGeom prst="rect">
            <a:avLst/>
          </a:prstGeom>
          <a:solidFill>
            <a:srgbClr val="B85C2E"/>
          </a:solidFill>
          <a:ln/>
        </p:spPr>
      </p:sp>
      <p:sp>
        <p:nvSpPr>
          <p:cNvPr id="7" name="Shape 5"/>
          <p:cNvSpPr/>
          <p:nvPr/>
        </p:nvSpPr>
        <p:spPr>
          <a:xfrm>
            <a:off x="566928" y="6166714"/>
            <a:ext cx="237744" cy="10973"/>
          </a:xfrm>
          <a:prstGeom prst="rect">
            <a:avLst/>
          </a:prstGeom>
          <a:solidFill>
            <a:srgbClr val="B85C2E"/>
          </a:solidFill>
          <a:ln/>
        </p:spPr>
      </p:sp>
      <p:sp>
        <p:nvSpPr>
          <p:cNvPr id="8" name="Shape 6"/>
          <p:cNvSpPr/>
          <p:nvPr/>
        </p:nvSpPr>
        <p:spPr>
          <a:xfrm>
            <a:off x="680314" y="6053328"/>
            <a:ext cx="10973" cy="237744"/>
          </a:xfrm>
          <a:prstGeom prst="rect">
            <a:avLst/>
          </a:prstGeom>
          <a:solidFill>
            <a:srgbClr val="B85C2E"/>
          </a:solidFill>
          <a:ln/>
        </p:spPr>
      </p:sp>
      <p:sp>
        <p:nvSpPr>
          <p:cNvPr id="9" name="Shape 7"/>
          <p:cNvSpPr/>
          <p:nvPr/>
        </p:nvSpPr>
        <p:spPr>
          <a:xfrm>
            <a:off x="11384280" y="6166714"/>
            <a:ext cx="237744" cy="10973"/>
          </a:xfrm>
          <a:prstGeom prst="rect">
            <a:avLst/>
          </a:prstGeom>
          <a:solidFill>
            <a:srgbClr val="B85C2E"/>
          </a:solidFill>
          <a:ln/>
        </p:spPr>
      </p:sp>
      <p:sp>
        <p:nvSpPr>
          <p:cNvPr id="10" name="Shape 8"/>
          <p:cNvSpPr/>
          <p:nvPr/>
        </p:nvSpPr>
        <p:spPr>
          <a:xfrm>
            <a:off x="11497666" y="6053328"/>
            <a:ext cx="10973" cy="237744"/>
          </a:xfrm>
          <a:prstGeom prst="rect">
            <a:avLst/>
          </a:prstGeom>
          <a:solidFill>
            <a:srgbClr val="B85C2E"/>
          </a:solidFill>
          <a:ln/>
        </p:spPr>
      </p:sp>
      <p:sp>
        <p:nvSpPr>
          <p:cNvPr id="11" name="Text 9"/>
          <p:cNvSpPr txBox="1"/>
          <p:nvPr/>
        </p:nvSpPr>
        <p:spPr>
          <a:xfrm>
            <a:off x="1234440" y="1371600"/>
            <a:ext cx="8229600" cy="274320"/>
          </a:xfrm>
          <a:prstGeom prst="rect">
            <a:avLst/>
          </a:prstGeom>
          <a:noFill/>
          <a:ln/>
        </p:spPr>
        <p:txBody>
          <a:bodyPr wrap="square" lIns="0" tIns="0" rIns="0" bIns="0" rtlCol="0" anchor="ctr"/>
          <a:lstStyle/>
          <a:p>
            <a:pPr indent="0" marL="0">
              <a:buNone/>
            </a:pPr>
            <a:r>
              <a:rPr lang="en-US" sz="1100" spc="100" kern="0" dirty="0">
                <a:solidFill>
                  <a:srgbClr val="8FAEC4"/>
                </a:solidFill>
                <a:latin typeface="Courier New" pitchFamily="34" charset="0"/>
                <a:ea typeface="Courier New" pitchFamily="34" charset="-122"/>
                <a:cs typeface="Courier New" pitchFamily="34" charset="-120"/>
              </a:rPr>
              <a:t>AREM · UNIVERSIDAD DE LA SABANA · MÓDULO 09</a:t>
            </a:r>
            <a:endParaRPr lang="en-US" sz="1100" dirty="0"/>
          </a:p>
        </p:txBody>
      </p:sp>
      <p:sp>
        <p:nvSpPr>
          <p:cNvPr id="12" name="Text 10"/>
          <p:cNvSpPr txBox="1"/>
          <p:nvPr/>
        </p:nvSpPr>
        <p:spPr>
          <a:xfrm>
            <a:off x="1234440" y="1874520"/>
            <a:ext cx="9601200" cy="1645920"/>
          </a:xfrm>
          <a:prstGeom prst="rect">
            <a:avLst/>
          </a:prstGeom>
          <a:noFill/>
          <a:ln/>
        </p:spPr>
        <p:txBody>
          <a:bodyPr wrap="square" lIns="0" tIns="0" rIns="0" bIns="0" rtlCol="0" anchor="ctr"/>
          <a:lstStyle/>
          <a:p>
            <a:pPr indent="0" marL="0">
              <a:lnSpc>
                <a:spcPts val="4600"/>
              </a:lnSpc>
              <a:buNone/>
            </a:pPr>
            <a:r>
              <a:rPr lang="en-US" sz="4200" b="1" dirty="0">
                <a:solidFill>
                  <a:srgbClr val="FFFFFF"/>
                </a:solidFill>
                <a:latin typeface="Arial" pitchFamily="34" charset="0"/>
                <a:ea typeface="Arial" pitchFamily="34" charset="-122"/>
                <a:cs typeface="Arial" pitchFamily="34" charset="-120"/>
              </a:rPr>
              <a:t>Evaluación de Riesgos</a:t>
            </a:r>
            <a:endParaRPr lang="en-US" sz="4200" dirty="0"/>
          </a:p>
          <a:p>
            <a:pPr indent="0" marL="0">
              <a:lnSpc>
                <a:spcPts val="4600"/>
              </a:lnSpc>
              <a:buNone/>
            </a:pPr>
            <a:r>
              <a:rPr lang="en-US" sz="4200" b="1" dirty="0">
                <a:solidFill>
                  <a:srgbClr val="FFFFFF"/>
                </a:solidFill>
                <a:latin typeface="Arial" pitchFamily="34" charset="0"/>
                <a:ea typeface="Arial" pitchFamily="34" charset="-122"/>
                <a:cs typeface="Arial" pitchFamily="34" charset="-120"/>
              </a:rPr>
              <a:t>Arquitectónicos</a:t>
            </a:r>
            <a:endParaRPr lang="en-US" sz="4200" dirty="0"/>
          </a:p>
        </p:txBody>
      </p:sp>
      <p:sp>
        <p:nvSpPr>
          <p:cNvPr id="13" name="Text 11"/>
          <p:cNvSpPr txBox="1"/>
          <p:nvPr/>
        </p:nvSpPr>
        <p:spPr>
          <a:xfrm>
            <a:off x="1234440" y="3611880"/>
            <a:ext cx="9601200" cy="365760"/>
          </a:xfrm>
          <a:prstGeom prst="rect">
            <a:avLst/>
          </a:prstGeom>
          <a:noFill/>
          <a:ln/>
        </p:spPr>
        <p:txBody>
          <a:bodyPr wrap="square" lIns="0" tIns="0" rIns="0" bIns="0" rtlCol="0" anchor="ctr"/>
          <a:lstStyle/>
          <a:p>
            <a:pPr indent="0" marL="0">
              <a:buNone/>
            </a:pPr>
            <a:r>
              <a:rPr lang="en-US" sz="1700" dirty="0">
                <a:solidFill>
                  <a:srgbClr val="C7D6E0"/>
                </a:solidFill>
                <a:latin typeface="Calibri" pitchFamily="34" charset="0"/>
                <a:ea typeface="Calibri" pitchFamily="34" charset="-122"/>
                <a:cs typeface="Calibri" pitchFamily="34" charset="-120"/>
              </a:rPr>
              <a:t>Análisis técnico y estratégico para la defensa de sistemas</a:t>
            </a:r>
            <a:endParaRPr lang="en-US" sz="1700" dirty="0"/>
          </a:p>
        </p:txBody>
      </p:sp>
      <p:sp>
        <p:nvSpPr>
          <p:cNvPr id="14" name="Shape 12"/>
          <p:cNvSpPr/>
          <p:nvPr/>
        </p:nvSpPr>
        <p:spPr>
          <a:xfrm>
            <a:off x="1234440" y="4206240"/>
            <a:ext cx="7132320" cy="822960"/>
          </a:xfrm>
          <a:prstGeom prst="rect">
            <a:avLst/>
          </a:prstGeom>
          <a:solidFill>
            <a:srgbClr val="16273F"/>
          </a:solidFill>
          <a:ln w="12700">
            <a:solidFill>
              <a:srgbClr val="B85C2E"/>
            </a:solidFill>
            <a:prstDash val="solid"/>
          </a:ln>
        </p:spPr>
      </p:sp>
      <p:sp>
        <p:nvSpPr>
          <p:cNvPr id="15" name="Text 13"/>
          <p:cNvSpPr txBox="1"/>
          <p:nvPr/>
        </p:nvSpPr>
        <p:spPr>
          <a:xfrm>
            <a:off x="1417320" y="4206240"/>
            <a:ext cx="6766560" cy="822960"/>
          </a:xfrm>
          <a:prstGeom prst="rect">
            <a:avLst/>
          </a:prstGeom>
          <a:noFill/>
          <a:ln/>
        </p:spPr>
        <p:txBody>
          <a:bodyPr wrap="square" lIns="0" tIns="0" rIns="0" bIns="0" rtlCol="0" anchor="ctr"/>
          <a:lstStyle/>
          <a:p>
            <a:pPr indent="0" marL="0">
              <a:buNone/>
            </a:pPr>
            <a:r>
              <a:rPr lang="en-US" sz="1250" dirty="0">
                <a:solidFill>
                  <a:srgbClr val="D6E2E9"/>
                </a:solidFill>
                <a:latin typeface="Calibri" pitchFamily="34" charset="0"/>
                <a:ea typeface="Calibri" pitchFamily="34" charset="-122"/>
                <a:cs typeface="Calibri" pitchFamily="34" charset="-120"/>
              </a:rPr>
              <a:t>Objetivo: identificar, categorizar y mitigar riesgos en arquitecturas de sistemas mediante metodologías de análisis estructurado.</a:t>
            </a:r>
            <a:endParaRPr lang="en-US" sz="1250" dirty="0"/>
          </a:p>
        </p:txBody>
      </p:sp>
      <p:sp>
        <p:nvSpPr>
          <p:cNvPr id="16" name="Text 14"/>
          <p:cNvSpPr txBox="1"/>
          <p:nvPr/>
        </p:nvSpPr>
        <p:spPr>
          <a:xfrm>
            <a:off x="1234440" y="5349240"/>
            <a:ext cx="7315200" cy="274320"/>
          </a:xfrm>
          <a:prstGeom prst="rect">
            <a:avLst/>
          </a:prstGeom>
          <a:noFill/>
          <a:ln/>
        </p:spPr>
        <p:txBody>
          <a:bodyPr wrap="square" lIns="0" tIns="0" rIns="0" bIns="0" rtlCol="0" anchor="ctr"/>
          <a:lstStyle/>
          <a:p>
            <a:pPr indent="0" marL="0">
              <a:buNone/>
            </a:pPr>
            <a:r>
              <a:rPr lang="en-US" sz="1000" dirty="0">
                <a:solidFill>
                  <a:srgbClr val="8FAEC4"/>
                </a:solidFill>
                <a:latin typeface="Courier New" pitchFamily="34" charset="0"/>
                <a:ea typeface="Courier New" pitchFamily="34" charset="-122"/>
                <a:cs typeface="Courier New" pitchFamily="34" charset="-120"/>
              </a:rPr>
              <a:t>Profesor: Ing. César Augusto Vega Fernández</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4ED"/>
        </a:solidFill>
      </p:bgPr>
    </p:bg>
    <p:spTree>
      <p:nvGrpSpPr>
        <p:cNvPr id="1" name=""/>
        <p:cNvGrpSpPr/>
        <p:nvPr/>
      </p:nvGrpSpPr>
      <p:grpSpPr>
        <a:xfrm>
          <a:off x="0" y="0"/>
          <a:ext cx="0" cy="0"/>
          <a:chOff x="0" y="0"/>
          <a:chExt cx="0" cy="0"/>
        </a:xfrm>
      </p:grpSpPr>
      <p:sp>
        <p:nvSpPr>
          <p:cNvPr id="2" name="Shape 0"/>
          <p:cNvSpPr/>
          <p:nvPr/>
        </p:nvSpPr>
        <p:spPr>
          <a:xfrm>
            <a:off x="384048" y="310896"/>
            <a:ext cx="11420856" cy="10973"/>
          </a:xfrm>
          <a:prstGeom prst="rect">
            <a:avLst/>
          </a:prstGeom>
          <a:solidFill>
            <a:srgbClr val="C6C4B8"/>
          </a:solidFill>
          <a:ln w="12700">
            <a:solidFill>
              <a:srgbClr val="C6C4B8"/>
            </a:solidFill>
            <a:prstDash val="solid"/>
          </a:ln>
        </p:spPr>
        <p:txBody>
          <a:bodyPr/>
          <a:p/>
        </p:txBody>
      </p:sp>
      <p:sp>
        <p:nvSpPr>
          <p:cNvPr id="3" name="Shape 1"/>
          <p:cNvSpPr/>
          <p:nvPr/>
        </p:nvSpPr>
        <p:spPr>
          <a:xfrm>
            <a:off x="384048" y="6510528"/>
            <a:ext cx="11420856" cy="10973"/>
          </a:xfrm>
          <a:prstGeom prst="rect">
            <a:avLst/>
          </a:prstGeom>
          <a:solidFill>
            <a:srgbClr val="C6C4B8"/>
          </a:solidFill>
          <a:ln w="12700">
            <a:solidFill>
              <a:srgbClr val="C6C4B8"/>
            </a:solidFill>
            <a:prstDash val="solid"/>
          </a:ln>
        </p:spPr>
        <p:txBody>
          <a:bodyPr/>
          <a:p/>
        </p:txBody>
      </p:sp>
      <p:sp>
        <p:nvSpPr>
          <p:cNvPr id="4" name="Shape 2"/>
          <p:cNvSpPr/>
          <p:nvPr/>
        </p:nvSpPr>
        <p:spPr>
          <a:xfrm>
            <a:off x="384048" y="310896"/>
            <a:ext cx="10973" cy="6208776"/>
          </a:xfrm>
          <a:prstGeom prst="rect">
            <a:avLst/>
          </a:prstGeom>
          <a:solidFill>
            <a:srgbClr val="C6C4B8"/>
          </a:solidFill>
          <a:ln w="12700">
            <a:solidFill>
              <a:srgbClr val="C6C4B8"/>
            </a:solidFill>
            <a:prstDash val="solid"/>
          </a:ln>
        </p:spPr>
        <p:txBody>
          <a:bodyPr/>
          <a:p/>
        </p:txBody>
      </p:sp>
      <p:sp>
        <p:nvSpPr>
          <p:cNvPr id="5" name="Shape 3"/>
          <p:cNvSpPr/>
          <p:nvPr/>
        </p:nvSpPr>
        <p:spPr>
          <a:xfrm>
            <a:off x="11795760" y="310896"/>
            <a:ext cx="10973" cy="6208776"/>
          </a:xfrm>
          <a:prstGeom prst="rect">
            <a:avLst/>
          </a:prstGeom>
          <a:solidFill>
            <a:srgbClr val="C6C4B8"/>
          </a:solidFill>
          <a:ln w="12700">
            <a:solidFill>
              <a:srgbClr val="C6C4B8"/>
            </a:solidFill>
            <a:prstDash val="solid"/>
          </a:ln>
        </p:spPr>
        <p:txBody>
          <a:bodyPr/>
          <a:p/>
        </p:txBody>
      </p:sp>
      <p:sp>
        <p:nvSpPr>
          <p:cNvPr id="6" name="Shape 4"/>
          <p:cNvSpPr/>
          <p:nvPr/>
        </p:nvSpPr>
        <p:spPr>
          <a:xfrm>
            <a:off x="283464" y="306324"/>
            <a:ext cx="201168" cy="9144"/>
          </a:xfrm>
          <a:prstGeom prst="rect">
            <a:avLst/>
          </a:prstGeom>
          <a:solidFill>
            <a:srgbClr val="5A7189"/>
          </a:solidFill>
          <a:ln w="12700">
            <a:solidFill>
              <a:srgbClr val="5A7189"/>
            </a:solidFill>
            <a:prstDash val="solid"/>
          </a:ln>
        </p:spPr>
        <p:txBody>
          <a:bodyPr/>
          <a:p/>
        </p:txBody>
      </p:sp>
      <p:sp>
        <p:nvSpPr>
          <p:cNvPr id="7" name="Shape 5"/>
          <p:cNvSpPr/>
          <p:nvPr/>
        </p:nvSpPr>
        <p:spPr>
          <a:xfrm>
            <a:off x="379476" y="210312"/>
            <a:ext cx="9144" cy="201168"/>
          </a:xfrm>
          <a:prstGeom prst="rect">
            <a:avLst/>
          </a:prstGeom>
          <a:solidFill>
            <a:srgbClr val="5A7189"/>
          </a:solidFill>
          <a:ln w="12700">
            <a:solidFill>
              <a:srgbClr val="5A7189"/>
            </a:solidFill>
            <a:prstDash val="solid"/>
          </a:ln>
        </p:spPr>
        <p:txBody>
          <a:bodyPr/>
          <a:p/>
        </p:txBody>
      </p:sp>
      <p:sp>
        <p:nvSpPr>
          <p:cNvPr id="8" name="Shape 6"/>
          <p:cNvSpPr/>
          <p:nvPr/>
        </p:nvSpPr>
        <p:spPr>
          <a:xfrm>
            <a:off x="11695176" y="306324"/>
            <a:ext cx="201168" cy="9144"/>
          </a:xfrm>
          <a:prstGeom prst="rect">
            <a:avLst/>
          </a:prstGeom>
          <a:solidFill>
            <a:srgbClr val="5A7189"/>
          </a:solidFill>
          <a:ln w="12700">
            <a:solidFill>
              <a:srgbClr val="5A7189"/>
            </a:solidFill>
            <a:prstDash val="solid"/>
          </a:ln>
        </p:spPr>
        <p:txBody>
          <a:bodyPr/>
          <a:p/>
        </p:txBody>
      </p:sp>
      <p:sp>
        <p:nvSpPr>
          <p:cNvPr id="9" name="Shape 7"/>
          <p:cNvSpPr/>
          <p:nvPr/>
        </p:nvSpPr>
        <p:spPr>
          <a:xfrm>
            <a:off x="11791188" y="210312"/>
            <a:ext cx="9144" cy="201168"/>
          </a:xfrm>
          <a:prstGeom prst="rect">
            <a:avLst/>
          </a:prstGeom>
          <a:solidFill>
            <a:srgbClr val="5A7189"/>
          </a:solidFill>
          <a:ln w="12700">
            <a:solidFill>
              <a:srgbClr val="5A7189"/>
            </a:solidFill>
            <a:prstDash val="solid"/>
          </a:ln>
        </p:spPr>
        <p:txBody>
          <a:bodyPr/>
          <a:p/>
        </p:txBody>
      </p:sp>
      <p:sp>
        <p:nvSpPr>
          <p:cNvPr id="10" name="Shape 8"/>
          <p:cNvSpPr/>
          <p:nvPr/>
        </p:nvSpPr>
        <p:spPr>
          <a:xfrm>
            <a:off x="283464" y="6505956"/>
            <a:ext cx="201168" cy="9144"/>
          </a:xfrm>
          <a:prstGeom prst="rect">
            <a:avLst/>
          </a:prstGeom>
          <a:solidFill>
            <a:srgbClr val="5A7189"/>
          </a:solidFill>
          <a:ln w="12700">
            <a:solidFill>
              <a:srgbClr val="5A7189"/>
            </a:solidFill>
            <a:prstDash val="solid"/>
          </a:ln>
        </p:spPr>
        <p:txBody>
          <a:bodyPr/>
          <a:p/>
        </p:txBody>
      </p:sp>
      <p:sp>
        <p:nvSpPr>
          <p:cNvPr id="11" name="Shape 9"/>
          <p:cNvSpPr/>
          <p:nvPr/>
        </p:nvSpPr>
        <p:spPr>
          <a:xfrm>
            <a:off x="379476" y="6409944"/>
            <a:ext cx="9144" cy="201168"/>
          </a:xfrm>
          <a:prstGeom prst="rect">
            <a:avLst/>
          </a:prstGeom>
          <a:solidFill>
            <a:srgbClr val="5A7189"/>
          </a:solidFill>
          <a:ln w="12700">
            <a:solidFill>
              <a:srgbClr val="5A7189"/>
            </a:solidFill>
            <a:prstDash val="solid"/>
          </a:ln>
        </p:spPr>
        <p:txBody>
          <a:bodyPr/>
          <a:p/>
        </p:txBody>
      </p:sp>
      <p:sp>
        <p:nvSpPr>
          <p:cNvPr id="12" name="Shape 10"/>
          <p:cNvSpPr/>
          <p:nvPr/>
        </p:nvSpPr>
        <p:spPr>
          <a:xfrm>
            <a:off x="11695176" y="6505956"/>
            <a:ext cx="201168" cy="9144"/>
          </a:xfrm>
          <a:prstGeom prst="rect">
            <a:avLst/>
          </a:prstGeom>
          <a:solidFill>
            <a:srgbClr val="5A7189"/>
          </a:solidFill>
          <a:ln w="12700">
            <a:solidFill>
              <a:srgbClr val="5A7189"/>
            </a:solidFill>
            <a:prstDash val="solid"/>
          </a:ln>
        </p:spPr>
        <p:txBody>
          <a:bodyPr/>
          <a:p/>
        </p:txBody>
      </p:sp>
      <p:sp>
        <p:nvSpPr>
          <p:cNvPr id="13" name="Shape 11"/>
          <p:cNvSpPr/>
          <p:nvPr/>
        </p:nvSpPr>
        <p:spPr>
          <a:xfrm>
            <a:off x="11791188" y="6409944"/>
            <a:ext cx="9144" cy="201168"/>
          </a:xfrm>
          <a:prstGeom prst="rect">
            <a:avLst/>
          </a:prstGeom>
          <a:solidFill>
            <a:srgbClr val="5A7189"/>
          </a:solidFill>
          <a:ln w="12700">
            <a:solidFill>
              <a:srgbClr val="5A7189"/>
            </a:solidFill>
            <a:prstDash val="solid"/>
          </a:ln>
        </p:spPr>
        <p:txBody>
          <a:bodyPr/>
          <a:p/>
        </p:txBody>
      </p:sp>
      <p:sp>
        <p:nvSpPr>
          <p:cNvPr id="14" name="Text 12"/>
          <p:cNvSpPr txBox="1"/>
          <p:nvPr/>
        </p:nvSpPr>
        <p:spPr>
          <a:xfrm>
            <a:off x="685800" y="566928"/>
            <a:ext cx="7315200" cy="237744"/>
          </a:xfrm>
          <a:prstGeom prst="rect">
            <a:avLst/>
          </a:prstGeom>
          <a:noFill/>
          <a:ln/>
        </p:spPr>
        <p:txBody>
          <a:bodyPr wrap="square" lIns="0" tIns="0" rIns="0" bIns="0" rtlCol="0" anchor="ctr"/>
          <a:lstStyle/>
          <a:p>
            <a:pPr indent="0" marL="0">
              <a:buNone/>
            </a:pPr>
            <a:r>
              <a:rPr lang="en-US" sz="1000" spc="100" kern="0" dirty="0">
                <a:solidFill>
                  <a:srgbClr val="B85C2E"/>
                </a:solidFill>
                <a:latin typeface="Courier New" pitchFamily="34" charset="0"/>
                <a:ea typeface="Courier New" pitchFamily="34" charset="-122"/>
                <a:cs typeface="Courier New" pitchFamily="34" charset="-120"/>
              </a:rPr>
              <a:t>01 · OBJETIVO</a:t>
            </a:r>
            <a:endParaRPr lang="en-US" sz="1000" dirty="0"/>
          </a:p>
        </p:txBody>
      </p:sp>
      <p:sp>
        <p:nvSpPr>
          <p:cNvPr id="15" name="Text 13"/>
          <p:cNvSpPr txBox="1"/>
          <p:nvPr/>
        </p:nvSpPr>
        <p:spPr>
          <a:xfrm>
            <a:off x="685800" y="822960"/>
            <a:ext cx="10820095" cy="566928"/>
          </a:xfrm>
          <a:prstGeom prst="rect">
            <a:avLst/>
          </a:prstGeom>
          <a:noFill/>
          <a:ln/>
        </p:spPr>
        <p:txBody>
          <a:bodyPr wrap="square" lIns="0" tIns="0" rIns="0" bIns="0" rtlCol="0" anchor="ctr"/>
          <a:lstStyle/>
          <a:p>
            <a:pPr indent="0" marL="0">
              <a:buNone/>
            </a:pPr>
            <a:r>
              <a:rPr lang="en-US" sz="3000" b="1" dirty="0">
                <a:solidFill>
                  <a:srgbClr val="16273F"/>
                </a:solidFill>
                <a:latin typeface="Arial" pitchFamily="34" charset="0"/>
                <a:ea typeface="Arial" pitchFamily="34" charset="-122"/>
                <a:cs typeface="Arial" pitchFamily="34" charset="-120"/>
              </a:rPr>
              <a:t>Qué se lleva del módulo</a:t>
            </a:r>
            <a:endParaRPr lang="en-US" sz="3000" dirty="0"/>
          </a:p>
        </p:txBody>
      </p:sp>
      <p:sp>
        <p:nvSpPr>
          <p:cNvPr id="16" name="Text 14"/>
          <p:cNvSpPr txBox="1"/>
          <p:nvPr/>
        </p:nvSpPr>
        <p:spPr>
          <a:xfrm>
            <a:off x="685800" y="1389888"/>
            <a:ext cx="10820095" cy="310896"/>
          </a:xfrm>
          <a:prstGeom prst="rect">
            <a:avLst/>
          </a:prstGeom>
          <a:noFill/>
          <a:ln/>
        </p:spPr>
        <p:txBody>
          <a:bodyPr wrap="square" lIns="0" tIns="0" rIns="0" bIns="0" rtlCol="0" anchor="ctr"/>
          <a:lstStyle/>
          <a:p>
            <a:pPr indent="0" marL="0">
              <a:buNone/>
            </a:pPr>
            <a:r>
              <a:rPr lang="en-US" sz="1350" dirty="0">
                <a:solidFill>
                  <a:srgbClr val="707C86"/>
                </a:solidFill>
                <a:latin typeface="Calibri" pitchFamily="34" charset="0"/>
                <a:ea typeface="Calibri" pitchFamily="34" charset="-122"/>
                <a:cs typeface="Calibri" pitchFamily="34" charset="-120"/>
              </a:rPr>
              <a:t>Cuatro capacidades concretas, no cuatro temas</a:t>
            </a:r>
            <a:endParaRPr lang="en-US" sz="1350" dirty="0"/>
          </a:p>
        </p:txBody>
      </p:sp>
      <p:sp>
        <p:nvSpPr>
          <p:cNvPr id="17" name="Shape 15"/>
          <p:cNvSpPr/>
          <p:nvPr/>
        </p:nvSpPr>
        <p:spPr>
          <a:xfrm>
            <a:off x="685800" y="1920240"/>
            <a:ext cx="7223760" cy="914400"/>
          </a:xfrm>
          <a:prstGeom prst="rect">
            <a:avLst/>
          </a:prstGeom>
          <a:solidFill>
            <a:srgbClr val="FFFFFF"/>
          </a:solidFill>
          <a:ln w="12700">
            <a:solidFill>
              <a:srgbClr val="C6C4B8"/>
            </a:solidFill>
            <a:prstDash val="solid"/>
          </a:ln>
        </p:spPr>
        <p:txBody>
          <a:bodyPr/>
          <a:p/>
        </p:txBody>
      </p:sp>
      <p:sp>
        <p:nvSpPr>
          <p:cNvPr id="18" name="Shape 16"/>
          <p:cNvSpPr/>
          <p:nvPr/>
        </p:nvSpPr>
        <p:spPr>
          <a:xfrm>
            <a:off x="685800" y="1920240"/>
            <a:ext cx="50292" cy="914400"/>
          </a:xfrm>
          <a:prstGeom prst="rect">
            <a:avLst/>
          </a:prstGeom>
          <a:solidFill>
            <a:srgbClr val="B85C2E"/>
          </a:solidFill>
          <a:ln w="12700">
            <a:solidFill>
              <a:srgbClr val="B85C2E"/>
            </a:solidFill>
            <a:prstDash val="solid"/>
          </a:ln>
        </p:spPr>
        <p:txBody>
          <a:bodyPr/>
          <a:p/>
        </p:txBody>
      </p:sp>
      <p:sp>
        <p:nvSpPr>
          <p:cNvPr id="19" name="Text 17"/>
          <p:cNvSpPr txBox="1"/>
          <p:nvPr/>
        </p:nvSpPr>
        <p:spPr>
          <a:xfrm>
            <a:off x="978408" y="2057400"/>
            <a:ext cx="1097280" cy="219456"/>
          </a:xfrm>
          <a:prstGeom prst="rect">
            <a:avLst/>
          </a:prstGeom>
          <a:noFill/>
          <a:ln/>
        </p:spPr>
        <p:txBody>
          <a:bodyPr wrap="square" lIns="0" tIns="0" rIns="0" bIns="0" rtlCol="0" anchor="ctr"/>
          <a:lstStyle/>
          <a:p>
            <a:pPr indent="0" marL="0">
              <a:buNone/>
            </a:pPr>
            <a:r>
              <a:rPr lang="en-US" sz="850" spc="50" kern="0" dirty="0">
                <a:solidFill>
                  <a:srgbClr val="5A7189"/>
                </a:solidFill>
                <a:latin typeface="Courier New" pitchFamily="34" charset="0"/>
                <a:ea typeface="Courier New" pitchFamily="34" charset="-122"/>
                <a:cs typeface="Courier New" pitchFamily="34" charset="-120"/>
              </a:rPr>
              <a:t>01</a:t>
            </a:r>
            <a:endParaRPr lang="en-US" sz="850" dirty="0"/>
          </a:p>
        </p:txBody>
      </p:sp>
      <p:sp>
        <p:nvSpPr>
          <p:cNvPr id="20" name="Text 18"/>
          <p:cNvSpPr txBox="1"/>
          <p:nvPr/>
        </p:nvSpPr>
        <p:spPr>
          <a:xfrm>
            <a:off x="1600200" y="2020824"/>
            <a:ext cx="6035040" cy="292608"/>
          </a:xfrm>
          <a:prstGeom prst="rect">
            <a:avLst/>
          </a:prstGeom>
          <a:noFill/>
          <a:ln/>
        </p:spPr>
        <p:txBody>
          <a:bodyPr wrap="square" lIns="0" tIns="0" rIns="0" bIns="0" rtlCol="0" anchor="ctr"/>
          <a:lstStyle/>
          <a:p>
            <a:pPr indent="0" marL="0">
              <a:buNone/>
            </a:pPr>
            <a:r>
              <a:rPr lang="en-US" sz="1500" b="1" dirty="0">
                <a:solidFill>
                  <a:srgbClr val="16273F"/>
                </a:solidFill>
                <a:latin typeface="Arial" pitchFamily="34" charset="0"/>
                <a:ea typeface="Arial" pitchFamily="34" charset="-122"/>
                <a:cs typeface="Arial" pitchFamily="34" charset="-120"/>
              </a:rPr>
              <a:t>Distinguir</a:t>
            </a:r>
            <a:endParaRPr lang="en-US" sz="1500" dirty="0"/>
          </a:p>
        </p:txBody>
      </p:sp>
      <p:sp>
        <p:nvSpPr>
          <p:cNvPr id="21" name="Text 19"/>
          <p:cNvSpPr txBox="1"/>
          <p:nvPr/>
        </p:nvSpPr>
        <p:spPr>
          <a:xfrm>
            <a:off x="1600200" y="2331720"/>
            <a:ext cx="6035040" cy="457200"/>
          </a:xfrm>
          <a:prstGeom prst="rect">
            <a:avLst/>
          </a:prstGeom>
          <a:noFill/>
          <a:ln/>
        </p:spPr>
        <p:txBody>
          <a:bodyPr wrap="square" lIns="0" tIns="0" rIns="0" bIns="0" rtlCol="0" anchor="ctr"/>
          <a:lstStyle/>
          <a:p>
            <a:pPr indent="0" marL="0">
              <a:lnSpc>
                <a:spcPts val="1700"/>
              </a:lnSpc>
              <a:buNone/>
            </a:pPr>
            <a:r>
              <a:rPr lang="en-US" sz="1250" dirty="0">
                <a:solidFill>
                  <a:srgbClr val="1F2A36"/>
                </a:solidFill>
                <a:latin typeface="Calibri" pitchFamily="34" charset="0"/>
                <a:ea typeface="Calibri" pitchFamily="34" charset="-122"/>
                <a:cs typeface="Calibri" pitchFamily="34" charset="-120"/>
              </a:rPr>
              <a:t>Separar un riesgo arquitectónico de un error de código, y explicar por qué el costo de corregirlos es distinto.</a:t>
            </a:r>
            <a:endParaRPr lang="en-US" sz="1250" dirty="0"/>
          </a:p>
        </p:txBody>
      </p:sp>
      <p:sp>
        <p:nvSpPr>
          <p:cNvPr id="22" name="Shape 20"/>
          <p:cNvSpPr/>
          <p:nvPr/>
        </p:nvSpPr>
        <p:spPr>
          <a:xfrm>
            <a:off x="685800" y="2953512"/>
            <a:ext cx="7223760" cy="914400"/>
          </a:xfrm>
          <a:prstGeom prst="rect">
            <a:avLst/>
          </a:prstGeom>
          <a:solidFill>
            <a:srgbClr val="FFFFFF"/>
          </a:solidFill>
          <a:ln w="12700">
            <a:solidFill>
              <a:srgbClr val="C6C4B8"/>
            </a:solidFill>
            <a:prstDash val="solid"/>
          </a:ln>
        </p:spPr>
        <p:txBody>
          <a:bodyPr/>
          <a:p/>
        </p:txBody>
      </p:sp>
      <p:sp>
        <p:nvSpPr>
          <p:cNvPr id="23" name="Shape 21"/>
          <p:cNvSpPr/>
          <p:nvPr/>
        </p:nvSpPr>
        <p:spPr>
          <a:xfrm>
            <a:off x="685800" y="2953512"/>
            <a:ext cx="50292" cy="914400"/>
          </a:xfrm>
          <a:prstGeom prst="rect">
            <a:avLst/>
          </a:prstGeom>
          <a:solidFill>
            <a:srgbClr val="16273F"/>
          </a:solidFill>
          <a:ln w="12700">
            <a:solidFill>
              <a:srgbClr val="16273F"/>
            </a:solidFill>
            <a:prstDash val="solid"/>
          </a:ln>
        </p:spPr>
        <p:txBody>
          <a:bodyPr/>
          <a:p/>
        </p:txBody>
      </p:sp>
      <p:sp>
        <p:nvSpPr>
          <p:cNvPr id="24" name="Text 22"/>
          <p:cNvSpPr txBox="1"/>
          <p:nvPr/>
        </p:nvSpPr>
        <p:spPr>
          <a:xfrm>
            <a:off x="978408" y="3090672"/>
            <a:ext cx="1097280" cy="219456"/>
          </a:xfrm>
          <a:prstGeom prst="rect">
            <a:avLst/>
          </a:prstGeom>
          <a:noFill/>
          <a:ln/>
        </p:spPr>
        <p:txBody>
          <a:bodyPr wrap="square" lIns="0" tIns="0" rIns="0" bIns="0" rtlCol="0" anchor="ctr"/>
          <a:lstStyle/>
          <a:p>
            <a:pPr indent="0" marL="0">
              <a:buNone/>
            </a:pPr>
            <a:r>
              <a:rPr lang="en-US" sz="850" spc="50" kern="0" dirty="0">
                <a:solidFill>
                  <a:srgbClr val="5A7189"/>
                </a:solidFill>
                <a:latin typeface="Courier New" pitchFamily="34" charset="0"/>
                <a:ea typeface="Courier New" pitchFamily="34" charset="-122"/>
                <a:cs typeface="Courier New" pitchFamily="34" charset="-120"/>
              </a:rPr>
              <a:t>02</a:t>
            </a:r>
            <a:endParaRPr lang="en-US" sz="850" dirty="0"/>
          </a:p>
        </p:txBody>
      </p:sp>
      <p:sp>
        <p:nvSpPr>
          <p:cNvPr id="25" name="Text 23"/>
          <p:cNvSpPr txBox="1"/>
          <p:nvPr/>
        </p:nvSpPr>
        <p:spPr>
          <a:xfrm>
            <a:off x="1600200" y="3054096"/>
            <a:ext cx="6035040" cy="292608"/>
          </a:xfrm>
          <a:prstGeom prst="rect">
            <a:avLst/>
          </a:prstGeom>
          <a:noFill/>
          <a:ln/>
        </p:spPr>
        <p:txBody>
          <a:bodyPr wrap="square" lIns="0" tIns="0" rIns="0" bIns="0" rtlCol="0" anchor="ctr"/>
          <a:lstStyle/>
          <a:p>
            <a:pPr indent="0" marL="0">
              <a:buNone/>
            </a:pPr>
            <a:r>
              <a:rPr lang="en-US" sz="1500" b="1" dirty="0">
                <a:solidFill>
                  <a:srgbClr val="16273F"/>
                </a:solidFill>
                <a:latin typeface="Arial" pitchFamily="34" charset="0"/>
                <a:ea typeface="Arial" pitchFamily="34" charset="-122"/>
                <a:cs typeface="Arial" pitchFamily="34" charset="-120"/>
              </a:rPr>
              <a:t>Identificar</a:t>
            </a:r>
            <a:endParaRPr lang="en-US" sz="1500" dirty="0"/>
          </a:p>
        </p:txBody>
      </p:sp>
      <p:sp>
        <p:nvSpPr>
          <p:cNvPr id="26" name="Text 24"/>
          <p:cNvSpPr txBox="1"/>
          <p:nvPr/>
        </p:nvSpPr>
        <p:spPr>
          <a:xfrm>
            <a:off x="1600200" y="3364992"/>
            <a:ext cx="6035040" cy="457200"/>
          </a:xfrm>
          <a:prstGeom prst="rect">
            <a:avLst/>
          </a:prstGeom>
          <a:noFill/>
          <a:ln/>
        </p:spPr>
        <p:txBody>
          <a:bodyPr wrap="square" lIns="0" tIns="0" rIns="0" bIns="0" rtlCol="0" anchor="ctr"/>
          <a:lstStyle/>
          <a:p>
            <a:pPr indent="0" marL="0">
              <a:lnSpc>
                <a:spcPts val="1700"/>
              </a:lnSpc>
              <a:buNone/>
            </a:pPr>
            <a:r>
              <a:rPr lang="en-US" sz="1250" dirty="0">
                <a:solidFill>
                  <a:srgbClr val="1F2A36"/>
                </a:solidFill>
                <a:latin typeface="Calibri" pitchFamily="34" charset="0"/>
                <a:ea typeface="Calibri" pitchFamily="34" charset="-122"/>
                <a:cs typeface="Calibri" pitchFamily="34" charset="-120"/>
              </a:rPr>
              <a:t>Aplicar cuatro métodos sistemáticos de detección sobre la arquitectura de un cliente real.</a:t>
            </a:r>
            <a:endParaRPr lang="en-US" sz="1250" dirty="0"/>
          </a:p>
        </p:txBody>
      </p:sp>
      <p:sp>
        <p:nvSpPr>
          <p:cNvPr id="27" name="Shape 25"/>
          <p:cNvSpPr/>
          <p:nvPr/>
        </p:nvSpPr>
        <p:spPr>
          <a:xfrm>
            <a:off x="685800" y="3986784"/>
            <a:ext cx="7223760" cy="914400"/>
          </a:xfrm>
          <a:prstGeom prst="rect">
            <a:avLst/>
          </a:prstGeom>
          <a:solidFill>
            <a:srgbClr val="FFFFFF"/>
          </a:solidFill>
          <a:ln w="12700">
            <a:solidFill>
              <a:srgbClr val="C6C4B8"/>
            </a:solidFill>
            <a:prstDash val="solid"/>
          </a:ln>
        </p:spPr>
        <p:txBody>
          <a:bodyPr/>
          <a:p/>
        </p:txBody>
      </p:sp>
      <p:sp>
        <p:nvSpPr>
          <p:cNvPr id="28" name="Shape 26"/>
          <p:cNvSpPr/>
          <p:nvPr/>
        </p:nvSpPr>
        <p:spPr>
          <a:xfrm>
            <a:off x="685800" y="3986784"/>
            <a:ext cx="50292" cy="914400"/>
          </a:xfrm>
          <a:prstGeom prst="rect">
            <a:avLst/>
          </a:prstGeom>
          <a:solidFill>
            <a:srgbClr val="B85C2E"/>
          </a:solidFill>
          <a:ln w="12700">
            <a:solidFill>
              <a:srgbClr val="B85C2E"/>
            </a:solidFill>
            <a:prstDash val="solid"/>
          </a:ln>
        </p:spPr>
        <p:txBody>
          <a:bodyPr/>
          <a:p/>
        </p:txBody>
      </p:sp>
      <p:sp>
        <p:nvSpPr>
          <p:cNvPr id="29" name="Text 27"/>
          <p:cNvSpPr txBox="1"/>
          <p:nvPr/>
        </p:nvSpPr>
        <p:spPr>
          <a:xfrm>
            <a:off x="978408" y="4123944"/>
            <a:ext cx="1097280" cy="219456"/>
          </a:xfrm>
          <a:prstGeom prst="rect">
            <a:avLst/>
          </a:prstGeom>
          <a:noFill/>
          <a:ln/>
        </p:spPr>
        <p:txBody>
          <a:bodyPr wrap="square" lIns="0" tIns="0" rIns="0" bIns="0" rtlCol="0" anchor="ctr"/>
          <a:lstStyle/>
          <a:p>
            <a:pPr indent="0" marL="0">
              <a:buNone/>
            </a:pPr>
            <a:r>
              <a:rPr lang="en-US" sz="850" spc="50" kern="0" dirty="0">
                <a:solidFill>
                  <a:srgbClr val="5A7189"/>
                </a:solidFill>
                <a:latin typeface="Courier New" pitchFamily="34" charset="0"/>
                <a:ea typeface="Courier New" pitchFamily="34" charset="-122"/>
                <a:cs typeface="Courier New" pitchFamily="34" charset="-120"/>
              </a:rPr>
              <a:t>03</a:t>
            </a:r>
            <a:endParaRPr lang="en-US" sz="850" dirty="0"/>
          </a:p>
        </p:txBody>
      </p:sp>
      <p:sp>
        <p:nvSpPr>
          <p:cNvPr id="30" name="Text 28"/>
          <p:cNvSpPr txBox="1"/>
          <p:nvPr/>
        </p:nvSpPr>
        <p:spPr>
          <a:xfrm>
            <a:off x="1600200" y="4087368"/>
            <a:ext cx="6035040" cy="292608"/>
          </a:xfrm>
          <a:prstGeom prst="rect">
            <a:avLst/>
          </a:prstGeom>
          <a:noFill/>
          <a:ln/>
        </p:spPr>
        <p:txBody>
          <a:bodyPr wrap="square" lIns="0" tIns="0" rIns="0" bIns="0" rtlCol="0" anchor="ctr"/>
          <a:lstStyle/>
          <a:p>
            <a:pPr indent="0" marL="0">
              <a:buNone/>
            </a:pPr>
            <a:r>
              <a:rPr lang="en-US" sz="1500" b="1" dirty="0">
                <a:solidFill>
                  <a:srgbClr val="16273F"/>
                </a:solidFill>
                <a:latin typeface="Arial" pitchFamily="34" charset="0"/>
                <a:ea typeface="Arial" pitchFamily="34" charset="-122"/>
                <a:cs typeface="Arial" pitchFamily="34" charset="-120"/>
              </a:rPr>
              <a:t>Priorizar</a:t>
            </a:r>
            <a:endParaRPr lang="en-US" sz="1500" dirty="0"/>
          </a:p>
        </p:txBody>
      </p:sp>
      <p:sp>
        <p:nvSpPr>
          <p:cNvPr id="31" name="Text 29"/>
          <p:cNvSpPr txBox="1"/>
          <p:nvPr/>
        </p:nvSpPr>
        <p:spPr>
          <a:xfrm>
            <a:off x="1600200" y="4398264"/>
            <a:ext cx="6035040" cy="457200"/>
          </a:xfrm>
          <a:prstGeom prst="rect">
            <a:avLst/>
          </a:prstGeom>
          <a:noFill/>
          <a:ln/>
        </p:spPr>
        <p:txBody>
          <a:bodyPr wrap="square" lIns="0" tIns="0" rIns="0" bIns="0" rtlCol="0" anchor="ctr"/>
          <a:lstStyle/>
          <a:p>
            <a:pPr indent="0" marL="0">
              <a:lnSpc>
                <a:spcPts val="1700"/>
              </a:lnSpc>
              <a:buNone/>
            </a:pPr>
            <a:r>
              <a:rPr lang="en-US" sz="1250" dirty="0">
                <a:solidFill>
                  <a:srgbClr val="1F2A36"/>
                </a:solidFill>
                <a:latin typeface="Calibri" pitchFamily="34" charset="0"/>
                <a:ea typeface="Calibri" pitchFamily="34" charset="-122"/>
                <a:cs typeface="Calibri" pitchFamily="34" charset="-120"/>
              </a:rPr>
              <a:t>Ubicar cada riesgo en una matriz de impacto y probabilidad, y justificar la ubicación.</a:t>
            </a:r>
            <a:endParaRPr lang="en-US" sz="1250" dirty="0"/>
          </a:p>
        </p:txBody>
      </p:sp>
      <p:sp>
        <p:nvSpPr>
          <p:cNvPr id="32" name="Shape 30"/>
          <p:cNvSpPr/>
          <p:nvPr/>
        </p:nvSpPr>
        <p:spPr>
          <a:xfrm>
            <a:off x="685800" y="5020056"/>
            <a:ext cx="7223760" cy="914400"/>
          </a:xfrm>
          <a:prstGeom prst="rect">
            <a:avLst/>
          </a:prstGeom>
          <a:solidFill>
            <a:srgbClr val="FFFFFF"/>
          </a:solidFill>
          <a:ln w="12700">
            <a:solidFill>
              <a:srgbClr val="C6C4B8"/>
            </a:solidFill>
            <a:prstDash val="solid"/>
          </a:ln>
        </p:spPr>
        <p:txBody>
          <a:bodyPr/>
          <a:p/>
        </p:txBody>
      </p:sp>
      <p:sp>
        <p:nvSpPr>
          <p:cNvPr id="33" name="Shape 31"/>
          <p:cNvSpPr/>
          <p:nvPr/>
        </p:nvSpPr>
        <p:spPr>
          <a:xfrm>
            <a:off x="685800" y="5020056"/>
            <a:ext cx="50292" cy="914400"/>
          </a:xfrm>
          <a:prstGeom prst="rect">
            <a:avLst/>
          </a:prstGeom>
          <a:solidFill>
            <a:srgbClr val="16273F"/>
          </a:solidFill>
          <a:ln w="12700">
            <a:solidFill>
              <a:srgbClr val="16273F"/>
            </a:solidFill>
            <a:prstDash val="solid"/>
          </a:ln>
        </p:spPr>
        <p:txBody>
          <a:bodyPr/>
          <a:p/>
        </p:txBody>
      </p:sp>
      <p:sp>
        <p:nvSpPr>
          <p:cNvPr id="34" name="Text 32"/>
          <p:cNvSpPr txBox="1"/>
          <p:nvPr/>
        </p:nvSpPr>
        <p:spPr>
          <a:xfrm>
            <a:off x="978408" y="5157216"/>
            <a:ext cx="1097280" cy="219456"/>
          </a:xfrm>
          <a:prstGeom prst="rect">
            <a:avLst/>
          </a:prstGeom>
          <a:noFill/>
          <a:ln/>
        </p:spPr>
        <p:txBody>
          <a:bodyPr wrap="square" lIns="0" tIns="0" rIns="0" bIns="0" rtlCol="0" anchor="ctr"/>
          <a:lstStyle/>
          <a:p>
            <a:pPr indent="0" marL="0">
              <a:buNone/>
            </a:pPr>
            <a:r>
              <a:rPr lang="en-US" sz="850" spc="50" kern="0" dirty="0">
                <a:solidFill>
                  <a:srgbClr val="5A7189"/>
                </a:solidFill>
                <a:latin typeface="Courier New" pitchFamily="34" charset="0"/>
                <a:ea typeface="Courier New" pitchFamily="34" charset="-122"/>
                <a:cs typeface="Courier New" pitchFamily="34" charset="-120"/>
              </a:rPr>
              <a:t>04</a:t>
            </a:r>
            <a:endParaRPr lang="en-US" sz="850" dirty="0"/>
          </a:p>
        </p:txBody>
      </p:sp>
      <p:sp>
        <p:nvSpPr>
          <p:cNvPr id="35" name="Text 33"/>
          <p:cNvSpPr txBox="1"/>
          <p:nvPr/>
        </p:nvSpPr>
        <p:spPr>
          <a:xfrm>
            <a:off x="1600200" y="5120640"/>
            <a:ext cx="6035040" cy="292608"/>
          </a:xfrm>
          <a:prstGeom prst="rect">
            <a:avLst/>
          </a:prstGeom>
          <a:noFill/>
          <a:ln/>
        </p:spPr>
        <p:txBody>
          <a:bodyPr wrap="square" lIns="0" tIns="0" rIns="0" bIns="0" rtlCol="0" anchor="ctr"/>
          <a:lstStyle/>
          <a:p>
            <a:pPr indent="0" marL="0">
              <a:buNone/>
            </a:pPr>
            <a:r>
              <a:rPr lang="en-US" sz="1500" b="1" dirty="0">
                <a:solidFill>
                  <a:srgbClr val="16273F"/>
                </a:solidFill>
                <a:latin typeface="Arial" pitchFamily="34" charset="0"/>
                <a:ea typeface="Arial" pitchFamily="34" charset="-122"/>
                <a:cs typeface="Arial" pitchFamily="34" charset="-120"/>
              </a:rPr>
              <a:t>Defender</a:t>
            </a:r>
            <a:endParaRPr lang="en-US" sz="1500" dirty="0"/>
          </a:p>
        </p:txBody>
      </p:sp>
      <p:sp>
        <p:nvSpPr>
          <p:cNvPr id="36" name="Text 34"/>
          <p:cNvSpPr txBox="1"/>
          <p:nvPr/>
        </p:nvSpPr>
        <p:spPr>
          <a:xfrm>
            <a:off x="1600200" y="5431536"/>
            <a:ext cx="6035040" cy="457200"/>
          </a:xfrm>
          <a:prstGeom prst="rect">
            <a:avLst/>
          </a:prstGeom>
          <a:noFill/>
          <a:ln/>
        </p:spPr>
        <p:txBody>
          <a:bodyPr wrap="square" lIns="0" tIns="0" rIns="0" bIns="0" rtlCol="0" anchor="ctr"/>
          <a:lstStyle/>
          <a:p>
            <a:pPr indent="0" marL="0">
              <a:lnSpc>
                <a:spcPts val="1700"/>
              </a:lnSpc>
              <a:buNone/>
            </a:pPr>
            <a:r>
              <a:rPr lang="en-US" sz="1250" dirty="0">
                <a:solidFill>
                  <a:srgbClr val="1F2A36"/>
                </a:solidFill>
                <a:latin typeface="Calibri" pitchFamily="34" charset="0"/>
                <a:ea typeface="Calibri" pitchFamily="34" charset="-122"/>
                <a:cs typeface="Calibri" pitchFamily="34" charset="-120"/>
              </a:rPr>
              <a:t>Proponer una estrategia de mitigación por riesgo crítico y sostenerla ante preguntas.</a:t>
            </a:r>
            <a:endParaRPr lang="en-US" sz="1250" dirty="0"/>
          </a:p>
        </p:txBody>
      </p:sp>
      <p:sp>
        <p:nvSpPr>
          <p:cNvPr id="37" name="Shape 35"/>
          <p:cNvSpPr/>
          <p:nvPr/>
        </p:nvSpPr>
        <p:spPr>
          <a:xfrm>
            <a:off x="8275320" y="1920240"/>
            <a:ext cx="3227832" cy="4142232"/>
          </a:xfrm>
          <a:prstGeom prst="rect">
            <a:avLst/>
          </a:prstGeom>
          <a:solidFill>
            <a:srgbClr val="16273F"/>
          </a:solidFill>
          <a:ln w="12700">
            <a:solidFill>
              <a:srgbClr val="16273F"/>
            </a:solidFill>
            <a:prstDash val="solid"/>
          </a:ln>
        </p:spPr>
        <p:txBody>
          <a:bodyPr/>
          <a:p/>
        </p:txBody>
      </p:sp>
      <p:sp>
        <p:nvSpPr>
          <p:cNvPr id="38" name="Text 36"/>
          <p:cNvSpPr txBox="1"/>
          <p:nvPr/>
        </p:nvSpPr>
        <p:spPr>
          <a:xfrm>
            <a:off x="8503920" y="2148840"/>
            <a:ext cx="2743200" cy="219456"/>
          </a:xfrm>
          <a:prstGeom prst="rect">
            <a:avLst/>
          </a:prstGeom>
          <a:noFill/>
          <a:ln/>
        </p:spPr>
        <p:txBody>
          <a:bodyPr wrap="square" lIns="0" tIns="0" rIns="0" bIns="0" rtlCol="0" anchor="ctr"/>
          <a:lstStyle/>
          <a:p>
            <a:pPr indent="0" marL="0">
              <a:buNone/>
            </a:pPr>
            <a:r>
              <a:rPr lang="en-US" sz="850" spc="50" kern="0" dirty="0">
                <a:solidFill>
                  <a:srgbClr val="E8A66B"/>
                </a:solidFill>
                <a:latin typeface="Courier New" pitchFamily="34" charset="0"/>
                <a:ea typeface="Courier New" pitchFamily="34" charset="-122"/>
                <a:cs typeface="Courier New" pitchFamily="34" charset="-120"/>
              </a:rPr>
              <a:t>ENTREGABLE · TALLER 9 · PASO 3</a:t>
            </a:r>
            <a:endParaRPr lang="en-US" sz="850" dirty="0"/>
          </a:p>
        </p:txBody>
      </p:sp>
      <p:sp>
        <p:nvSpPr>
          <p:cNvPr id="39" name="Text 37"/>
          <p:cNvSpPr txBox="1"/>
          <p:nvPr/>
        </p:nvSpPr>
        <p:spPr>
          <a:xfrm>
            <a:off x="8503920" y="2514600"/>
            <a:ext cx="2788920" cy="3291840"/>
          </a:xfrm>
          <a:prstGeom prst="rect">
            <a:avLst/>
          </a:prstGeom>
          <a:noFill/>
          <a:ln/>
        </p:spPr>
        <p:txBody>
          <a:bodyPr wrap="square" lIns="0" tIns="0" rIns="0" bIns="0" rtlCol="0" anchor="ctr"/>
          <a:lstStyle/>
          <a:p>
            <a:pPr marL="342900" indent="-342900">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Mínimo 5 riesgos identificados sobre las capas del sistema</a:t>
            </a:r>
            <a:endParaRPr lang="en-US" sz="1250" dirty="0"/>
          </a:p>
          <a:p>
            <a:pPr marL="342900" indent="-342900">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Cada uno ubicado en la matriz con su justificación</a:t>
            </a:r>
            <a:endParaRPr lang="en-US" sz="1250" dirty="0"/>
          </a:p>
          <a:p>
            <a:pPr marL="342900" indent="-342900">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Una estrategia de mitigación por riesgo crítico</a:t>
            </a:r>
            <a:endParaRPr lang="en-US" sz="1250" dirty="0"/>
          </a:p>
          <a:p>
            <a:pPr marL="342900" indent="-342900">
              <a:buSzPct val="100000"/>
              <a:buChar char="•"/>
            </a:pPr>
            <a:r>
              <a:rPr lang="en-US" sz="1250" dirty="0">
                <a:solidFill>
                  <a:srgbClr val="F0C49A"/>
                </a:solidFill>
                <a:latin typeface="Calibri" pitchFamily="34" charset="0"/>
                <a:ea typeface="Calibri" pitchFamily="34" charset="-122"/>
                <a:cs typeface="Calibri" pitchFamily="34" charset="-120"/>
              </a:rPr>
              <a:t>Defensa oral ante el comité evaluador</a:t>
            </a:r>
            <a:endParaRPr lang="en-US" sz="1250" dirty="0"/>
          </a:p>
        </p:txBody>
      </p:sp>
      <p:sp>
        <p:nvSpPr>
          <p:cNvPr id="40" name="Text 38"/>
          <p:cNvSpPr txBox="1"/>
          <p:nvPr/>
        </p:nvSpPr>
        <p:spPr>
          <a:xfrm>
            <a:off x="685800" y="6583680"/>
            <a:ext cx="6400800" cy="237744"/>
          </a:xfrm>
          <a:prstGeom prst="rect">
            <a:avLst/>
          </a:prstGeom>
          <a:noFill/>
          <a:ln/>
        </p:spPr>
        <p:txBody>
          <a:bodyPr wrap="square" lIns="0" tIns="0" rIns="0" bIns="0" rtlCol="0" anchor="ctr"/>
          <a:lstStyle/>
          <a:p>
            <a:pPr indent="0" marL="0">
              <a:buNone/>
            </a:pPr>
            <a:r>
              <a:rPr lang="en-US" sz="800" dirty="0">
                <a:solidFill>
                  <a:srgbClr val="707C86"/>
                </a:solidFill>
                <a:latin typeface="Courier New" pitchFamily="34" charset="0"/>
                <a:ea typeface="Courier New" pitchFamily="34" charset="-122"/>
                <a:cs typeface="Courier New" pitchFamily="34" charset="-120"/>
              </a:rPr>
              <a:t>AREM · Módulo 9 · Evaluación de Riesgos Arquitectónicos</a:t>
            </a:r>
            <a:endParaRPr lang="en-US" sz="800" dirty="0"/>
          </a:p>
        </p:txBody>
      </p:sp>
      <p:sp>
        <p:nvSpPr>
          <p:cNvPr id="41" name="Text 39"/>
          <p:cNvSpPr txBox="1"/>
          <p:nvPr/>
        </p:nvSpPr>
        <p:spPr>
          <a:xfrm>
            <a:off x="10881360" y="6583680"/>
            <a:ext cx="621792" cy="237744"/>
          </a:xfrm>
          <a:prstGeom prst="rect">
            <a:avLst/>
          </a:prstGeom>
          <a:noFill/>
          <a:ln/>
        </p:spPr>
        <p:txBody>
          <a:bodyPr wrap="square" lIns="0" tIns="0" rIns="0" bIns="0" rtlCol="0" anchor="ctr"/>
          <a:lstStyle/>
          <a:p>
            <a:pPr algn="r" indent="0" marL="0">
              <a:buNone/>
            </a:pPr>
            <a:r>
              <a:rPr lang="en-US" sz="800" dirty="0">
                <a:solidFill>
                  <a:srgbClr val="707C86"/>
                </a:solidFill>
                <a:latin typeface="Courier New" pitchFamily="34" charset="0"/>
                <a:ea typeface="Courier New" pitchFamily="34" charset="-122"/>
                <a:cs typeface="Courier New" pitchFamily="34" charset="-120"/>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4ED"/>
        </a:solidFill>
      </p:bgPr>
    </p:bg>
    <p:spTree>
      <p:nvGrpSpPr>
        <p:cNvPr id="1" name=""/>
        <p:cNvGrpSpPr/>
        <p:nvPr/>
      </p:nvGrpSpPr>
      <p:grpSpPr>
        <a:xfrm>
          <a:off x="0" y="0"/>
          <a:ext cx="0" cy="0"/>
          <a:chOff x="0" y="0"/>
          <a:chExt cx="0" cy="0"/>
        </a:xfrm>
      </p:grpSpPr>
      <p:sp>
        <p:nvSpPr>
          <p:cNvPr id="2" name="Shape 0"/>
          <p:cNvSpPr/>
          <p:nvPr/>
        </p:nvSpPr>
        <p:spPr>
          <a:xfrm>
            <a:off x="384048" y="310896"/>
            <a:ext cx="11420856" cy="10973"/>
          </a:xfrm>
          <a:prstGeom prst="rect">
            <a:avLst/>
          </a:prstGeom>
          <a:solidFill>
            <a:srgbClr val="C6C4B8"/>
          </a:solidFill>
          <a:ln w="12700">
            <a:solidFill>
              <a:srgbClr val="C6C4B8"/>
            </a:solidFill>
            <a:prstDash val="solid"/>
          </a:ln>
        </p:spPr>
      </p:sp>
      <p:sp>
        <p:nvSpPr>
          <p:cNvPr id="3" name="Shape 1"/>
          <p:cNvSpPr/>
          <p:nvPr/>
        </p:nvSpPr>
        <p:spPr>
          <a:xfrm>
            <a:off x="384048" y="6510528"/>
            <a:ext cx="11420856" cy="10973"/>
          </a:xfrm>
          <a:prstGeom prst="rect">
            <a:avLst/>
          </a:prstGeom>
          <a:solidFill>
            <a:srgbClr val="C6C4B8"/>
          </a:solidFill>
          <a:ln w="12700">
            <a:solidFill>
              <a:srgbClr val="C6C4B8"/>
            </a:solidFill>
            <a:prstDash val="solid"/>
          </a:ln>
        </p:spPr>
      </p:sp>
      <p:sp>
        <p:nvSpPr>
          <p:cNvPr id="4" name="Shape 2"/>
          <p:cNvSpPr/>
          <p:nvPr/>
        </p:nvSpPr>
        <p:spPr>
          <a:xfrm>
            <a:off x="384048" y="310896"/>
            <a:ext cx="10973" cy="6208776"/>
          </a:xfrm>
          <a:prstGeom prst="rect">
            <a:avLst/>
          </a:prstGeom>
          <a:solidFill>
            <a:srgbClr val="C6C4B8"/>
          </a:solidFill>
          <a:ln w="12700">
            <a:solidFill>
              <a:srgbClr val="C6C4B8"/>
            </a:solidFill>
            <a:prstDash val="solid"/>
          </a:ln>
        </p:spPr>
      </p:sp>
      <p:sp>
        <p:nvSpPr>
          <p:cNvPr id="5" name="Shape 3"/>
          <p:cNvSpPr/>
          <p:nvPr/>
        </p:nvSpPr>
        <p:spPr>
          <a:xfrm>
            <a:off x="11795760" y="310896"/>
            <a:ext cx="10973" cy="6208776"/>
          </a:xfrm>
          <a:prstGeom prst="rect">
            <a:avLst/>
          </a:prstGeom>
          <a:solidFill>
            <a:srgbClr val="C6C4B8"/>
          </a:solidFill>
          <a:ln w="12700">
            <a:solidFill>
              <a:srgbClr val="C6C4B8"/>
            </a:solidFill>
            <a:prstDash val="solid"/>
          </a:ln>
        </p:spPr>
      </p:sp>
      <p:sp>
        <p:nvSpPr>
          <p:cNvPr id="6" name="Shape 4"/>
          <p:cNvSpPr/>
          <p:nvPr/>
        </p:nvSpPr>
        <p:spPr>
          <a:xfrm>
            <a:off x="283464" y="306324"/>
            <a:ext cx="201168" cy="9144"/>
          </a:xfrm>
          <a:prstGeom prst="rect">
            <a:avLst/>
          </a:prstGeom>
          <a:solidFill>
            <a:srgbClr val="5A7189"/>
          </a:solidFill>
          <a:ln w="12700">
            <a:solidFill>
              <a:srgbClr val="5A7189"/>
            </a:solidFill>
            <a:prstDash val="solid"/>
          </a:ln>
        </p:spPr>
      </p:sp>
      <p:sp>
        <p:nvSpPr>
          <p:cNvPr id="7" name="Shape 5"/>
          <p:cNvSpPr/>
          <p:nvPr/>
        </p:nvSpPr>
        <p:spPr>
          <a:xfrm>
            <a:off x="379476" y="210312"/>
            <a:ext cx="9144" cy="201168"/>
          </a:xfrm>
          <a:prstGeom prst="rect">
            <a:avLst/>
          </a:prstGeom>
          <a:solidFill>
            <a:srgbClr val="5A7189"/>
          </a:solidFill>
          <a:ln w="12700">
            <a:solidFill>
              <a:srgbClr val="5A7189"/>
            </a:solidFill>
            <a:prstDash val="solid"/>
          </a:ln>
        </p:spPr>
      </p:sp>
      <p:sp>
        <p:nvSpPr>
          <p:cNvPr id="8" name="Shape 6"/>
          <p:cNvSpPr/>
          <p:nvPr/>
        </p:nvSpPr>
        <p:spPr>
          <a:xfrm>
            <a:off x="11695176" y="306324"/>
            <a:ext cx="201168" cy="9144"/>
          </a:xfrm>
          <a:prstGeom prst="rect">
            <a:avLst/>
          </a:prstGeom>
          <a:solidFill>
            <a:srgbClr val="5A7189"/>
          </a:solidFill>
          <a:ln w="12700">
            <a:solidFill>
              <a:srgbClr val="5A7189"/>
            </a:solidFill>
            <a:prstDash val="solid"/>
          </a:ln>
        </p:spPr>
      </p:sp>
      <p:sp>
        <p:nvSpPr>
          <p:cNvPr id="9" name="Shape 7"/>
          <p:cNvSpPr/>
          <p:nvPr/>
        </p:nvSpPr>
        <p:spPr>
          <a:xfrm>
            <a:off x="11791188" y="210312"/>
            <a:ext cx="9144" cy="201168"/>
          </a:xfrm>
          <a:prstGeom prst="rect">
            <a:avLst/>
          </a:prstGeom>
          <a:solidFill>
            <a:srgbClr val="5A7189"/>
          </a:solidFill>
          <a:ln w="12700">
            <a:solidFill>
              <a:srgbClr val="5A7189"/>
            </a:solidFill>
            <a:prstDash val="solid"/>
          </a:ln>
        </p:spPr>
      </p:sp>
      <p:sp>
        <p:nvSpPr>
          <p:cNvPr id="10" name="Shape 8"/>
          <p:cNvSpPr/>
          <p:nvPr/>
        </p:nvSpPr>
        <p:spPr>
          <a:xfrm>
            <a:off x="283464" y="6505956"/>
            <a:ext cx="201168" cy="9144"/>
          </a:xfrm>
          <a:prstGeom prst="rect">
            <a:avLst/>
          </a:prstGeom>
          <a:solidFill>
            <a:srgbClr val="5A7189"/>
          </a:solidFill>
          <a:ln w="12700">
            <a:solidFill>
              <a:srgbClr val="5A7189"/>
            </a:solidFill>
            <a:prstDash val="solid"/>
          </a:ln>
        </p:spPr>
      </p:sp>
      <p:sp>
        <p:nvSpPr>
          <p:cNvPr id="11" name="Shape 9"/>
          <p:cNvSpPr/>
          <p:nvPr/>
        </p:nvSpPr>
        <p:spPr>
          <a:xfrm>
            <a:off x="379476" y="6409944"/>
            <a:ext cx="9144" cy="201168"/>
          </a:xfrm>
          <a:prstGeom prst="rect">
            <a:avLst/>
          </a:prstGeom>
          <a:solidFill>
            <a:srgbClr val="5A7189"/>
          </a:solidFill>
          <a:ln w="12700">
            <a:solidFill>
              <a:srgbClr val="5A7189"/>
            </a:solidFill>
            <a:prstDash val="solid"/>
          </a:ln>
        </p:spPr>
      </p:sp>
      <p:sp>
        <p:nvSpPr>
          <p:cNvPr id="12" name="Shape 10"/>
          <p:cNvSpPr/>
          <p:nvPr/>
        </p:nvSpPr>
        <p:spPr>
          <a:xfrm>
            <a:off x="11695176" y="6505956"/>
            <a:ext cx="201168" cy="9144"/>
          </a:xfrm>
          <a:prstGeom prst="rect">
            <a:avLst/>
          </a:prstGeom>
          <a:solidFill>
            <a:srgbClr val="5A7189"/>
          </a:solidFill>
          <a:ln w="12700">
            <a:solidFill>
              <a:srgbClr val="5A7189"/>
            </a:solidFill>
            <a:prstDash val="solid"/>
          </a:ln>
        </p:spPr>
      </p:sp>
      <p:sp>
        <p:nvSpPr>
          <p:cNvPr id="13" name="Shape 11"/>
          <p:cNvSpPr/>
          <p:nvPr/>
        </p:nvSpPr>
        <p:spPr>
          <a:xfrm>
            <a:off x="11791188" y="6409944"/>
            <a:ext cx="9144" cy="201168"/>
          </a:xfrm>
          <a:prstGeom prst="rect">
            <a:avLst/>
          </a:prstGeom>
          <a:solidFill>
            <a:srgbClr val="5A7189"/>
          </a:solidFill>
          <a:ln w="12700">
            <a:solidFill>
              <a:srgbClr val="5A7189"/>
            </a:solidFill>
            <a:prstDash val="solid"/>
          </a:ln>
        </p:spPr>
      </p:sp>
      <p:sp>
        <p:nvSpPr>
          <p:cNvPr id="14" name="Text 12"/>
          <p:cNvSpPr txBox="1"/>
          <p:nvPr/>
        </p:nvSpPr>
        <p:spPr>
          <a:xfrm>
            <a:off x="685800" y="566928"/>
            <a:ext cx="7315200" cy="237744"/>
          </a:xfrm>
          <a:prstGeom prst="rect">
            <a:avLst/>
          </a:prstGeom>
          <a:noFill/>
          <a:ln/>
        </p:spPr>
        <p:txBody>
          <a:bodyPr wrap="square" lIns="0" tIns="0" rIns="0" bIns="0" rtlCol="0" anchor="ctr"/>
          <a:lstStyle/>
          <a:p>
            <a:pPr indent="0" marL="0">
              <a:buNone/>
            </a:pPr>
            <a:r>
              <a:rPr lang="en-US" sz="1000" spc="100" kern="0" dirty="0">
                <a:solidFill>
                  <a:srgbClr val="B85C2E"/>
                </a:solidFill>
                <a:latin typeface="Courier New" pitchFamily="34" charset="0"/>
                <a:ea typeface="Courier New" pitchFamily="34" charset="-122"/>
                <a:cs typeface="Courier New" pitchFamily="34" charset="-120"/>
              </a:rPr>
              <a:t>02 · CONCEPTO</a:t>
            </a:r>
            <a:endParaRPr lang="en-US" sz="1000" dirty="0"/>
          </a:p>
        </p:txBody>
      </p:sp>
      <p:sp>
        <p:nvSpPr>
          <p:cNvPr id="15" name="Text 13"/>
          <p:cNvSpPr txBox="1"/>
          <p:nvPr/>
        </p:nvSpPr>
        <p:spPr>
          <a:xfrm>
            <a:off x="685800" y="822960"/>
            <a:ext cx="10820095" cy="566928"/>
          </a:xfrm>
          <a:prstGeom prst="rect">
            <a:avLst/>
          </a:prstGeom>
          <a:noFill/>
          <a:ln/>
        </p:spPr>
        <p:txBody>
          <a:bodyPr wrap="square" lIns="0" tIns="0" rIns="0" bIns="0" rtlCol="0" anchor="ctr"/>
          <a:lstStyle/>
          <a:p>
            <a:pPr indent="0" marL="0">
              <a:buNone/>
            </a:pPr>
            <a:r>
              <a:rPr lang="en-US" sz="3000" b="1" dirty="0">
                <a:solidFill>
                  <a:srgbClr val="16273F"/>
                </a:solidFill>
                <a:latin typeface="Arial" pitchFamily="34" charset="0"/>
                <a:ea typeface="Arial" pitchFamily="34" charset="-122"/>
                <a:cs typeface="Arial" pitchFamily="34" charset="-120"/>
              </a:rPr>
              <a:t>Falla conceptual frente a error de código</a:t>
            </a:r>
            <a:endParaRPr lang="en-US" sz="3000" dirty="0"/>
          </a:p>
        </p:txBody>
      </p:sp>
      <p:sp>
        <p:nvSpPr>
          <p:cNvPr id="16" name="Text 14"/>
          <p:cNvSpPr txBox="1"/>
          <p:nvPr/>
        </p:nvSpPr>
        <p:spPr>
          <a:xfrm>
            <a:off x="685800" y="1389888"/>
            <a:ext cx="10820095" cy="310896"/>
          </a:xfrm>
          <a:prstGeom prst="rect">
            <a:avLst/>
          </a:prstGeom>
          <a:noFill/>
          <a:ln/>
        </p:spPr>
        <p:txBody>
          <a:bodyPr wrap="square" lIns="0" tIns="0" rIns="0" bIns="0" rtlCol="0" anchor="ctr"/>
          <a:lstStyle/>
          <a:p>
            <a:pPr indent="0" marL="0">
              <a:buNone/>
            </a:pPr>
            <a:r>
              <a:rPr lang="en-US" sz="1350" dirty="0">
                <a:solidFill>
                  <a:srgbClr val="707C86"/>
                </a:solidFill>
                <a:latin typeface="Calibri" pitchFamily="34" charset="0"/>
                <a:ea typeface="Calibri" pitchFamily="34" charset="-122"/>
                <a:cs typeface="Calibri" pitchFamily="34" charset="-120"/>
              </a:rPr>
              <a:t>La distinción que define todo el módulo</a:t>
            </a:r>
            <a:endParaRPr lang="en-US" sz="1350" dirty="0"/>
          </a:p>
        </p:txBody>
      </p:sp>
      <p:sp>
        <p:nvSpPr>
          <p:cNvPr id="17" name="Shape 15"/>
          <p:cNvSpPr/>
          <p:nvPr/>
        </p:nvSpPr>
        <p:spPr>
          <a:xfrm>
            <a:off x="685800" y="1965960"/>
            <a:ext cx="5257800" cy="3566160"/>
          </a:xfrm>
          <a:prstGeom prst="rect">
            <a:avLst/>
          </a:prstGeom>
          <a:solidFill>
            <a:srgbClr val="FFFFFF"/>
          </a:solidFill>
          <a:ln w="12700">
            <a:solidFill>
              <a:srgbClr val="C6C4B8"/>
            </a:solidFill>
            <a:prstDash val="solid"/>
          </a:ln>
        </p:spPr>
      </p:sp>
      <p:sp>
        <p:nvSpPr>
          <p:cNvPr id="18" name="Shape 16"/>
          <p:cNvSpPr/>
          <p:nvPr/>
        </p:nvSpPr>
        <p:spPr>
          <a:xfrm>
            <a:off x="685800" y="1965960"/>
            <a:ext cx="5257800" cy="457200"/>
          </a:xfrm>
          <a:prstGeom prst="rect">
            <a:avLst/>
          </a:prstGeom>
          <a:solidFill>
            <a:srgbClr val="5A7189"/>
          </a:solidFill>
          <a:ln w="12700">
            <a:solidFill>
              <a:srgbClr val="5A7189"/>
            </a:solidFill>
            <a:prstDash val="solid"/>
          </a:ln>
        </p:spPr>
      </p:sp>
      <p:sp>
        <p:nvSpPr>
          <p:cNvPr id="19" name="Text 17"/>
          <p:cNvSpPr txBox="1"/>
          <p:nvPr/>
        </p:nvSpPr>
        <p:spPr>
          <a:xfrm>
            <a:off x="941832" y="1965960"/>
            <a:ext cx="4754880" cy="457200"/>
          </a:xfrm>
          <a:prstGeom prst="rect">
            <a:avLst/>
          </a:prstGeom>
          <a:noFill/>
          <a:ln/>
        </p:spPr>
        <p:txBody>
          <a:bodyPr wrap="square" lIns="0" tIns="0" rIns="0" bIns="0" rtlCol="0" anchor="ctr"/>
          <a:lstStyle/>
          <a:p>
            <a:pPr indent="0" marL="0">
              <a:buNone/>
            </a:pPr>
            <a:r>
              <a:rPr lang="en-US" sz="1100" b="1" spc="100" kern="0" dirty="0">
                <a:solidFill>
                  <a:srgbClr val="FFFFFF"/>
                </a:solidFill>
                <a:latin typeface="Courier New" pitchFamily="34" charset="0"/>
                <a:ea typeface="Courier New" pitchFamily="34" charset="-122"/>
                <a:cs typeface="Courier New" pitchFamily="34" charset="-120"/>
              </a:rPr>
              <a:t>EL ERROR DE CÓDIGO (BUG)</a:t>
            </a:r>
            <a:endParaRPr lang="en-US" sz="1100" dirty="0"/>
          </a:p>
        </p:txBody>
      </p:sp>
      <p:sp>
        <p:nvSpPr>
          <p:cNvPr id="20" name="Text 18"/>
          <p:cNvSpPr txBox="1"/>
          <p:nvPr/>
        </p:nvSpPr>
        <p:spPr>
          <a:xfrm>
            <a:off x="941832" y="2651760"/>
            <a:ext cx="4754880" cy="256032"/>
          </a:xfrm>
          <a:prstGeom prst="rect">
            <a:avLst/>
          </a:prstGeom>
          <a:noFill/>
          <a:ln/>
        </p:spPr>
        <p:txBody>
          <a:bodyPr wrap="square" lIns="0" tIns="0" rIns="0" bIns="0" rtlCol="0" anchor="ctr"/>
          <a:lstStyle/>
          <a:p>
            <a:pPr indent="0" marL="0">
              <a:buNone/>
            </a:pPr>
            <a:r>
              <a:rPr lang="en-US" sz="1200" b="1" dirty="0">
                <a:solidFill>
                  <a:srgbClr val="16273F"/>
                </a:solidFill>
                <a:latin typeface="Calibri" pitchFamily="34" charset="0"/>
                <a:ea typeface="Calibri" pitchFamily="34" charset="-122"/>
                <a:cs typeface="Calibri" pitchFamily="34" charset="-120"/>
              </a:rPr>
              <a:t>Naturaleza</a:t>
            </a:r>
            <a:endParaRPr lang="en-US" sz="1200" dirty="0"/>
          </a:p>
        </p:txBody>
      </p:sp>
      <p:sp>
        <p:nvSpPr>
          <p:cNvPr id="21" name="Text 19"/>
          <p:cNvSpPr txBox="1"/>
          <p:nvPr/>
        </p:nvSpPr>
        <p:spPr>
          <a:xfrm>
            <a:off x="941832" y="2916936"/>
            <a:ext cx="4754880" cy="310896"/>
          </a:xfrm>
          <a:prstGeom prst="rect">
            <a:avLst/>
          </a:prstGeom>
          <a:noFill/>
          <a:ln/>
        </p:spPr>
        <p:txBody>
          <a:bodyPr wrap="square" lIns="0" tIns="0" rIns="0" bIns="0" rtlCol="0" anchor="ctr"/>
          <a:lstStyle/>
          <a:p>
            <a:pPr indent="0" marL="0">
              <a:buNone/>
            </a:pPr>
            <a:r>
              <a:rPr lang="en-US" sz="1250" dirty="0">
                <a:solidFill>
                  <a:srgbClr val="1F2A36"/>
                </a:solidFill>
                <a:latin typeface="Calibri" pitchFamily="34" charset="0"/>
                <a:ea typeface="Calibri" pitchFamily="34" charset="-122"/>
                <a:cs typeface="Calibri" pitchFamily="34" charset="-120"/>
              </a:rPr>
              <a:t>Falla táctica en la implementación.</a:t>
            </a:r>
            <a:endParaRPr lang="en-US" sz="1250" dirty="0"/>
          </a:p>
        </p:txBody>
      </p:sp>
      <p:sp>
        <p:nvSpPr>
          <p:cNvPr id="22" name="Text 20"/>
          <p:cNvSpPr txBox="1"/>
          <p:nvPr/>
        </p:nvSpPr>
        <p:spPr>
          <a:xfrm>
            <a:off x="941832" y="3364992"/>
            <a:ext cx="4754880" cy="256032"/>
          </a:xfrm>
          <a:prstGeom prst="rect">
            <a:avLst/>
          </a:prstGeom>
          <a:noFill/>
          <a:ln/>
        </p:spPr>
        <p:txBody>
          <a:bodyPr wrap="square" lIns="0" tIns="0" rIns="0" bIns="0" rtlCol="0" anchor="ctr"/>
          <a:lstStyle/>
          <a:p>
            <a:pPr indent="0" marL="0">
              <a:buNone/>
            </a:pPr>
            <a:r>
              <a:rPr lang="en-US" sz="1200" b="1" dirty="0">
                <a:solidFill>
                  <a:srgbClr val="16273F"/>
                </a:solidFill>
                <a:latin typeface="Calibri" pitchFamily="34" charset="0"/>
                <a:ea typeface="Calibri" pitchFamily="34" charset="-122"/>
                <a:cs typeface="Calibri" pitchFamily="34" charset="-120"/>
              </a:rPr>
              <a:t>Detección</a:t>
            </a:r>
            <a:endParaRPr lang="en-US" sz="1200" dirty="0"/>
          </a:p>
        </p:txBody>
      </p:sp>
      <p:sp>
        <p:nvSpPr>
          <p:cNvPr id="23" name="Text 21"/>
          <p:cNvSpPr txBox="1"/>
          <p:nvPr/>
        </p:nvSpPr>
        <p:spPr>
          <a:xfrm>
            <a:off x="941832" y="3630168"/>
            <a:ext cx="4754880" cy="310896"/>
          </a:xfrm>
          <a:prstGeom prst="rect">
            <a:avLst/>
          </a:prstGeom>
          <a:noFill/>
          <a:ln/>
        </p:spPr>
        <p:txBody>
          <a:bodyPr wrap="square" lIns="0" tIns="0" rIns="0" bIns="0" rtlCol="0" anchor="ctr"/>
          <a:lstStyle/>
          <a:p>
            <a:pPr indent="0" marL="0">
              <a:buNone/>
            </a:pPr>
            <a:r>
              <a:rPr lang="en-US" sz="1250" dirty="0">
                <a:solidFill>
                  <a:srgbClr val="1F2A36"/>
                </a:solidFill>
                <a:latin typeface="Calibri" pitchFamily="34" charset="0"/>
                <a:ea typeface="Calibri" pitchFamily="34" charset="-122"/>
                <a:cs typeface="Calibri" pitchFamily="34" charset="-120"/>
              </a:rPr>
              <a:t>Aparece en pruebas o en QA rutinario.</a:t>
            </a:r>
            <a:endParaRPr lang="en-US" sz="1250" dirty="0"/>
          </a:p>
        </p:txBody>
      </p:sp>
      <p:sp>
        <p:nvSpPr>
          <p:cNvPr id="24" name="Text 22"/>
          <p:cNvSpPr txBox="1"/>
          <p:nvPr/>
        </p:nvSpPr>
        <p:spPr>
          <a:xfrm>
            <a:off x="941832" y="4078224"/>
            <a:ext cx="4754880" cy="256032"/>
          </a:xfrm>
          <a:prstGeom prst="rect">
            <a:avLst/>
          </a:prstGeom>
          <a:noFill/>
          <a:ln/>
        </p:spPr>
        <p:txBody>
          <a:bodyPr wrap="square" lIns="0" tIns="0" rIns="0" bIns="0" rtlCol="0" anchor="ctr"/>
          <a:lstStyle/>
          <a:p>
            <a:pPr indent="0" marL="0">
              <a:buNone/>
            </a:pPr>
            <a:r>
              <a:rPr lang="en-US" sz="1200" b="1" dirty="0">
                <a:solidFill>
                  <a:srgbClr val="16273F"/>
                </a:solidFill>
                <a:latin typeface="Calibri" pitchFamily="34" charset="0"/>
                <a:ea typeface="Calibri" pitchFamily="34" charset="-122"/>
                <a:cs typeface="Calibri" pitchFamily="34" charset="-120"/>
              </a:rPr>
              <a:t>Costo de corrección</a:t>
            </a:r>
            <a:endParaRPr lang="en-US" sz="1200" dirty="0"/>
          </a:p>
        </p:txBody>
      </p:sp>
      <p:sp>
        <p:nvSpPr>
          <p:cNvPr id="25" name="Text 23"/>
          <p:cNvSpPr txBox="1"/>
          <p:nvPr/>
        </p:nvSpPr>
        <p:spPr>
          <a:xfrm>
            <a:off x="941832" y="4343400"/>
            <a:ext cx="4754880" cy="310896"/>
          </a:xfrm>
          <a:prstGeom prst="rect">
            <a:avLst/>
          </a:prstGeom>
          <a:noFill/>
          <a:ln/>
        </p:spPr>
        <p:txBody>
          <a:bodyPr wrap="square" lIns="0" tIns="0" rIns="0" bIns="0" rtlCol="0" anchor="ctr"/>
          <a:lstStyle/>
          <a:p>
            <a:pPr indent="0" marL="0">
              <a:buNone/>
            </a:pPr>
            <a:r>
              <a:rPr lang="en-US" sz="1250" dirty="0">
                <a:solidFill>
                  <a:srgbClr val="1F2A36"/>
                </a:solidFill>
                <a:latin typeface="Calibri" pitchFamily="34" charset="0"/>
                <a:ea typeface="Calibri" pitchFamily="34" charset="-122"/>
                <a:cs typeface="Calibri" pitchFamily="34" charset="-120"/>
              </a:rPr>
              <a:t>Lineal y relativamente bajo.</a:t>
            </a:r>
            <a:endParaRPr lang="en-US" sz="1250" dirty="0"/>
          </a:p>
        </p:txBody>
      </p:sp>
      <p:sp>
        <p:nvSpPr>
          <p:cNvPr id="26" name="Text 24"/>
          <p:cNvSpPr txBox="1"/>
          <p:nvPr/>
        </p:nvSpPr>
        <p:spPr>
          <a:xfrm>
            <a:off x="941832" y="4791456"/>
            <a:ext cx="4754880" cy="256032"/>
          </a:xfrm>
          <a:prstGeom prst="rect">
            <a:avLst/>
          </a:prstGeom>
          <a:noFill/>
          <a:ln/>
        </p:spPr>
        <p:txBody>
          <a:bodyPr wrap="square" lIns="0" tIns="0" rIns="0" bIns="0" rtlCol="0" anchor="ctr"/>
          <a:lstStyle/>
          <a:p>
            <a:pPr indent="0" marL="0">
              <a:buNone/>
            </a:pPr>
            <a:r>
              <a:rPr lang="en-US" sz="1200" b="1" dirty="0">
                <a:solidFill>
                  <a:srgbClr val="16273F"/>
                </a:solidFill>
                <a:latin typeface="Calibri" pitchFamily="34" charset="0"/>
                <a:ea typeface="Calibri" pitchFamily="34" charset="-122"/>
                <a:cs typeface="Calibri" pitchFamily="34" charset="-120"/>
              </a:rPr>
              <a:t>Quién lo arregla</a:t>
            </a:r>
            <a:endParaRPr lang="en-US" sz="1200" dirty="0"/>
          </a:p>
        </p:txBody>
      </p:sp>
      <p:sp>
        <p:nvSpPr>
          <p:cNvPr id="27" name="Text 25"/>
          <p:cNvSpPr txBox="1"/>
          <p:nvPr/>
        </p:nvSpPr>
        <p:spPr>
          <a:xfrm>
            <a:off x="941832" y="5056632"/>
            <a:ext cx="4754880" cy="310896"/>
          </a:xfrm>
          <a:prstGeom prst="rect">
            <a:avLst/>
          </a:prstGeom>
          <a:noFill/>
          <a:ln/>
        </p:spPr>
        <p:txBody>
          <a:bodyPr wrap="square" lIns="0" tIns="0" rIns="0" bIns="0" rtlCol="0" anchor="ctr"/>
          <a:lstStyle/>
          <a:p>
            <a:pPr indent="0" marL="0">
              <a:buNone/>
            </a:pPr>
            <a:r>
              <a:rPr lang="en-US" sz="1250" dirty="0">
                <a:solidFill>
                  <a:srgbClr val="1F2A36"/>
                </a:solidFill>
                <a:latin typeface="Calibri" pitchFamily="34" charset="0"/>
                <a:ea typeface="Calibri" pitchFamily="34" charset="-122"/>
                <a:cs typeface="Calibri" pitchFamily="34" charset="-120"/>
              </a:rPr>
              <a:t>El desarrollador, en un sprint.</a:t>
            </a:r>
            <a:endParaRPr lang="en-US" sz="1250" dirty="0"/>
          </a:p>
        </p:txBody>
      </p:sp>
      <p:sp>
        <p:nvSpPr>
          <p:cNvPr id="28" name="Shape 26"/>
          <p:cNvSpPr/>
          <p:nvPr/>
        </p:nvSpPr>
        <p:spPr>
          <a:xfrm>
            <a:off x="6245352" y="1965960"/>
            <a:ext cx="5257800" cy="3566160"/>
          </a:xfrm>
          <a:prstGeom prst="rect">
            <a:avLst/>
          </a:prstGeom>
          <a:solidFill>
            <a:srgbClr val="FFFFFF"/>
          </a:solidFill>
          <a:ln w="15875">
            <a:solidFill>
              <a:srgbClr val="B85C2E"/>
            </a:solidFill>
            <a:prstDash val="solid"/>
          </a:ln>
        </p:spPr>
      </p:sp>
      <p:sp>
        <p:nvSpPr>
          <p:cNvPr id="29" name="Shape 27"/>
          <p:cNvSpPr/>
          <p:nvPr/>
        </p:nvSpPr>
        <p:spPr>
          <a:xfrm>
            <a:off x="6245352" y="1965960"/>
            <a:ext cx="5257800" cy="457200"/>
          </a:xfrm>
          <a:prstGeom prst="rect">
            <a:avLst/>
          </a:prstGeom>
          <a:solidFill>
            <a:srgbClr val="B85C2E"/>
          </a:solidFill>
          <a:ln w="12700">
            <a:solidFill>
              <a:srgbClr val="B85C2E"/>
            </a:solidFill>
            <a:prstDash val="solid"/>
          </a:ln>
        </p:spPr>
      </p:sp>
      <p:sp>
        <p:nvSpPr>
          <p:cNvPr id="30" name="Text 28"/>
          <p:cNvSpPr txBox="1"/>
          <p:nvPr/>
        </p:nvSpPr>
        <p:spPr>
          <a:xfrm>
            <a:off x="6501384" y="1965960"/>
            <a:ext cx="4754880" cy="457200"/>
          </a:xfrm>
          <a:prstGeom prst="rect">
            <a:avLst/>
          </a:prstGeom>
          <a:noFill/>
          <a:ln/>
        </p:spPr>
        <p:txBody>
          <a:bodyPr wrap="square" lIns="0" tIns="0" rIns="0" bIns="0" rtlCol="0" anchor="ctr"/>
          <a:lstStyle/>
          <a:p>
            <a:pPr indent="0" marL="0">
              <a:buNone/>
            </a:pPr>
            <a:r>
              <a:rPr lang="en-US" sz="1100" b="1" spc="100" kern="0" dirty="0">
                <a:solidFill>
                  <a:srgbClr val="FFFFFF"/>
                </a:solidFill>
                <a:latin typeface="Courier New" pitchFamily="34" charset="0"/>
                <a:ea typeface="Courier New" pitchFamily="34" charset="-122"/>
                <a:cs typeface="Courier New" pitchFamily="34" charset="-120"/>
              </a:rPr>
              <a:t>EL RIESGO ARQUITECTÓNICO</a:t>
            </a:r>
            <a:endParaRPr lang="en-US" sz="1100" dirty="0"/>
          </a:p>
        </p:txBody>
      </p:sp>
      <p:sp>
        <p:nvSpPr>
          <p:cNvPr id="31" name="Text 29"/>
          <p:cNvSpPr txBox="1"/>
          <p:nvPr/>
        </p:nvSpPr>
        <p:spPr>
          <a:xfrm>
            <a:off x="6501384" y="2651760"/>
            <a:ext cx="4754880" cy="256032"/>
          </a:xfrm>
          <a:prstGeom prst="rect">
            <a:avLst/>
          </a:prstGeom>
          <a:noFill/>
          <a:ln/>
        </p:spPr>
        <p:txBody>
          <a:bodyPr wrap="square" lIns="0" tIns="0" rIns="0" bIns="0" rtlCol="0" anchor="ctr"/>
          <a:lstStyle/>
          <a:p>
            <a:pPr indent="0" marL="0">
              <a:buNone/>
            </a:pPr>
            <a:r>
              <a:rPr lang="en-US" sz="1200" b="1" dirty="0">
                <a:solidFill>
                  <a:srgbClr val="B85C2E"/>
                </a:solidFill>
                <a:latin typeface="Calibri" pitchFamily="34" charset="0"/>
                <a:ea typeface="Calibri" pitchFamily="34" charset="-122"/>
                <a:cs typeface="Calibri" pitchFamily="34" charset="-120"/>
              </a:rPr>
              <a:t>Naturaleza</a:t>
            </a:r>
            <a:endParaRPr lang="en-US" sz="1200" dirty="0"/>
          </a:p>
        </p:txBody>
      </p:sp>
      <p:sp>
        <p:nvSpPr>
          <p:cNvPr id="32" name="Text 30"/>
          <p:cNvSpPr txBox="1"/>
          <p:nvPr/>
        </p:nvSpPr>
        <p:spPr>
          <a:xfrm>
            <a:off x="6501384" y="2916936"/>
            <a:ext cx="4754880" cy="310896"/>
          </a:xfrm>
          <a:prstGeom prst="rect">
            <a:avLst/>
          </a:prstGeom>
          <a:noFill/>
          <a:ln/>
        </p:spPr>
        <p:txBody>
          <a:bodyPr wrap="square" lIns="0" tIns="0" rIns="0" bIns="0" rtlCol="0" anchor="ctr"/>
          <a:lstStyle/>
          <a:p>
            <a:pPr indent="0" marL="0">
              <a:buNone/>
            </a:pPr>
            <a:r>
              <a:rPr lang="en-US" sz="1250" dirty="0">
                <a:solidFill>
                  <a:srgbClr val="1F2A36"/>
                </a:solidFill>
                <a:latin typeface="Calibri" pitchFamily="34" charset="0"/>
                <a:ea typeface="Calibri" pitchFamily="34" charset="-122"/>
                <a:cs typeface="Calibri" pitchFamily="34" charset="-120"/>
              </a:rPr>
              <a:t>Deficiencia fundamental en el diseño o la estructura.</a:t>
            </a:r>
            <a:endParaRPr lang="en-US" sz="1250" dirty="0"/>
          </a:p>
        </p:txBody>
      </p:sp>
      <p:sp>
        <p:nvSpPr>
          <p:cNvPr id="33" name="Text 31"/>
          <p:cNvSpPr txBox="1"/>
          <p:nvPr/>
        </p:nvSpPr>
        <p:spPr>
          <a:xfrm>
            <a:off x="6501384" y="3364992"/>
            <a:ext cx="4754880" cy="256032"/>
          </a:xfrm>
          <a:prstGeom prst="rect">
            <a:avLst/>
          </a:prstGeom>
          <a:noFill/>
          <a:ln/>
        </p:spPr>
        <p:txBody>
          <a:bodyPr wrap="square" lIns="0" tIns="0" rIns="0" bIns="0" rtlCol="0" anchor="ctr"/>
          <a:lstStyle/>
          <a:p>
            <a:pPr indent="0" marL="0">
              <a:buNone/>
            </a:pPr>
            <a:r>
              <a:rPr lang="en-US" sz="1200" b="1" dirty="0">
                <a:solidFill>
                  <a:srgbClr val="B85C2E"/>
                </a:solidFill>
                <a:latin typeface="Calibri" pitchFamily="34" charset="0"/>
                <a:ea typeface="Calibri" pitchFamily="34" charset="-122"/>
                <a:cs typeface="Calibri" pitchFamily="34" charset="-120"/>
              </a:rPr>
              <a:t>Detección</a:t>
            </a:r>
            <a:endParaRPr lang="en-US" sz="1200" dirty="0"/>
          </a:p>
        </p:txBody>
      </p:sp>
      <p:sp>
        <p:nvSpPr>
          <p:cNvPr id="34" name="Text 32"/>
          <p:cNvSpPr txBox="1"/>
          <p:nvPr/>
        </p:nvSpPr>
        <p:spPr>
          <a:xfrm>
            <a:off x="6501384" y="3630168"/>
            <a:ext cx="4754880" cy="310896"/>
          </a:xfrm>
          <a:prstGeom prst="rect">
            <a:avLst/>
          </a:prstGeom>
          <a:noFill/>
          <a:ln/>
        </p:spPr>
        <p:txBody>
          <a:bodyPr wrap="square" lIns="0" tIns="0" rIns="0" bIns="0" rtlCol="0" anchor="ctr"/>
          <a:lstStyle/>
          <a:p>
            <a:pPr indent="0" marL="0">
              <a:buNone/>
            </a:pPr>
            <a:r>
              <a:rPr lang="en-US" sz="1250" dirty="0">
                <a:solidFill>
                  <a:srgbClr val="1F2A36"/>
                </a:solidFill>
                <a:latin typeface="Calibri" pitchFamily="34" charset="0"/>
                <a:ea typeface="Calibri" pitchFamily="34" charset="-122"/>
                <a:cs typeface="Calibri" pitchFamily="34" charset="-120"/>
              </a:rPr>
              <a:t>Tarde, cuando el sistema ya está en producción.</a:t>
            </a:r>
            <a:endParaRPr lang="en-US" sz="1250" dirty="0"/>
          </a:p>
        </p:txBody>
      </p:sp>
      <p:sp>
        <p:nvSpPr>
          <p:cNvPr id="35" name="Text 33"/>
          <p:cNvSpPr txBox="1"/>
          <p:nvPr/>
        </p:nvSpPr>
        <p:spPr>
          <a:xfrm>
            <a:off x="6501384" y="4078224"/>
            <a:ext cx="4754880" cy="256032"/>
          </a:xfrm>
          <a:prstGeom prst="rect">
            <a:avLst/>
          </a:prstGeom>
          <a:noFill/>
          <a:ln/>
        </p:spPr>
        <p:txBody>
          <a:bodyPr wrap="square" lIns="0" tIns="0" rIns="0" bIns="0" rtlCol="0" anchor="ctr"/>
          <a:lstStyle/>
          <a:p>
            <a:pPr indent="0" marL="0">
              <a:buNone/>
            </a:pPr>
            <a:r>
              <a:rPr lang="en-US" sz="1200" b="1" dirty="0">
                <a:solidFill>
                  <a:srgbClr val="B85C2E"/>
                </a:solidFill>
                <a:latin typeface="Calibri" pitchFamily="34" charset="0"/>
                <a:ea typeface="Calibri" pitchFamily="34" charset="-122"/>
                <a:cs typeface="Calibri" pitchFamily="34" charset="-120"/>
              </a:rPr>
              <a:t>Costo de corrección</a:t>
            </a:r>
            <a:endParaRPr lang="en-US" sz="1200" dirty="0"/>
          </a:p>
        </p:txBody>
      </p:sp>
      <p:sp>
        <p:nvSpPr>
          <p:cNvPr id="36" name="Text 34"/>
          <p:cNvSpPr txBox="1"/>
          <p:nvPr/>
        </p:nvSpPr>
        <p:spPr>
          <a:xfrm>
            <a:off x="6501384" y="4343400"/>
            <a:ext cx="4754880" cy="310896"/>
          </a:xfrm>
          <a:prstGeom prst="rect">
            <a:avLst/>
          </a:prstGeom>
          <a:noFill/>
          <a:ln/>
        </p:spPr>
        <p:txBody>
          <a:bodyPr wrap="square" lIns="0" tIns="0" rIns="0" bIns="0" rtlCol="0" anchor="ctr"/>
          <a:lstStyle/>
          <a:p>
            <a:pPr indent="0" marL="0">
              <a:buNone/>
            </a:pPr>
            <a:r>
              <a:rPr lang="en-US" sz="1250" dirty="0">
                <a:solidFill>
                  <a:srgbClr val="1F2A36"/>
                </a:solidFill>
                <a:latin typeface="Calibri" pitchFamily="34" charset="0"/>
                <a:ea typeface="Calibri" pitchFamily="34" charset="-122"/>
                <a:cs typeface="Calibri" pitchFamily="34" charset="-120"/>
              </a:rPr>
              <a:t>Exponencial: exige reestructuración profunda.</a:t>
            </a:r>
            <a:endParaRPr lang="en-US" sz="1250" dirty="0"/>
          </a:p>
        </p:txBody>
      </p:sp>
      <p:sp>
        <p:nvSpPr>
          <p:cNvPr id="37" name="Text 35"/>
          <p:cNvSpPr txBox="1"/>
          <p:nvPr/>
        </p:nvSpPr>
        <p:spPr>
          <a:xfrm>
            <a:off x="6501384" y="4791456"/>
            <a:ext cx="4754880" cy="256032"/>
          </a:xfrm>
          <a:prstGeom prst="rect">
            <a:avLst/>
          </a:prstGeom>
          <a:noFill/>
          <a:ln/>
        </p:spPr>
        <p:txBody>
          <a:bodyPr wrap="square" lIns="0" tIns="0" rIns="0" bIns="0" rtlCol="0" anchor="ctr"/>
          <a:lstStyle/>
          <a:p>
            <a:pPr indent="0" marL="0">
              <a:buNone/>
            </a:pPr>
            <a:r>
              <a:rPr lang="en-US" sz="1200" b="1" dirty="0">
                <a:solidFill>
                  <a:srgbClr val="B85C2E"/>
                </a:solidFill>
                <a:latin typeface="Calibri" pitchFamily="34" charset="0"/>
                <a:ea typeface="Calibri" pitchFamily="34" charset="-122"/>
                <a:cs typeface="Calibri" pitchFamily="34" charset="-120"/>
              </a:rPr>
              <a:t>Quién lo arregla</a:t>
            </a:r>
            <a:endParaRPr lang="en-US" sz="1200" dirty="0"/>
          </a:p>
        </p:txBody>
      </p:sp>
      <p:sp>
        <p:nvSpPr>
          <p:cNvPr id="38" name="Text 36"/>
          <p:cNvSpPr txBox="1"/>
          <p:nvPr/>
        </p:nvSpPr>
        <p:spPr>
          <a:xfrm>
            <a:off x="6501384" y="5056632"/>
            <a:ext cx="4754880" cy="310896"/>
          </a:xfrm>
          <a:prstGeom prst="rect">
            <a:avLst/>
          </a:prstGeom>
          <a:noFill/>
          <a:ln/>
        </p:spPr>
        <p:txBody>
          <a:bodyPr wrap="square" lIns="0" tIns="0" rIns="0" bIns="0" rtlCol="0" anchor="ctr"/>
          <a:lstStyle/>
          <a:p>
            <a:pPr indent="0" marL="0">
              <a:buNone/>
            </a:pPr>
            <a:r>
              <a:rPr lang="en-US" sz="1250" dirty="0">
                <a:solidFill>
                  <a:srgbClr val="1F2A36"/>
                </a:solidFill>
                <a:latin typeface="Calibri" pitchFamily="34" charset="0"/>
                <a:ea typeface="Calibri" pitchFamily="34" charset="-122"/>
                <a:cs typeface="Calibri" pitchFamily="34" charset="-120"/>
              </a:rPr>
              <a:t>El equipo completo, en meses.</a:t>
            </a:r>
            <a:endParaRPr lang="en-US" sz="1250" dirty="0"/>
          </a:p>
        </p:txBody>
      </p:sp>
      <p:sp>
        <p:nvSpPr>
          <p:cNvPr id="39" name="Shape 37"/>
          <p:cNvSpPr/>
          <p:nvPr/>
        </p:nvSpPr>
        <p:spPr>
          <a:xfrm>
            <a:off x="685800" y="5760720"/>
            <a:ext cx="10820095" cy="658368"/>
          </a:xfrm>
          <a:prstGeom prst="rect">
            <a:avLst/>
          </a:prstGeom>
          <a:solidFill>
            <a:srgbClr val="EFEDE3"/>
          </a:solidFill>
          <a:ln w="12700">
            <a:solidFill>
              <a:srgbClr val="C6C4B8"/>
            </a:solidFill>
            <a:prstDash val="solid"/>
          </a:ln>
        </p:spPr>
      </p:sp>
      <p:sp>
        <p:nvSpPr>
          <p:cNvPr id="40" name="Text 38"/>
          <p:cNvSpPr txBox="1"/>
          <p:nvPr/>
        </p:nvSpPr>
        <p:spPr>
          <a:xfrm>
            <a:off x="960120" y="5760720"/>
            <a:ext cx="10271455" cy="658368"/>
          </a:xfrm>
          <a:prstGeom prst="rect">
            <a:avLst/>
          </a:prstGeom>
          <a:noFill/>
          <a:ln/>
        </p:spPr>
        <p:txBody>
          <a:bodyPr wrap="square" lIns="0" tIns="0" rIns="0" bIns="0" rtlCol="0" anchor="ctr"/>
          <a:lstStyle/>
          <a:p>
            <a:pPr indent="0" marL="0">
              <a:buNone/>
            </a:pPr>
            <a:r>
              <a:rPr lang="en-US" sz="1250" b="1" dirty="0">
                <a:solidFill>
                  <a:srgbClr val="16273F"/>
                </a:solidFill>
                <a:latin typeface="Calibri" pitchFamily="34" charset="0"/>
                <a:ea typeface="Calibri" pitchFamily="34" charset="-122"/>
                <a:cs typeface="Calibri" pitchFamily="34" charset="-120"/>
              </a:rPr>
              <a:t>La consecuencia práctica:  </a:t>
            </a:r>
            <a:pPr indent="0" marL="0">
              <a:buNone/>
            </a:pPr>
            <a:r>
              <a:rPr lang="en-US" sz="1250" dirty="0">
                <a:solidFill>
                  <a:srgbClr val="1F2A36"/>
                </a:solidFill>
                <a:latin typeface="Calibri" pitchFamily="34" charset="0"/>
                <a:ea typeface="Calibri" pitchFamily="34" charset="-122"/>
                <a:cs typeface="Calibri" pitchFamily="34" charset="-120"/>
              </a:rPr>
              <a:t>un bug se arregla; un riesgo arquitectónico se paga. Por eso se evalúan temprano y por eso este módulo existe.</a:t>
            </a:r>
            <a:endParaRPr lang="en-US" sz="1250" dirty="0"/>
          </a:p>
        </p:txBody>
      </p:sp>
      <p:sp>
        <p:nvSpPr>
          <p:cNvPr id="41" name="Text 39"/>
          <p:cNvSpPr txBox="1"/>
          <p:nvPr/>
        </p:nvSpPr>
        <p:spPr>
          <a:xfrm>
            <a:off x="685800" y="6583680"/>
            <a:ext cx="6400800" cy="237744"/>
          </a:xfrm>
          <a:prstGeom prst="rect">
            <a:avLst/>
          </a:prstGeom>
          <a:noFill/>
          <a:ln/>
        </p:spPr>
        <p:txBody>
          <a:bodyPr wrap="square" lIns="0" tIns="0" rIns="0" bIns="0" rtlCol="0" anchor="ctr"/>
          <a:lstStyle/>
          <a:p>
            <a:pPr indent="0" marL="0">
              <a:buNone/>
            </a:pPr>
            <a:r>
              <a:rPr lang="en-US" sz="800" dirty="0">
                <a:solidFill>
                  <a:srgbClr val="707C86"/>
                </a:solidFill>
                <a:latin typeface="Courier New" pitchFamily="34" charset="0"/>
                <a:ea typeface="Courier New" pitchFamily="34" charset="-122"/>
                <a:cs typeface="Courier New" pitchFamily="34" charset="-120"/>
              </a:rPr>
              <a:t>AREM · Módulo 9 · Evaluación de Riesgos Arquitectónicos</a:t>
            </a:r>
            <a:endParaRPr lang="en-US" sz="800" dirty="0"/>
          </a:p>
        </p:txBody>
      </p:sp>
      <p:sp>
        <p:nvSpPr>
          <p:cNvPr id="42" name="Text 40"/>
          <p:cNvSpPr txBox="1"/>
          <p:nvPr/>
        </p:nvSpPr>
        <p:spPr>
          <a:xfrm>
            <a:off x="10881360" y="6583680"/>
            <a:ext cx="621792" cy="237744"/>
          </a:xfrm>
          <a:prstGeom prst="rect">
            <a:avLst/>
          </a:prstGeom>
          <a:noFill/>
          <a:ln/>
        </p:spPr>
        <p:txBody>
          <a:bodyPr wrap="square" lIns="0" tIns="0" rIns="0" bIns="0" rtlCol="0" anchor="ctr"/>
          <a:lstStyle/>
          <a:p>
            <a:pPr algn="r" indent="0" marL="0">
              <a:buNone/>
            </a:pPr>
            <a:r>
              <a:rPr lang="en-US" sz="800" dirty="0">
                <a:solidFill>
                  <a:srgbClr val="707C86"/>
                </a:solidFill>
                <a:latin typeface="Courier New" pitchFamily="34" charset="0"/>
                <a:ea typeface="Courier New" pitchFamily="34" charset="-122"/>
                <a:cs typeface="Courier New"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4ED"/>
        </a:solidFill>
      </p:bgPr>
    </p:bg>
    <p:spTree>
      <p:nvGrpSpPr>
        <p:cNvPr id="1" name=""/>
        <p:cNvGrpSpPr/>
        <p:nvPr/>
      </p:nvGrpSpPr>
      <p:grpSpPr>
        <a:xfrm>
          <a:off x="0" y="0"/>
          <a:ext cx="0" cy="0"/>
          <a:chOff x="0" y="0"/>
          <a:chExt cx="0" cy="0"/>
        </a:xfrm>
      </p:grpSpPr>
      <p:sp>
        <p:nvSpPr>
          <p:cNvPr id="2" name="Shape 0"/>
          <p:cNvSpPr/>
          <p:nvPr/>
        </p:nvSpPr>
        <p:spPr>
          <a:xfrm>
            <a:off x="384048" y="310896"/>
            <a:ext cx="11420856" cy="10973"/>
          </a:xfrm>
          <a:prstGeom prst="rect">
            <a:avLst/>
          </a:prstGeom>
          <a:solidFill>
            <a:srgbClr val="C6C4B8"/>
          </a:solidFill>
          <a:ln w="12700">
            <a:solidFill>
              <a:srgbClr val="C6C4B8"/>
            </a:solidFill>
            <a:prstDash val="solid"/>
          </a:ln>
        </p:spPr>
      </p:sp>
      <p:sp>
        <p:nvSpPr>
          <p:cNvPr id="3" name="Shape 1"/>
          <p:cNvSpPr/>
          <p:nvPr/>
        </p:nvSpPr>
        <p:spPr>
          <a:xfrm>
            <a:off x="384048" y="6510528"/>
            <a:ext cx="11420856" cy="10973"/>
          </a:xfrm>
          <a:prstGeom prst="rect">
            <a:avLst/>
          </a:prstGeom>
          <a:solidFill>
            <a:srgbClr val="C6C4B8"/>
          </a:solidFill>
          <a:ln w="12700">
            <a:solidFill>
              <a:srgbClr val="C6C4B8"/>
            </a:solidFill>
            <a:prstDash val="solid"/>
          </a:ln>
        </p:spPr>
      </p:sp>
      <p:sp>
        <p:nvSpPr>
          <p:cNvPr id="4" name="Shape 2"/>
          <p:cNvSpPr/>
          <p:nvPr/>
        </p:nvSpPr>
        <p:spPr>
          <a:xfrm>
            <a:off x="384048" y="310896"/>
            <a:ext cx="10973" cy="6208776"/>
          </a:xfrm>
          <a:prstGeom prst="rect">
            <a:avLst/>
          </a:prstGeom>
          <a:solidFill>
            <a:srgbClr val="C6C4B8"/>
          </a:solidFill>
          <a:ln w="12700">
            <a:solidFill>
              <a:srgbClr val="C6C4B8"/>
            </a:solidFill>
            <a:prstDash val="solid"/>
          </a:ln>
        </p:spPr>
      </p:sp>
      <p:sp>
        <p:nvSpPr>
          <p:cNvPr id="5" name="Shape 3"/>
          <p:cNvSpPr/>
          <p:nvPr/>
        </p:nvSpPr>
        <p:spPr>
          <a:xfrm>
            <a:off x="11795760" y="310896"/>
            <a:ext cx="10973" cy="6208776"/>
          </a:xfrm>
          <a:prstGeom prst="rect">
            <a:avLst/>
          </a:prstGeom>
          <a:solidFill>
            <a:srgbClr val="C6C4B8"/>
          </a:solidFill>
          <a:ln w="12700">
            <a:solidFill>
              <a:srgbClr val="C6C4B8"/>
            </a:solidFill>
            <a:prstDash val="solid"/>
          </a:ln>
        </p:spPr>
      </p:sp>
      <p:sp>
        <p:nvSpPr>
          <p:cNvPr id="6" name="Shape 4"/>
          <p:cNvSpPr/>
          <p:nvPr/>
        </p:nvSpPr>
        <p:spPr>
          <a:xfrm>
            <a:off x="283464" y="306324"/>
            <a:ext cx="201168" cy="9144"/>
          </a:xfrm>
          <a:prstGeom prst="rect">
            <a:avLst/>
          </a:prstGeom>
          <a:solidFill>
            <a:srgbClr val="5A7189"/>
          </a:solidFill>
          <a:ln w="12700">
            <a:solidFill>
              <a:srgbClr val="5A7189"/>
            </a:solidFill>
            <a:prstDash val="solid"/>
          </a:ln>
        </p:spPr>
      </p:sp>
      <p:sp>
        <p:nvSpPr>
          <p:cNvPr id="7" name="Shape 5"/>
          <p:cNvSpPr/>
          <p:nvPr/>
        </p:nvSpPr>
        <p:spPr>
          <a:xfrm>
            <a:off x="379476" y="210312"/>
            <a:ext cx="9144" cy="201168"/>
          </a:xfrm>
          <a:prstGeom prst="rect">
            <a:avLst/>
          </a:prstGeom>
          <a:solidFill>
            <a:srgbClr val="5A7189"/>
          </a:solidFill>
          <a:ln w="12700">
            <a:solidFill>
              <a:srgbClr val="5A7189"/>
            </a:solidFill>
            <a:prstDash val="solid"/>
          </a:ln>
        </p:spPr>
      </p:sp>
      <p:sp>
        <p:nvSpPr>
          <p:cNvPr id="8" name="Shape 6"/>
          <p:cNvSpPr/>
          <p:nvPr/>
        </p:nvSpPr>
        <p:spPr>
          <a:xfrm>
            <a:off x="11695176" y="306324"/>
            <a:ext cx="201168" cy="9144"/>
          </a:xfrm>
          <a:prstGeom prst="rect">
            <a:avLst/>
          </a:prstGeom>
          <a:solidFill>
            <a:srgbClr val="5A7189"/>
          </a:solidFill>
          <a:ln w="12700">
            <a:solidFill>
              <a:srgbClr val="5A7189"/>
            </a:solidFill>
            <a:prstDash val="solid"/>
          </a:ln>
        </p:spPr>
      </p:sp>
      <p:sp>
        <p:nvSpPr>
          <p:cNvPr id="9" name="Shape 7"/>
          <p:cNvSpPr/>
          <p:nvPr/>
        </p:nvSpPr>
        <p:spPr>
          <a:xfrm>
            <a:off x="11791188" y="210312"/>
            <a:ext cx="9144" cy="201168"/>
          </a:xfrm>
          <a:prstGeom prst="rect">
            <a:avLst/>
          </a:prstGeom>
          <a:solidFill>
            <a:srgbClr val="5A7189"/>
          </a:solidFill>
          <a:ln w="12700">
            <a:solidFill>
              <a:srgbClr val="5A7189"/>
            </a:solidFill>
            <a:prstDash val="solid"/>
          </a:ln>
        </p:spPr>
      </p:sp>
      <p:sp>
        <p:nvSpPr>
          <p:cNvPr id="10" name="Shape 8"/>
          <p:cNvSpPr/>
          <p:nvPr/>
        </p:nvSpPr>
        <p:spPr>
          <a:xfrm>
            <a:off x="283464" y="6505956"/>
            <a:ext cx="201168" cy="9144"/>
          </a:xfrm>
          <a:prstGeom prst="rect">
            <a:avLst/>
          </a:prstGeom>
          <a:solidFill>
            <a:srgbClr val="5A7189"/>
          </a:solidFill>
          <a:ln w="12700">
            <a:solidFill>
              <a:srgbClr val="5A7189"/>
            </a:solidFill>
            <a:prstDash val="solid"/>
          </a:ln>
        </p:spPr>
      </p:sp>
      <p:sp>
        <p:nvSpPr>
          <p:cNvPr id="11" name="Shape 9"/>
          <p:cNvSpPr/>
          <p:nvPr/>
        </p:nvSpPr>
        <p:spPr>
          <a:xfrm>
            <a:off x="379476" y="6409944"/>
            <a:ext cx="9144" cy="201168"/>
          </a:xfrm>
          <a:prstGeom prst="rect">
            <a:avLst/>
          </a:prstGeom>
          <a:solidFill>
            <a:srgbClr val="5A7189"/>
          </a:solidFill>
          <a:ln w="12700">
            <a:solidFill>
              <a:srgbClr val="5A7189"/>
            </a:solidFill>
            <a:prstDash val="solid"/>
          </a:ln>
        </p:spPr>
      </p:sp>
      <p:sp>
        <p:nvSpPr>
          <p:cNvPr id="12" name="Shape 10"/>
          <p:cNvSpPr/>
          <p:nvPr/>
        </p:nvSpPr>
        <p:spPr>
          <a:xfrm>
            <a:off x="11695176" y="6505956"/>
            <a:ext cx="201168" cy="9144"/>
          </a:xfrm>
          <a:prstGeom prst="rect">
            <a:avLst/>
          </a:prstGeom>
          <a:solidFill>
            <a:srgbClr val="5A7189"/>
          </a:solidFill>
          <a:ln w="12700">
            <a:solidFill>
              <a:srgbClr val="5A7189"/>
            </a:solidFill>
            <a:prstDash val="solid"/>
          </a:ln>
        </p:spPr>
      </p:sp>
      <p:sp>
        <p:nvSpPr>
          <p:cNvPr id="13" name="Shape 11"/>
          <p:cNvSpPr/>
          <p:nvPr/>
        </p:nvSpPr>
        <p:spPr>
          <a:xfrm>
            <a:off x="11791188" y="6409944"/>
            <a:ext cx="9144" cy="201168"/>
          </a:xfrm>
          <a:prstGeom prst="rect">
            <a:avLst/>
          </a:prstGeom>
          <a:solidFill>
            <a:srgbClr val="5A7189"/>
          </a:solidFill>
          <a:ln w="12700">
            <a:solidFill>
              <a:srgbClr val="5A7189"/>
            </a:solidFill>
            <a:prstDash val="solid"/>
          </a:ln>
        </p:spPr>
      </p:sp>
      <p:sp>
        <p:nvSpPr>
          <p:cNvPr id="14" name="Text 12"/>
          <p:cNvSpPr txBox="1"/>
          <p:nvPr/>
        </p:nvSpPr>
        <p:spPr>
          <a:xfrm>
            <a:off x="685800" y="566928"/>
            <a:ext cx="7315200" cy="237744"/>
          </a:xfrm>
          <a:prstGeom prst="rect">
            <a:avLst/>
          </a:prstGeom>
          <a:noFill/>
          <a:ln/>
        </p:spPr>
        <p:txBody>
          <a:bodyPr wrap="square" lIns="0" tIns="0" rIns="0" bIns="0" rtlCol="0" anchor="ctr"/>
          <a:lstStyle/>
          <a:p>
            <a:pPr indent="0" marL="0">
              <a:buNone/>
            </a:pPr>
            <a:r>
              <a:rPr lang="en-US" sz="1000" spc="100" kern="0" dirty="0">
                <a:solidFill>
                  <a:srgbClr val="B85C2E"/>
                </a:solidFill>
                <a:latin typeface="Courier New" pitchFamily="34" charset="0"/>
                <a:ea typeface="Courier New" pitchFamily="34" charset="-122"/>
                <a:cs typeface="Courier New" pitchFamily="34" charset="-120"/>
              </a:rPr>
              <a:t>03 · ANATOMÍA</a:t>
            </a:r>
            <a:endParaRPr lang="en-US" sz="1000" dirty="0"/>
          </a:p>
        </p:txBody>
      </p:sp>
      <p:sp>
        <p:nvSpPr>
          <p:cNvPr id="15" name="Text 13"/>
          <p:cNvSpPr txBox="1"/>
          <p:nvPr/>
        </p:nvSpPr>
        <p:spPr>
          <a:xfrm>
            <a:off x="685800" y="822960"/>
            <a:ext cx="10820095" cy="566928"/>
          </a:xfrm>
          <a:prstGeom prst="rect">
            <a:avLst/>
          </a:prstGeom>
          <a:noFill/>
          <a:ln/>
        </p:spPr>
        <p:txBody>
          <a:bodyPr wrap="square" lIns="0" tIns="0" rIns="0" bIns="0" rtlCol="0" anchor="ctr"/>
          <a:lstStyle/>
          <a:p>
            <a:pPr indent="0" marL="0">
              <a:buNone/>
            </a:pPr>
            <a:r>
              <a:rPr lang="en-US" sz="3000" b="1" dirty="0">
                <a:solidFill>
                  <a:srgbClr val="16273F"/>
                </a:solidFill>
                <a:latin typeface="Arial" pitchFamily="34" charset="0"/>
                <a:ea typeface="Arial" pitchFamily="34" charset="-122"/>
                <a:cs typeface="Arial" pitchFamily="34" charset="-120"/>
              </a:rPr>
              <a:t>De dónde vienen y en qué se convierten</a:t>
            </a:r>
            <a:endParaRPr lang="en-US" sz="3000" dirty="0"/>
          </a:p>
        </p:txBody>
      </p:sp>
      <p:sp>
        <p:nvSpPr>
          <p:cNvPr id="16" name="Text 14"/>
          <p:cNvSpPr txBox="1"/>
          <p:nvPr/>
        </p:nvSpPr>
        <p:spPr>
          <a:xfrm>
            <a:off x="685800" y="1389888"/>
            <a:ext cx="10820095" cy="310896"/>
          </a:xfrm>
          <a:prstGeom prst="rect">
            <a:avLst/>
          </a:prstGeom>
          <a:noFill/>
          <a:ln/>
        </p:spPr>
        <p:txBody>
          <a:bodyPr wrap="square" lIns="0" tIns="0" rIns="0" bIns="0" rtlCol="0" anchor="ctr"/>
          <a:lstStyle/>
          <a:p>
            <a:pPr indent="0" marL="0">
              <a:buNone/>
            </a:pPr>
            <a:r>
              <a:rPr lang="en-US" sz="1350" dirty="0">
                <a:solidFill>
                  <a:srgbClr val="707C86"/>
                </a:solidFill>
                <a:latin typeface="Calibri" pitchFamily="34" charset="0"/>
                <a:ea typeface="Calibri" pitchFamily="34" charset="-122"/>
                <a:cs typeface="Calibri" pitchFamily="34" charset="-120"/>
              </a:rPr>
              <a:t>Cuatro fuentes de riesgo, tres tipos de impacto</a:t>
            </a:r>
            <a:endParaRPr lang="en-US" sz="1350" dirty="0"/>
          </a:p>
        </p:txBody>
      </p:sp>
      <p:sp>
        <p:nvSpPr>
          <p:cNvPr id="17" name="Text 15"/>
          <p:cNvSpPr txBox="1"/>
          <p:nvPr/>
        </p:nvSpPr>
        <p:spPr>
          <a:xfrm>
            <a:off x="685800" y="1920240"/>
            <a:ext cx="2743200" cy="219456"/>
          </a:xfrm>
          <a:prstGeom prst="rect">
            <a:avLst/>
          </a:prstGeom>
          <a:noFill/>
          <a:ln/>
        </p:spPr>
        <p:txBody>
          <a:bodyPr wrap="square" lIns="0" tIns="0" rIns="0" bIns="0" rtlCol="0" anchor="ctr"/>
          <a:lstStyle/>
          <a:p>
            <a:pPr indent="0" marL="0">
              <a:buNone/>
            </a:pPr>
            <a:r>
              <a:rPr lang="en-US" sz="850" spc="50" kern="0" dirty="0">
                <a:solidFill>
                  <a:srgbClr val="B85C2E"/>
                </a:solidFill>
                <a:latin typeface="Courier New" pitchFamily="34" charset="0"/>
                <a:ea typeface="Courier New" pitchFamily="34" charset="-122"/>
                <a:cs typeface="Courier New" pitchFamily="34" charset="-120"/>
              </a:rPr>
              <a:t>FUENTES DE RIESGO</a:t>
            </a:r>
            <a:endParaRPr lang="en-US" sz="850" dirty="0"/>
          </a:p>
        </p:txBody>
      </p:sp>
      <p:sp>
        <p:nvSpPr>
          <p:cNvPr id="18" name="Shape 16"/>
          <p:cNvSpPr/>
          <p:nvPr/>
        </p:nvSpPr>
        <p:spPr>
          <a:xfrm>
            <a:off x="685800" y="2240280"/>
            <a:ext cx="4663440" cy="914400"/>
          </a:xfrm>
          <a:prstGeom prst="rect">
            <a:avLst/>
          </a:prstGeom>
          <a:solidFill>
            <a:srgbClr val="FFFFFF"/>
          </a:solidFill>
          <a:ln w="12700">
            <a:solidFill>
              <a:srgbClr val="C6C4B8"/>
            </a:solidFill>
            <a:prstDash val="solid"/>
          </a:ln>
        </p:spPr>
      </p:sp>
      <p:sp>
        <p:nvSpPr>
          <p:cNvPr id="19" name="Text 17"/>
          <p:cNvSpPr txBox="1"/>
          <p:nvPr/>
        </p:nvSpPr>
        <p:spPr>
          <a:xfrm>
            <a:off x="914400" y="2350008"/>
            <a:ext cx="4206240" cy="256032"/>
          </a:xfrm>
          <a:prstGeom prst="rect">
            <a:avLst/>
          </a:prstGeom>
          <a:noFill/>
          <a:ln/>
        </p:spPr>
        <p:txBody>
          <a:bodyPr wrap="square" lIns="0" tIns="0" rIns="0" bIns="0" rtlCol="0" anchor="ctr"/>
          <a:lstStyle/>
          <a:p>
            <a:pPr indent="0" marL="0">
              <a:buNone/>
            </a:pPr>
            <a:r>
              <a:rPr lang="en-US" sz="1300" b="1" dirty="0">
                <a:solidFill>
                  <a:srgbClr val="16273F"/>
                </a:solidFill>
                <a:latin typeface="Calibri" pitchFamily="34" charset="0"/>
                <a:ea typeface="Calibri" pitchFamily="34" charset="-122"/>
                <a:cs typeface="Calibri" pitchFamily="34" charset="-120"/>
              </a:rPr>
              <a:t>Requisitos ambiguos</a:t>
            </a:r>
            <a:endParaRPr lang="en-US" sz="1300" dirty="0"/>
          </a:p>
        </p:txBody>
      </p:sp>
      <p:sp>
        <p:nvSpPr>
          <p:cNvPr id="20" name="Text 18"/>
          <p:cNvSpPr txBox="1"/>
          <p:nvPr/>
        </p:nvSpPr>
        <p:spPr>
          <a:xfrm>
            <a:off x="914400" y="2624328"/>
            <a:ext cx="4206240" cy="438912"/>
          </a:xfrm>
          <a:prstGeom prst="rect">
            <a:avLst/>
          </a:prstGeom>
          <a:noFill/>
          <a:ln/>
        </p:spPr>
        <p:txBody>
          <a:bodyPr wrap="square" lIns="0" tIns="0" rIns="0" bIns="0" rtlCol="0" anchor="ctr"/>
          <a:lstStyle/>
          <a:p>
            <a:pPr indent="0" marL="0">
              <a:lnSpc>
                <a:spcPts val="1500"/>
              </a:lnSpc>
              <a:buNone/>
            </a:pPr>
            <a:r>
              <a:rPr lang="en-US" sz="1150" dirty="0">
                <a:solidFill>
                  <a:srgbClr val="1F2A36"/>
                </a:solidFill>
                <a:latin typeface="Calibri" pitchFamily="34" charset="0"/>
                <a:ea typeface="Calibri" pitchFamily="34" charset="-122"/>
                <a:cs typeface="Calibri" pitchFamily="34" charset="-120"/>
              </a:rPr>
              <a:t>Interpretaciones erróneas que terminan en retrabajo y desvío de alcance.</a:t>
            </a:r>
            <a:endParaRPr lang="en-US" sz="1150" dirty="0"/>
          </a:p>
        </p:txBody>
      </p:sp>
      <p:sp>
        <p:nvSpPr>
          <p:cNvPr id="21" name="Shape 19"/>
          <p:cNvSpPr/>
          <p:nvPr/>
        </p:nvSpPr>
        <p:spPr>
          <a:xfrm>
            <a:off x="685800" y="3246120"/>
            <a:ext cx="4663440" cy="914400"/>
          </a:xfrm>
          <a:prstGeom prst="rect">
            <a:avLst/>
          </a:prstGeom>
          <a:solidFill>
            <a:srgbClr val="FFFFFF"/>
          </a:solidFill>
          <a:ln w="12700">
            <a:solidFill>
              <a:srgbClr val="C6C4B8"/>
            </a:solidFill>
            <a:prstDash val="solid"/>
          </a:ln>
        </p:spPr>
      </p:sp>
      <p:sp>
        <p:nvSpPr>
          <p:cNvPr id="22" name="Text 20"/>
          <p:cNvSpPr txBox="1"/>
          <p:nvPr/>
        </p:nvSpPr>
        <p:spPr>
          <a:xfrm>
            <a:off x="914400" y="3355848"/>
            <a:ext cx="4206240" cy="256032"/>
          </a:xfrm>
          <a:prstGeom prst="rect">
            <a:avLst/>
          </a:prstGeom>
          <a:noFill/>
          <a:ln/>
        </p:spPr>
        <p:txBody>
          <a:bodyPr wrap="square" lIns="0" tIns="0" rIns="0" bIns="0" rtlCol="0" anchor="ctr"/>
          <a:lstStyle/>
          <a:p>
            <a:pPr indent="0" marL="0">
              <a:buNone/>
            </a:pPr>
            <a:r>
              <a:rPr lang="en-US" sz="1300" b="1" dirty="0">
                <a:solidFill>
                  <a:srgbClr val="16273F"/>
                </a:solidFill>
                <a:latin typeface="Calibri" pitchFamily="34" charset="0"/>
                <a:ea typeface="Calibri" pitchFamily="34" charset="-122"/>
                <a:cs typeface="Calibri" pitchFamily="34" charset="-120"/>
              </a:rPr>
              <a:t>Infraestructura deficiente</a:t>
            </a:r>
            <a:endParaRPr lang="en-US" sz="1300" dirty="0"/>
          </a:p>
        </p:txBody>
      </p:sp>
      <p:sp>
        <p:nvSpPr>
          <p:cNvPr id="23" name="Text 21"/>
          <p:cNvSpPr txBox="1"/>
          <p:nvPr/>
        </p:nvSpPr>
        <p:spPr>
          <a:xfrm>
            <a:off x="914400" y="3630168"/>
            <a:ext cx="4206240" cy="438912"/>
          </a:xfrm>
          <a:prstGeom prst="rect">
            <a:avLst/>
          </a:prstGeom>
          <a:noFill/>
          <a:ln/>
        </p:spPr>
        <p:txBody>
          <a:bodyPr wrap="square" lIns="0" tIns="0" rIns="0" bIns="0" rtlCol="0" anchor="ctr"/>
          <a:lstStyle/>
          <a:p>
            <a:pPr indent="0" marL="0">
              <a:lnSpc>
                <a:spcPts val="1500"/>
              </a:lnSpc>
              <a:buNone/>
            </a:pPr>
            <a:r>
              <a:rPr lang="en-US" sz="1150" dirty="0">
                <a:solidFill>
                  <a:srgbClr val="1F2A36"/>
                </a:solidFill>
                <a:latin typeface="Calibri" pitchFamily="34" charset="0"/>
                <a:ea typeface="Calibri" pitchFamily="34" charset="-122"/>
                <a:cs typeface="Calibri" pitchFamily="34" charset="-120"/>
              </a:rPr>
              <a:t>Base tecnológica débil que compromete estabilidad y rendimiento.</a:t>
            </a:r>
            <a:endParaRPr lang="en-US" sz="1150" dirty="0"/>
          </a:p>
        </p:txBody>
      </p:sp>
      <p:sp>
        <p:nvSpPr>
          <p:cNvPr id="24" name="Shape 22"/>
          <p:cNvSpPr/>
          <p:nvPr/>
        </p:nvSpPr>
        <p:spPr>
          <a:xfrm>
            <a:off x="685800" y="4251960"/>
            <a:ext cx="4663440" cy="914400"/>
          </a:xfrm>
          <a:prstGeom prst="rect">
            <a:avLst/>
          </a:prstGeom>
          <a:solidFill>
            <a:srgbClr val="FFFFFF"/>
          </a:solidFill>
          <a:ln w="12700">
            <a:solidFill>
              <a:srgbClr val="C6C4B8"/>
            </a:solidFill>
            <a:prstDash val="solid"/>
          </a:ln>
        </p:spPr>
      </p:sp>
      <p:sp>
        <p:nvSpPr>
          <p:cNvPr id="25" name="Text 23"/>
          <p:cNvSpPr txBox="1"/>
          <p:nvPr/>
        </p:nvSpPr>
        <p:spPr>
          <a:xfrm>
            <a:off x="914400" y="4361688"/>
            <a:ext cx="4206240" cy="256032"/>
          </a:xfrm>
          <a:prstGeom prst="rect">
            <a:avLst/>
          </a:prstGeom>
          <a:noFill/>
          <a:ln/>
        </p:spPr>
        <p:txBody>
          <a:bodyPr wrap="square" lIns="0" tIns="0" rIns="0" bIns="0" rtlCol="0" anchor="ctr"/>
          <a:lstStyle/>
          <a:p>
            <a:pPr indent="0" marL="0">
              <a:buNone/>
            </a:pPr>
            <a:r>
              <a:rPr lang="en-US" sz="1300" b="1" dirty="0">
                <a:solidFill>
                  <a:srgbClr val="16273F"/>
                </a:solidFill>
                <a:latin typeface="Calibri" pitchFamily="34" charset="0"/>
                <a:ea typeface="Calibri" pitchFamily="34" charset="-122"/>
                <a:cs typeface="Calibri" pitchFamily="34" charset="-120"/>
              </a:rPr>
              <a:t>Equipos desalineados</a:t>
            </a:r>
            <a:endParaRPr lang="en-US" sz="1300" dirty="0"/>
          </a:p>
        </p:txBody>
      </p:sp>
      <p:sp>
        <p:nvSpPr>
          <p:cNvPr id="26" name="Text 24"/>
          <p:cNvSpPr txBox="1"/>
          <p:nvPr/>
        </p:nvSpPr>
        <p:spPr>
          <a:xfrm>
            <a:off x="914400" y="4636008"/>
            <a:ext cx="4206240" cy="438912"/>
          </a:xfrm>
          <a:prstGeom prst="rect">
            <a:avLst/>
          </a:prstGeom>
          <a:noFill/>
          <a:ln/>
        </p:spPr>
        <p:txBody>
          <a:bodyPr wrap="square" lIns="0" tIns="0" rIns="0" bIns="0" rtlCol="0" anchor="ctr"/>
          <a:lstStyle/>
          <a:p>
            <a:pPr indent="0" marL="0">
              <a:lnSpc>
                <a:spcPts val="1500"/>
              </a:lnSpc>
              <a:buNone/>
            </a:pPr>
            <a:r>
              <a:rPr lang="en-US" sz="1150" dirty="0">
                <a:solidFill>
                  <a:srgbClr val="1F2A36"/>
                </a:solidFill>
                <a:latin typeface="Calibri" pitchFamily="34" charset="0"/>
                <a:ea typeface="Calibri" pitchFamily="34" charset="-122"/>
                <a:cs typeface="Calibri" pitchFamily="34" charset="-120"/>
              </a:rPr>
              <a:t>Objetivos divergentes que reducen la eficiencia operativa.</a:t>
            </a:r>
            <a:endParaRPr lang="en-US" sz="1150" dirty="0"/>
          </a:p>
        </p:txBody>
      </p:sp>
      <p:sp>
        <p:nvSpPr>
          <p:cNvPr id="27" name="Shape 25"/>
          <p:cNvSpPr/>
          <p:nvPr/>
        </p:nvSpPr>
        <p:spPr>
          <a:xfrm>
            <a:off x="685800" y="5257800"/>
            <a:ext cx="4663440" cy="914400"/>
          </a:xfrm>
          <a:prstGeom prst="rect">
            <a:avLst/>
          </a:prstGeom>
          <a:solidFill>
            <a:srgbClr val="FFFFFF"/>
          </a:solidFill>
          <a:ln w="12700">
            <a:solidFill>
              <a:srgbClr val="C6C4B8"/>
            </a:solidFill>
            <a:prstDash val="solid"/>
          </a:ln>
        </p:spPr>
      </p:sp>
      <p:sp>
        <p:nvSpPr>
          <p:cNvPr id="28" name="Text 26"/>
          <p:cNvSpPr txBox="1"/>
          <p:nvPr/>
        </p:nvSpPr>
        <p:spPr>
          <a:xfrm>
            <a:off x="914400" y="5367528"/>
            <a:ext cx="4206240" cy="256032"/>
          </a:xfrm>
          <a:prstGeom prst="rect">
            <a:avLst/>
          </a:prstGeom>
          <a:noFill/>
          <a:ln/>
        </p:spPr>
        <p:txBody>
          <a:bodyPr wrap="square" lIns="0" tIns="0" rIns="0" bIns="0" rtlCol="0" anchor="ctr"/>
          <a:lstStyle/>
          <a:p>
            <a:pPr indent="0" marL="0">
              <a:buNone/>
            </a:pPr>
            <a:r>
              <a:rPr lang="en-US" sz="1300" b="1" dirty="0">
                <a:solidFill>
                  <a:srgbClr val="16273F"/>
                </a:solidFill>
                <a:latin typeface="Calibri" pitchFamily="34" charset="0"/>
                <a:ea typeface="Calibri" pitchFamily="34" charset="-122"/>
                <a:cs typeface="Calibri" pitchFamily="34" charset="-120"/>
              </a:rPr>
              <a:t>Cambios frecuentes</a:t>
            </a:r>
            <a:endParaRPr lang="en-US" sz="1300" dirty="0"/>
          </a:p>
        </p:txBody>
      </p:sp>
      <p:sp>
        <p:nvSpPr>
          <p:cNvPr id="29" name="Text 27"/>
          <p:cNvSpPr txBox="1"/>
          <p:nvPr/>
        </p:nvSpPr>
        <p:spPr>
          <a:xfrm>
            <a:off x="914400" y="5641848"/>
            <a:ext cx="4206240" cy="438912"/>
          </a:xfrm>
          <a:prstGeom prst="rect">
            <a:avLst/>
          </a:prstGeom>
          <a:noFill/>
          <a:ln/>
        </p:spPr>
        <p:txBody>
          <a:bodyPr wrap="square" lIns="0" tIns="0" rIns="0" bIns="0" rtlCol="0" anchor="ctr"/>
          <a:lstStyle/>
          <a:p>
            <a:pPr indent="0" marL="0">
              <a:lnSpc>
                <a:spcPts val="1500"/>
              </a:lnSpc>
              <a:buNone/>
            </a:pPr>
            <a:r>
              <a:rPr lang="en-US" sz="1150" dirty="0">
                <a:solidFill>
                  <a:srgbClr val="1F2A36"/>
                </a:solidFill>
                <a:latin typeface="Calibri" pitchFamily="34" charset="0"/>
                <a:ea typeface="Calibri" pitchFamily="34" charset="-122"/>
                <a:cs typeface="Calibri" pitchFamily="34" charset="-120"/>
              </a:rPr>
              <a:t>Modificaciones constantes sin gestión, que generan inestabilidad.</a:t>
            </a:r>
            <a:endParaRPr lang="en-US" sz="1150" dirty="0"/>
          </a:p>
        </p:txBody>
      </p:sp>
      <p:sp>
        <p:nvSpPr>
          <p:cNvPr id="30" name="Shape 28"/>
          <p:cNvSpPr/>
          <p:nvPr/>
        </p:nvSpPr>
        <p:spPr>
          <a:xfrm>
            <a:off x="5440680" y="2697480"/>
            <a:ext cx="1005840" cy="1508760"/>
          </a:xfrm>
          <a:prstGeom prst="line">
            <a:avLst/>
          </a:prstGeom>
          <a:noFill/>
          <a:ln w="15875">
            <a:solidFill>
              <a:srgbClr val="5A7189"/>
            </a:solidFill>
            <a:prstDash val="solid"/>
            <a:tailEnd type="triangle"/>
          </a:ln>
        </p:spPr>
      </p:sp>
      <p:sp>
        <p:nvSpPr>
          <p:cNvPr id="31" name="Shape 29"/>
          <p:cNvSpPr/>
          <p:nvPr/>
        </p:nvSpPr>
        <p:spPr>
          <a:xfrm>
            <a:off x="5440680" y="3703320"/>
            <a:ext cx="1005840" cy="502920"/>
          </a:xfrm>
          <a:prstGeom prst="line">
            <a:avLst/>
          </a:prstGeom>
          <a:noFill/>
          <a:ln w="15875">
            <a:solidFill>
              <a:srgbClr val="5A7189"/>
            </a:solidFill>
            <a:prstDash val="solid"/>
            <a:tailEnd type="triangle"/>
          </a:ln>
        </p:spPr>
      </p:sp>
      <p:sp>
        <p:nvSpPr>
          <p:cNvPr id="32" name="Shape 30"/>
          <p:cNvSpPr/>
          <p:nvPr/>
        </p:nvSpPr>
        <p:spPr>
          <a:xfrm flipH="1">
            <a:off x="5440680" y="4206240"/>
            <a:ext cx="1005840" cy="502920"/>
          </a:xfrm>
          <a:prstGeom prst="line">
            <a:avLst/>
          </a:prstGeom>
          <a:noFill/>
          <a:ln w="15875">
            <a:solidFill>
              <a:srgbClr val="5A7189"/>
            </a:solidFill>
            <a:prstDash val="solid"/>
            <a:headEnd type="triangle"/>
          </a:ln>
        </p:spPr>
      </p:sp>
      <p:sp>
        <p:nvSpPr>
          <p:cNvPr id="33" name="Shape 31"/>
          <p:cNvSpPr/>
          <p:nvPr/>
        </p:nvSpPr>
        <p:spPr>
          <a:xfrm flipH="1">
            <a:off x="5440680" y="4206240"/>
            <a:ext cx="1005840" cy="1508760"/>
          </a:xfrm>
          <a:prstGeom prst="line">
            <a:avLst/>
          </a:prstGeom>
          <a:noFill/>
          <a:ln w="15875">
            <a:solidFill>
              <a:srgbClr val="5A7189"/>
            </a:solidFill>
            <a:prstDash val="solid"/>
            <a:headEnd type="triangle"/>
          </a:ln>
        </p:spPr>
      </p:sp>
      <p:sp>
        <p:nvSpPr>
          <p:cNvPr id="34" name="Text 32"/>
          <p:cNvSpPr txBox="1"/>
          <p:nvPr/>
        </p:nvSpPr>
        <p:spPr>
          <a:xfrm>
            <a:off x="6720840" y="1920240"/>
            <a:ext cx="2743200" cy="219456"/>
          </a:xfrm>
          <a:prstGeom prst="rect">
            <a:avLst/>
          </a:prstGeom>
          <a:noFill/>
          <a:ln/>
        </p:spPr>
        <p:txBody>
          <a:bodyPr wrap="square" lIns="0" tIns="0" rIns="0" bIns="0" rtlCol="0" anchor="ctr"/>
          <a:lstStyle/>
          <a:p>
            <a:pPr indent="0" marL="0">
              <a:buNone/>
            </a:pPr>
            <a:r>
              <a:rPr lang="en-US" sz="850" spc="50" kern="0" dirty="0">
                <a:solidFill>
                  <a:srgbClr val="B85C2E"/>
                </a:solidFill>
                <a:latin typeface="Courier New" pitchFamily="34" charset="0"/>
                <a:ea typeface="Courier New" pitchFamily="34" charset="-122"/>
                <a:cs typeface="Courier New" pitchFamily="34" charset="-120"/>
              </a:rPr>
              <a:t>TIPOS DE IMPACTO</a:t>
            </a:r>
            <a:endParaRPr lang="en-US" sz="850" dirty="0"/>
          </a:p>
        </p:txBody>
      </p:sp>
      <p:sp>
        <p:nvSpPr>
          <p:cNvPr id="35" name="Shape 33"/>
          <p:cNvSpPr/>
          <p:nvPr/>
        </p:nvSpPr>
        <p:spPr>
          <a:xfrm>
            <a:off x="6720840" y="2240280"/>
            <a:ext cx="4782312" cy="1207008"/>
          </a:xfrm>
          <a:prstGeom prst="rect">
            <a:avLst/>
          </a:prstGeom>
          <a:solidFill>
            <a:srgbClr val="FFFFFF"/>
          </a:solidFill>
          <a:ln w="12700">
            <a:solidFill>
              <a:srgbClr val="C6C4B8"/>
            </a:solidFill>
            <a:prstDash val="solid"/>
          </a:ln>
        </p:spPr>
      </p:sp>
      <p:sp>
        <p:nvSpPr>
          <p:cNvPr id="36" name="Shape 34"/>
          <p:cNvSpPr/>
          <p:nvPr/>
        </p:nvSpPr>
        <p:spPr>
          <a:xfrm>
            <a:off x="6720840" y="2240280"/>
            <a:ext cx="50292" cy="1207008"/>
          </a:xfrm>
          <a:prstGeom prst="rect">
            <a:avLst/>
          </a:prstGeom>
          <a:solidFill>
            <a:srgbClr val="5A7189"/>
          </a:solidFill>
          <a:ln w="12700">
            <a:solidFill>
              <a:srgbClr val="5A7189"/>
            </a:solidFill>
            <a:prstDash val="solid"/>
          </a:ln>
        </p:spPr>
      </p:sp>
      <p:sp>
        <p:nvSpPr>
          <p:cNvPr id="37" name="Text 35"/>
          <p:cNvSpPr txBox="1"/>
          <p:nvPr/>
        </p:nvSpPr>
        <p:spPr>
          <a:xfrm>
            <a:off x="7022592" y="2386584"/>
            <a:ext cx="4297680" cy="274320"/>
          </a:xfrm>
          <a:prstGeom prst="rect">
            <a:avLst/>
          </a:prstGeom>
          <a:noFill/>
          <a:ln/>
        </p:spPr>
        <p:txBody>
          <a:bodyPr wrap="square" lIns="0" tIns="0" rIns="0" bIns="0" rtlCol="0" anchor="ctr"/>
          <a:lstStyle/>
          <a:p>
            <a:pPr indent="0" marL="0">
              <a:buNone/>
            </a:pPr>
            <a:r>
              <a:rPr lang="en-US" sz="1400" b="1" dirty="0">
                <a:solidFill>
                  <a:srgbClr val="16273F"/>
                </a:solidFill>
                <a:latin typeface="Calibri" pitchFamily="34" charset="0"/>
                <a:ea typeface="Calibri" pitchFamily="34" charset="-122"/>
                <a:cs typeface="Calibri" pitchFamily="34" charset="-120"/>
              </a:rPr>
              <a:t>Técnico</a:t>
            </a:r>
            <a:endParaRPr lang="en-US" sz="1400" dirty="0"/>
          </a:p>
        </p:txBody>
      </p:sp>
      <p:sp>
        <p:nvSpPr>
          <p:cNvPr id="38" name="Text 36"/>
          <p:cNvSpPr txBox="1"/>
          <p:nvPr/>
        </p:nvSpPr>
        <p:spPr>
          <a:xfrm>
            <a:off x="7022592" y="2697480"/>
            <a:ext cx="4297680" cy="594360"/>
          </a:xfrm>
          <a:prstGeom prst="rect">
            <a:avLst/>
          </a:prstGeom>
          <a:noFill/>
          <a:ln/>
        </p:spPr>
        <p:txBody>
          <a:bodyPr wrap="square" lIns="0" tIns="0" rIns="0" bIns="0" rtlCol="0" anchor="ctr"/>
          <a:lstStyle/>
          <a:p>
            <a:pPr indent="0" marL="0">
              <a:lnSpc>
                <a:spcPts val="1600"/>
              </a:lnSpc>
              <a:buNone/>
            </a:pPr>
            <a:r>
              <a:rPr lang="en-US" sz="1200" dirty="0">
                <a:solidFill>
                  <a:srgbClr val="1F2A36"/>
                </a:solidFill>
                <a:latin typeface="Calibri" pitchFamily="34" charset="0"/>
                <a:ea typeface="Calibri" pitchFamily="34" charset="-122"/>
                <a:cs typeface="Calibri" pitchFamily="34" charset="-120"/>
              </a:rPr>
              <a:t>Deuda técnica alta, incompatibilidades, límites de rendimiento.</a:t>
            </a:r>
            <a:endParaRPr lang="en-US" sz="1200" dirty="0"/>
          </a:p>
        </p:txBody>
      </p:sp>
      <p:sp>
        <p:nvSpPr>
          <p:cNvPr id="39" name="Shape 37"/>
          <p:cNvSpPr/>
          <p:nvPr/>
        </p:nvSpPr>
        <p:spPr>
          <a:xfrm>
            <a:off x="6720840" y="3566160"/>
            <a:ext cx="4782312" cy="1207008"/>
          </a:xfrm>
          <a:prstGeom prst="rect">
            <a:avLst/>
          </a:prstGeom>
          <a:solidFill>
            <a:srgbClr val="FFFFFF"/>
          </a:solidFill>
          <a:ln w="12700">
            <a:solidFill>
              <a:srgbClr val="C6C4B8"/>
            </a:solidFill>
            <a:prstDash val="solid"/>
          </a:ln>
        </p:spPr>
      </p:sp>
      <p:sp>
        <p:nvSpPr>
          <p:cNvPr id="40" name="Shape 38"/>
          <p:cNvSpPr/>
          <p:nvPr/>
        </p:nvSpPr>
        <p:spPr>
          <a:xfrm>
            <a:off x="6720840" y="3566160"/>
            <a:ext cx="50292" cy="1207008"/>
          </a:xfrm>
          <a:prstGeom prst="rect">
            <a:avLst/>
          </a:prstGeom>
          <a:solidFill>
            <a:srgbClr val="B85C2E"/>
          </a:solidFill>
          <a:ln w="12700">
            <a:solidFill>
              <a:srgbClr val="B85C2E"/>
            </a:solidFill>
            <a:prstDash val="solid"/>
          </a:ln>
        </p:spPr>
      </p:sp>
      <p:sp>
        <p:nvSpPr>
          <p:cNvPr id="41" name="Text 39"/>
          <p:cNvSpPr txBox="1"/>
          <p:nvPr/>
        </p:nvSpPr>
        <p:spPr>
          <a:xfrm>
            <a:off x="7022592" y="3712464"/>
            <a:ext cx="4297680" cy="274320"/>
          </a:xfrm>
          <a:prstGeom prst="rect">
            <a:avLst/>
          </a:prstGeom>
          <a:noFill/>
          <a:ln/>
        </p:spPr>
        <p:txBody>
          <a:bodyPr wrap="square" lIns="0" tIns="0" rIns="0" bIns="0" rtlCol="0" anchor="ctr"/>
          <a:lstStyle/>
          <a:p>
            <a:pPr indent="0" marL="0">
              <a:buNone/>
            </a:pPr>
            <a:r>
              <a:rPr lang="en-US" sz="1400" b="1" dirty="0">
                <a:solidFill>
                  <a:srgbClr val="16273F"/>
                </a:solidFill>
                <a:latin typeface="Calibri" pitchFamily="34" charset="0"/>
                <a:ea typeface="Calibri" pitchFamily="34" charset="-122"/>
                <a:cs typeface="Calibri" pitchFamily="34" charset="-120"/>
              </a:rPr>
              <a:t>Seguridad</a:t>
            </a:r>
            <a:endParaRPr lang="en-US" sz="1400" dirty="0"/>
          </a:p>
        </p:txBody>
      </p:sp>
      <p:sp>
        <p:nvSpPr>
          <p:cNvPr id="42" name="Text 40"/>
          <p:cNvSpPr txBox="1"/>
          <p:nvPr/>
        </p:nvSpPr>
        <p:spPr>
          <a:xfrm>
            <a:off x="7022592" y="4023360"/>
            <a:ext cx="4297680" cy="594360"/>
          </a:xfrm>
          <a:prstGeom prst="rect">
            <a:avLst/>
          </a:prstGeom>
          <a:noFill/>
          <a:ln/>
        </p:spPr>
        <p:txBody>
          <a:bodyPr wrap="square" lIns="0" tIns="0" rIns="0" bIns="0" rtlCol="0" anchor="ctr"/>
          <a:lstStyle/>
          <a:p>
            <a:pPr indent="0" marL="0">
              <a:lnSpc>
                <a:spcPts val="1600"/>
              </a:lnSpc>
              <a:buNone/>
            </a:pPr>
            <a:r>
              <a:rPr lang="en-US" sz="1200" dirty="0">
                <a:solidFill>
                  <a:srgbClr val="1F2A36"/>
                </a:solidFill>
                <a:latin typeface="Calibri" pitchFamily="34" charset="0"/>
                <a:ea typeface="Calibri" pitchFamily="34" charset="-122"/>
                <a:cs typeface="Calibri" pitchFamily="34" charset="-120"/>
              </a:rPr>
              <a:t>Vulnerabilidades críticas, exposición de datos, control de acceso deficiente.</a:t>
            </a:r>
            <a:endParaRPr lang="en-US" sz="1200" dirty="0"/>
          </a:p>
        </p:txBody>
      </p:sp>
      <p:sp>
        <p:nvSpPr>
          <p:cNvPr id="43" name="Shape 41"/>
          <p:cNvSpPr/>
          <p:nvPr/>
        </p:nvSpPr>
        <p:spPr>
          <a:xfrm>
            <a:off x="6720840" y="4892040"/>
            <a:ext cx="4782312" cy="1207008"/>
          </a:xfrm>
          <a:prstGeom prst="rect">
            <a:avLst/>
          </a:prstGeom>
          <a:solidFill>
            <a:srgbClr val="FFFFFF"/>
          </a:solidFill>
          <a:ln w="12700">
            <a:solidFill>
              <a:srgbClr val="C6C4B8"/>
            </a:solidFill>
            <a:prstDash val="solid"/>
          </a:ln>
        </p:spPr>
      </p:sp>
      <p:sp>
        <p:nvSpPr>
          <p:cNvPr id="44" name="Shape 42"/>
          <p:cNvSpPr/>
          <p:nvPr/>
        </p:nvSpPr>
        <p:spPr>
          <a:xfrm>
            <a:off x="6720840" y="4892040"/>
            <a:ext cx="50292" cy="1207008"/>
          </a:xfrm>
          <a:prstGeom prst="rect">
            <a:avLst/>
          </a:prstGeom>
          <a:solidFill>
            <a:srgbClr val="1E7A52"/>
          </a:solidFill>
          <a:ln w="12700">
            <a:solidFill>
              <a:srgbClr val="1E7A52"/>
            </a:solidFill>
            <a:prstDash val="solid"/>
          </a:ln>
        </p:spPr>
      </p:sp>
      <p:sp>
        <p:nvSpPr>
          <p:cNvPr id="45" name="Text 43"/>
          <p:cNvSpPr txBox="1"/>
          <p:nvPr/>
        </p:nvSpPr>
        <p:spPr>
          <a:xfrm>
            <a:off x="7022592" y="5038344"/>
            <a:ext cx="4297680" cy="274320"/>
          </a:xfrm>
          <a:prstGeom prst="rect">
            <a:avLst/>
          </a:prstGeom>
          <a:noFill/>
          <a:ln/>
        </p:spPr>
        <p:txBody>
          <a:bodyPr wrap="square" lIns="0" tIns="0" rIns="0" bIns="0" rtlCol="0" anchor="ctr"/>
          <a:lstStyle/>
          <a:p>
            <a:pPr indent="0" marL="0">
              <a:buNone/>
            </a:pPr>
            <a:r>
              <a:rPr lang="en-US" sz="1400" b="1" dirty="0">
                <a:solidFill>
                  <a:srgbClr val="16273F"/>
                </a:solidFill>
                <a:latin typeface="Calibri" pitchFamily="34" charset="0"/>
                <a:ea typeface="Calibri" pitchFamily="34" charset="-122"/>
                <a:cs typeface="Calibri" pitchFamily="34" charset="-120"/>
              </a:rPr>
              <a:t>Organizacional</a:t>
            </a:r>
            <a:endParaRPr lang="en-US" sz="1400" dirty="0"/>
          </a:p>
        </p:txBody>
      </p:sp>
      <p:sp>
        <p:nvSpPr>
          <p:cNvPr id="46" name="Text 44"/>
          <p:cNvSpPr txBox="1"/>
          <p:nvPr/>
        </p:nvSpPr>
        <p:spPr>
          <a:xfrm>
            <a:off x="7022592" y="5349240"/>
            <a:ext cx="4297680" cy="594360"/>
          </a:xfrm>
          <a:prstGeom prst="rect">
            <a:avLst/>
          </a:prstGeom>
          <a:noFill/>
          <a:ln/>
        </p:spPr>
        <p:txBody>
          <a:bodyPr wrap="square" lIns="0" tIns="0" rIns="0" bIns="0" rtlCol="0" anchor="ctr"/>
          <a:lstStyle/>
          <a:p>
            <a:pPr indent="0" marL="0">
              <a:lnSpc>
                <a:spcPts val="1600"/>
              </a:lnSpc>
              <a:buNone/>
            </a:pPr>
            <a:r>
              <a:rPr lang="en-US" sz="1200" dirty="0">
                <a:solidFill>
                  <a:srgbClr val="1F2A36"/>
                </a:solidFill>
                <a:latin typeface="Calibri" pitchFamily="34" charset="0"/>
                <a:ea typeface="Calibri" pitchFamily="34" charset="-122"/>
                <a:cs typeface="Calibri" pitchFamily="34" charset="-120"/>
              </a:rPr>
              <a:t>Dependencia de proveedores, falta de soporte o de recursos internos.</a:t>
            </a:r>
            <a:endParaRPr lang="en-US" sz="1200" dirty="0"/>
          </a:p>
        </p:txBody>
      </p:sp>
      <p:sp>
        <p:nvSpPr>
          <p:cNvPr id="47" name="Text 45"/>
          <p:cNvSpPr txBox="1"/>
          <p:nvPr/>
        </p:nvSpPr>
        <p:spPr>
          <a:xfrm>
            <a:off x="685800" y="6583680"/>
            <a:ext cx="6400800" cy="237744"/>
          </a:xfrm>
          <a:prstGeom prst="rect">
            <a:avLst/>
          </a:prstGeom>
          <a:noFill/>
          <a:ln/>
        </p:spPr>
        <p:txBody>
          <a:bodyPr wrap="square" lIns="0" tIns="0" rIns="0" bIns="0" rtlCol="0" anchor="ctr"/>
          <a:lstStyle/>
          <a:p>
            <a:pPr indent="0" marL="0">
              <a:buNone/>
            </a:pPr>
            <a:r>
              <a:rPr lang="en-US" sz="800" dirty="0">
                <a:solidFill>
                  <a:srgbClr val="707C86"/>
                </a:solidFill>
                <a:latin typeface="Courier New" pitchFamily="34" charset="0"/>
                <a:ea typeface="Courier New" pitchFamily="34" charset="-122"/>
                <a:cs typeface="Courier New" pitchFamily="34" charset="-120"/>
              </a:rPr>
              <a:t>AREM · Módulo 9 · Evaluación de Riesgos Arquitectónicos</a:t>
            </a:r>
            <a:endParaRPr lang="en-US" sz="800" dirty="0"/>
          </a:p>
        </p:txBody>
      </p:sp>
      <p:sp>
        <p:nvSpPr>
          <p:cNvPr id="48" name="Text 46"/>
          <p:cNvSpPr txBox="1"/>
          <p:nvPr/>
        </p:nvSpPr>
        <p:spPr>
          <a:xfrm>
            <a:off x="10881360" y="6583680"/>
            <a:ext cx="621792" cy="237744"/>
          </a:xfrm>
          <a:prstGeom prst="rect">
            <a:avLst/>
          </a:prstGeom>
          <a:noFill/>
          <a:ln/>
        </p:spPr>
        <p:txBody>
          <a:bodyPr wrap="square" lIns="0" tIns="0" rIns="0" bIns="0" rtlCol="0" anchor="ctr"/>
          <a:lstStyle/>
          <a:p>
            <a:pPr algn="r" indent="0" marL="0">
              <a:buNone/>
            </a:pPr>
            <a:r>
              <a:rPr lang="en-US" sz="800" dirty="0">
                <a:solidFill>
                  <a:srgbClr val="707C86"/>
                </a:solidFill>
                <a:latin typeface="Courier New" pitchFamily="34" charset="0"/>
                <a:ea typeface="Courier New" pitchFamily="34" charset="-122"/>
                <a:cs typeface="Courier New" pitchFamily="34" charset="-120"/>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4ED"/>
        </a:solidFill>
      </p:bgPr>
    </p:bg>
    <p:spTree>
      <p:nvGrpSpPr>
        <p:cNvPr id="1" name=""/>
        <p:cNvGrpSpPr/>
        <p:nvPr/>
      </p:nvGrpSpPr>
      <p:grpSpPr>
        <a:xfrm>
          <a:off x="0" y="0"/>
          <a:ext cx="0" cy="0"/>
          <a:chOff x="0" y="0"/>
          <a:chExt cx="0" cy="0"/>
        </a:xfrm>
      </p:grpSpPr>
      <p:sp>
        <p:nvSpPr>
          <p:cNvPr id="2" name="Shape 0"/>
          <p:cNvSpPr/>
          <p:nvPr/>
        </p:nvSpPr>
        <p:spPr>
          <a:xfrm>
            <a:off x="384048" y="310896"/>
            <a:ext cx="11420856" cy="10973"/>
          </a:xfrm>
          <a:prstGeom prst="rect">
            <a:avLst/>
          </a:prstGeom>
          <a:solidFill>
            <a:srgbClr val="C6C4B8"/>
          </a:solidFill>
          <a:ln w="12700">
            <a:solidFill>
              <a:srgbClr val="C6C4B8"/>
            </a:solidFill>
            <a:prstDash val="solid"/>
          </a:ln>
        </p:spPr>
      </p:sp>
      <p:sp>
        <p:nvSpPr>
          <p:cNvPr id="3" name="Shape 1"/>
          <p:cNvSpPr/>
          <p:nvPr/>
        </p:nvSpPr>
        <p:spPr>
          <a:xfrm>
            <a:off x="384048" y="6510528"/>
            <a:ext cx="11420856" cy="10973"/>
          </a:xfrm>
          <a:prstGeom prst="rect">
            <a:avLst/>
          </a:prstGeom>
          <a:solidFill>
            <a:srgbClr val="C6C4B8"/>
          </a:solidFill>
          <a:ln w="12700">
            <a:solidFill>
              <a:srgbClr val="C6C4B8"/>
            </a:solidFill>
            <a:prstDash val="solid"/>
          </a:ln>
        </p:spPr>
      </p:sp>
      <p:sp>
        <p:nvSpPr>
          <p:cNvPr id="4" name="Shape 2"/>
          <p:cNvSpPr/>
          <p:nvPr/>
        </p:nvSpPr>
        <p:spPr>
          <a:xfrm>
            <a:off x="384048" y="310896"/>
            <a:ext cx="10973" cy="6208776"/>
          </a:xfrm>
          <a:prstGeom prst="rect">
            <a:avLst/>
          </a:prstGeom>
          <a:solidFill>
            <a:srgbClr val="C6C4B8"/>
          </a:solidFill>
          <a:ln w="12700">
            <a:solidFill>
              <a:srgbClr val="C6C4B8"/>
            </a:solidFill>
            <a:prstDash val="solid"/>
          </a:ln>
        </p:spPr>
      </p:sp>
      <p:sp>
        <p:nvSpPr>
          <p:cNvPr id="5" name="Shape 3"/>
          <p:cNvSpPr/>
          <p:nvPr/>
        </p:nvSpPr>
        <p:spPr>
          <a:xfrm>
            <a:off x="11795760" y="310896"/>
            <a:ext cx="10973" cy="6208776"/>
          </a:xfrm>
          <a:prstGeom prst="rect">
            <a:avLst/>
          </a:prstGeom>
          <a:solidFill>
            <a:srgbClr val="C6C4B8"/>
          </a:solidFill>
          <a:ln w="12700">
            <a:solidFill>
              <a:srgbClr val="C6C4B8"/>
            </a:solidFill>
            <a:prstDash val="solid"/>
          </a:ln>
        </p:spPr>
      </p:sp>
      <p:sp>
        <p:nvSpPr>
          <p:cNvPr id="6" name="Shape 4"/>
          <p:cNvSpPr/>
          <p:nvPr/>
        </p:nvSpPr>
        <p:spPr>
          <a:xfrm>
            <a:off x="283464" y="306324"/>
            <a:ext cx="201168" cy="9144"/>
          </a:xfrm>
          <a:prstGeom prst="rect">
            <a:avLst/>
          </a:prstGeom>
          <a:solidFill>
            <a:srgbClr val="5A7189"/>
          </a:solidFill>
          <a:ln w="12700">
            <a:solidFill>
              <a:srgbClr val="5A7189"/>
            </a:solidFill>
            <a:prstDash val="solid"/>
          </a:ln>
        </p:spPr>
      </p:sp>
      <p:sp>
        <p:nvSpPr>
          <p:cNvPr id="7" name="Shape 5"/>
          <p:cNvSpPr/>
          <p:nvPr/>
        </p:nvSpPr>
        <p:spPr>
          <a:xfrm>
            <a:off x="379476" y="210312"/>
            <a:ext cx="9144" cy="201168"/>
          </a:xfrm>
          <a:prstGeom prst="rect">
            <a:avLst/>
          </a:prstGeom>
          <a:solidFill>
            <a:srgbClr val="5A7189"/>
          </a:solidFill>
          <a:ln w="12700">
            <a:solidFill>
              <a:srgbClr val="5A7189"/>
            </a:solidFill>
            <a:prstDash val="solid"/>
          </a:ln>
        </p:spPr>
      </p:sp>
      <p:sp>
        <p:nvSpPr>
          <p:cNvPr id="8" name="Shape 6"/>
          <p:cNvSpPr/>
          <p:nvPr/>
        </p:nvSpPr>
        <p:spPr>
          <a:xfrm>
            <a:off x="11695176" y="306324"/>
            <a:ext cx="201168" cy="9144"/>
          </a:xfrm>
          <a:prstGeom prst="rect">
            <a:avLst/>
          </a:prstGeom>
          <a:solidFill>
            <a:srgbClr val="5A7189"/>
          </a:solidFill>
          <a:ln w="12700">
            <a:solidFill>
              <a:srgbClr val="5A7189"/>
            </a:solidFill>
            <a:prstDash val="solid"/>
          </a:ln>
        </p:spPr>
      </p:sp>
      <p:sp>
        <p:nvSpPr>
          <p:cNvPr id="9" name="Shape 7"/>
          <p:cNvSpPr/>
          <p:nvPr/>
        </p:nvSpPr>
        <p:spPr>
          <a:xfrm>
            <a:off x="11791188" y="210312"/>
            <a:ext cx="9144" cy="201168"/>
          </a:xfrm>
          <a:prstGeom prst="rect">
            <a:avLst/>
          </a:prstGeom>
          <a:solidFill>
            <a:srgbClr val="5A7189"/>
          </a:solidFill>
          <a:ln w="12700">
            <a:solidFill>
              <a:srgbClr val="5A7189"/>
            </a:solidFill>
            <a:prstDash val="solid"/>
          </a:ln>
        </p:spPr>
      </p:sp>
      <p:sp>
        <p:nvSpPr>
          <p:cNvPr id="10" name="Shape 8"/>
          <p:cNvSpPr/>
          <p:nvPr/>
        </p:nvSpPr>
        <p:spPr>
          <a:xfrm>
            <a:off x="283464" y="6505956"/>
            <a:ext cx="201168" cy="9144"/>
          </a:xfrm>
          <a:prstGeom prst="rect">
            <a:avLst/>
          </a:prstGeom>
          <a:solidFill>
            <a:srgbClr val="5A7189"/>
          </a:solidFill>
          <a:ln w="12700">
            <a:solidFill>
              <a:srgbClr val="5A7189"/>
            </a:solidFill>
            <a:prstDash val="solid"/>
          </a:ln>
        </p:spPr>
      </p:sp>
      <p:sp>
        <p:nvSpPr>
          <p:cNvPr id="11" name="Shape 9"/>
          <p:cNvSpPr/>
          <p:nvPr/>
        </p:nvSpPr>
        <p:spPr>
          <a:xfrm>
            <a:off x="379476" y="6409944"/>
            <a:ext cx="9144" cy="201168"/>
          </a:xfrm>
          <a:prstGeom prst="rect">
            <a:avLst/>
          </a:prstGeom>
          <a:solidFill>
            <a:srgbClr val="5A7189"/>
          </a:solidFill>
          <a:ln w="12700">
            <a:solidFill>
              <a:srgbClr val="5A7189"/>
            </a:solidFill>
            <a:prstDash val="solid"/>
          </a:ln>
        </p:spPr>
      </p:sp>
      <p:sp>
        <p:nvSpPr>
          <p:cNvPr id="12" name="Shape 10"/>
          <p:cNvSpPr/>
          <p:nvPr/>
        </p:nvSpPr>
        <p:spPr>
          <a:xfrm>
            <a:off x="11695176" y="6505956"/>
            <a:ext cx="201168" cy="9144"/>
          </a:xfrm>
          <a:prstGeom prst="rect">
            <a:avLst/>
          </a:prstGeom>
          <a:solidFill>
            <a:srgbClr val="5A7189"/>
          </a:solidFill>
          <a:ln w="12700">
            <a:solidFill>
              <a:srgbClr val="5A7189"/>
            </a:solidFill>
            <a:prstDash val="solid"/>
          </a:ln>
        </p:spPr>
      </p:sp>
      <p:sp>
        <p:nvSpPr>
          <p:cNvPr id="13" name="Shape 11"/>
          <p:cNvSpPr/>
          <p:nvPr/>
        </p:nvSpPr>
        <p:spPr>
          <a:xfrm>
            <a:off x="11791188" y="6409944"/>
            <a:ext cx="9144" cy="201168"/>
          </a:xfrm>
          <a:prstGeom prst="rect">
            <a:avLst/>
          </a:prstGeom>
          <a:solidFill>
            <a:srgbClr val="5A7189"/>
          </a:solidFill>
          <a:ln w="12700">
            <a:solidFill>
              <a:srgbClr val="5A7189"/>
            </a:solidFill>
            <a:prstDash val="solid"/>
          </a:ln>
        </p:spPr>
      </p:sp>
      <p:sp>
        <p:nvSpPr>
          <p:cNvPr id="14" name="Text 12"/>
          <p:cNvSpPr txBox="1"/>
          <p:nvPr/>
        </p:nvSpPr>
        <p:spPr>
          <a:xfrm>
            <a:off x="685800" y="566928"/>
            <a:ext cx="7315200" cy="237744"/>
          </a:xfrm>
          <a:prstGeom prst="rect">
            <a:avLst/>
          </a:prstGeom>
          <a:noFill/>
          <a:ln/>
        </p:spPr>
        <p:txBody>
          <a:bodyPr wrap="square" lIns="0" tIns="0" rIns="0" bIns="0" rtlCol="0" anchor="ctr"/>
          <a:lstStyle/>
          <a:p>
            <a:pPr indent="0" marL="0">
              <a:buNone/>
            </a:pPr>
            <a:r>
              <a:rPr lang="en-US" sz="1000" spc="100" kern="0" dirty="0">
                <a:solidFill>
                  <a:srgbClr val="B85C2E"/>
                </a:solidFill>
                <a:latin typeface="Courier New" pitchFamily="34" charset="0"/>
                <a:ea typeface="Courier New" pitchFamily="34" charset="-122"/>
                <a:cs typeface="Courier New" pitchFamily="34" charset="-120"/>
              </a:rPr>
              <a:t>04 · ANTIPATRONES</a:t>
            </a:r>
            <a:endParaRPr lang="en-US" sz="1000" dirty="0"/>
          </a:p>
        </p:txBody>
      </p:sp>
      <p:sp>
        <p:nvSpPr>
          <p:cNvPr id="15" name="Text 13"/>
          <p:cNvSpPr txBox="1"/>
          <p:nvPr/>
        </p:nvSpPr>
        <p:spPr>
          <a:xfrm>
            <a:off x="685800" y="822960"/>
            <a:ext cx="10820095" cy="566928"/>
          </a:xfrm>
          <a:prstGeom prst="rect">
            <a:avLst/>
          </a:prstGeom>
          <a:noFill/>
          <a:ln/>
        </p:spPr>
        <p:txBody>
          <a:bodyPr wrap="square" lIns="0" tIns="0" rIns="0" bIns="0" rtlCol="0" anchor="ctr"/>
          <a:lstStyle/>
          <a:p>
            <a:pPr indent="0" marL="0">
              <a:buNone/>
            </a:pPr>
            <a:r>
              <a:rPr lang="en-US" sz="3000" b="1" dirty="0">
                <a:solidFill>
                  <a:srgbClr val="16273F"/>
                </a:solidFill>
                <a:latin typeface="Arial" pitchFamily="34" charset="0"/>
                <a:ea typeface="Arial" pitchFamily="34" charset="-122"/>
                <a:cs typeface="Arial" pitchFamily="34" charset="-120"/>
              </a:rPr>
              <a:t>Tres formas conocidas de fallar</a:t>
            </a:r>
            <a:endParaRPr lang="en-US" sz="3000" dirty="0"/>
          </a:p>
        </p:txBody>
      </p:sp>
      <p:sp>
        <p:nvSpPr>
          <p:cNvPr id="16" name="Text 14"/>
          <p:cNvSpPr txBox="1"/>
          <p:nvPr/>
        </p:nvSpPr>
        <p:spPr>
          <a:xfrm>
            <a:off x="685800" y="1389888"/>
            <a:ext cx="10820095" cy="310896"/>
          </a:xfrm>
          <a:prstGeom prst="rect">
            <a:avLst/>
          </a:prstGeom>
          <a:noFill/>
          <a:ln/>
        </p:spPr>
        <p:txBody>
          <a:bodyPr wrap="square" lIns="0" tIns="0" rIns="0" bIns="0" rtlCol="0" anchor="ctr"/>
          <a:lstStyle/>
          <a:p>
            <a:pPr indent="0" marL="0">
              <a:buNone/>
            </a:pPr>
            <a:r>
              <a:rPr lang="en-US" sz="1350" dirty="0">
                <a:solidFill>
                  <a:srgbClr val="707C86"/>
                </a:solidFill>
                <a:latin typeface="Calibri" pitchFamily="34" charset="0"/>
                <a:ea typeface="Calibri" pitchFamily="34" charset="-122"/>
                <a:cs typeface="Calibri" pitchFamily="34" charset="-120"/>
              </a:rPr>
              <a:t>Se reconocen por el síntoma, se diagnostican por la causa</a:t>
            </a:r>
            <a:endParaRPr lang="en-US" sz="1350" dirty="0"/>
          </a:p>
        </p:txBody>
      </p:sp>
      <p:sp>
        <p:nvSpPr>
          <p:cNvPr id="17" name="Shape 15"/>
          <p:cNvSpPr/>
          <p:nvPr/>
        </p:nvSpPr>
        <p:spPr>
          <a:xfrm>
            <a:off x="685800" y="1965960"/>
            <a:ext cx="3456432" cy="3794760"/>
          </a:xfrm>
          <a:prstGeom prst="rect">
            <a:avLst/>
          </a:prstGeom>
          <a:solidFill>
            <a:srgbClr val="FFFFFF"/>
          </a:solidFill>
          <a:ln w="12700">
            <a:solidFill>
              <a:srgbClr val="C6C4B8"/>
            </a:solidFill>
            <a:prstDash val="solid"/>
          </a:ln>
        </p:spPr>
      </p:sp>
      <p:sp>
        <p:nvSpPr>
          <p:cNvPr id="18" name="Shape 16"/>
          <p:cNvSpPr/>
          <p:nvPr/>
        </p:nvSpPr>
        <p:spPr>
          <a:xfrm>
            <a:off x="685800" y="1965960"/>
            <a:ext cx="3456432" cy="54864"/>
          </a:xfrm>
          <a:prstGeom prst="rect">
            <a:avLst/>
          </a:prstGeom>
          <a:solidFill>
            <a:srgbClr val="B85C2E"/>
          </a:solidFill>
          <a:ln w="12700">
            <a:solidFill>
              <a:srgbClr val="B85C2E"/>
            </a:solidFill>
            <a:prstDash val="solid"/>
          </a:ln>
        </p:spPr>
      </p:sp>
      <p:sp>
        <p:nvSpPr>
          <p:cNvPr id="19" name="Text 17"/>
          <p:cNvSpPr txBox="1"/>
          <p:nvPr/>
        </p:nvSpPr>
        <p:spPr>
          <a:xfrm>
            <a:off x="914400" y="2194560"/>
            <a:ext cx="2926080" cy="219456"/>
          </a:xfrm>
          <a:prstGeom prst="rect">
            <a:avLst/>
          </a:prstGeom>
          <a:noFill/>
          <a:ln/>
        </p:spPr>
        <p:txBody>
          <a:bodyPr wrap="square" lIns="0" tIns="0" rIns="0" bIns="0" rtlCol="0" anchor="ctr"/>
          <a:lstStyle/>
          <a:p>
            <a:pPr indent="0" marL="0">
              <a:buNone/>
            </a:pPr>
            <a:r>
              <a:rPr lang="en-US" sz="850" spc="50" kern="0" dirty="0">
                <a:solidFill>
                  <a:srgbClr val="B85C2E"/>
                </a:solidFill>
                <a:latin typeface="Courier New" pitchFamily="34" charset="0"/>
                <a:ea typeface="Courier New" pitchFamily="34" charset="-122"/>
                <a:cs typeface="Courier New" pitchFamily="34" charset="-120"/>
              </a:rPr>
              <a:t>SÍNTOMA</a:t>
            </a:r>
            <a:endParaRPr lang="en-US" sz="850" dirty="0"/>
          </a:p>
        </p:txBody>
      </p:sp>
      <p:sp>
        <p:nvSpPr>
          <p:cNvPr id="20" name="Text 18"/>
          <p:cNvSpPr txBox="1"/>
          <p:nvPr/>
        </p:nvSpPr>
        <p:spPr>
          <a:xfrm>
            <a:off x="914400" y="2450592"/>
            <a:ext cx="2999232" cy="566928"/>
          </a:xfrm>
          <a:prstGeom prst="rect">
            <a:avLst/>
          </a:prstGeom>
          <a:noFill/>
          <a:ln/>
        </p:spPr>
        <p:txBody>
          <a:bodyPr wrap="square" lIns="0" tIns="0" rIns="0" bIns="0" rtlCol="0" anchor="ctr"/>
          <a:lstStyle/>
          <a:p>
            <a:pPr indent="0" marL="0">
              <a:buNone/>
            </a:pPr>
            <a:r>
              <a:rPr lang="en-US" sz="1500" b="1" dirty="0">
                <a:solidFill>
                  <a:srgbClr val="16273F"/>
                </a:solidFill>
                <a:latin typeface="Arial" pitchFamily="34" charset="0"/>
                <a:ea typeface="Arial" pitchFamily="34" charset="-122"/>
                <a:cs typeface="Arial" pitchFamily="34" charset="-120"/>
              </a:rPr>
              <a:t>Microservicios desconectados</a:t>
            </a:r>
            <a:endParaRPr lang="en-US" sz="1500" dirty="0"/>
          </a:p>
        </p:txBody>
      </p:sp>
      <p:sp>
        <p:nvSpPr>
          <p:cNvPr id="21" name="Text 19"/>
          <p:cNvSpPr txBox="1"/>
          <p:nvPr/>
        </p:nvSpPr>
        <p:spPr>
          <a:xfrm>
            <a:off x="914400" y="3063240"/>
            <a:ext cx="2999232" cy="548640"/>
          </a:xfrm>
          <a:prstGeom prst="rect">
            <a:avLst/>
          </a:prstGeom>
          <a:noFill/>
          <a:ln/>
        </p:spPr>
        <p:txBody>
          <a:bodyPr wrap="square" lIns="0" tIns="0" rIns="0" bIns="0" rtlCol="0" anchor="ctr"/>
          <a:lstStyle/>
          <a:p>
            <a:pPr indent="0" marL="0">
              <a:lnSpc>
                <a:spcPts val="1600"/>
              </a:lnSpc>
              <a:buNone/>
            </a:pPr>
            <a:r>
              <a:rPr lang="en-US" sz="1200" dirty="0">
                <a:solidFill>
                  <a:srgbClr val="1F2A36"/>
                </a:solidFill>
                <a:latin typeface="Calibri" pitchFamily="34" charset="0"/>
                <a:ea typeface="Calibri" pitchFamily="34" charset="-122"/>
                <a:cs typeface="Calibri" pitchFamily="34" charset="-120"/>
              </a:rPr>
              <a:t>Servicios fragmentados con comunicación deficiente.</a:t>
            </a:r>
            <a:endParaRPr lang="en-US" sz="1200" dirty="0"/>
          </a:p>
        </p:txBody>
      </p:sp>
      <p:sp>
        <p:nvSpPr>
          <p:cNvPr id="22" name="Text 20"/>
          <p:cNvSpPr txBox="1"/>
          <p:nvPr/>
        </p:nvSpPr>
        <p:spPr>
          <a:xfrm>
            <a:off x="914400" y="3794760"/>
            <a:ext cx="2926080" cy="219456"/>
          </a:xfrm>
          <a:prstGeom prst="rect">
            <a:avLst/>
          </a:prstGeom>
          <a:noFill/>
          <a:ln/>
        </p:spPr>
        <p:txBody>
          <a:bodyPr wrap="square" lIns="0" tIns="0" rIns="0" bIns="0" rtlCol="0" anchor="ctr"/>
          <a:lstStyle/>
          <a:p>
            <a:pPr indent="0" marL="0">
              <a:buNone/>
            </a:pPr>
            <a:r>
              <a:rPr lang="en-US" sz="850" spc="50" kern="0" dirty="0">
                <a:solidFill>
                  <a:srgbClr val="B85C2E"/>
                </a:solidFill>
                <a:latin typeface="Courier New" pitchFamily="34" charset="0"/>
                <a:ea typeface="Courier New" pitchFamily="34" charset="-122"/>
                <a:cs typeface="Courier New" pitchFamily="34" charset="-120"/>
              </a:rPr>
              <a:t>IMPACTO</a:t>
            </a:r>
            <a:endParaRPr lang="en-US" sz="850" dirty="0"/>
          </a:p>
        </p:txBody>
      </p:sp>
      <p:sp>
        <p:nvSpPr>
          <p:cNvPr id="23" name="Text 21"/>
          <p:cNvSpPr txBox="1"/>
          <p:nvPr/>
        </p:nvSpPr>
        <p:spPr>
          <a:xfrm>
            <a:off x="914400" y="4050792"/>
            <a:ext cx="2999232" cy="1097280"/>
          </a:xfrm>
          <a:prstGeom prst="rect">
            <a:avLst/>
          </a:prstGeom>
          <a:noFill/>
          <a:ln/>
        </p:spPr>
        <p:txBody>
          <a:bodyPr wrap="square" lIns="0" tIns="0" rIns="0" bIns="0" rtlCol="0" anchor="ctr"/>
          <a:lstStyle/>
          <a:p>
            <a:pPr indent="0" marL="0">
              <a:lnSpc>
                <a:spcPts val="1600"/>
              </a:lnSpc>
              <a:buNone/>
            </a:pPr>
            <a:r>
              <a:rPr lang="en-US" sz="1200" dirty="0">
                <a:solidFill>
                  <a:srgbClr val="1F2A36"/>
                </a:solidFill>
                <a:latin typeface="Calibri" pitchFamily="34" charset="0"/>
                <a:ea typeface="Calibri" pitchFamily="34" charset="-122"/>
                <a:cs typeface="Calibri" pitchFamily="34" charset="-120"/>
              </a:rPr>
              <a:t>Alta complejidad operativa; el mantenimiento y la trazabilidad se vuelven costosos.</a:t>
            </a:r>
            <a:endParaRPr lang="en-US" sz="1200" dirty="0"/>
          </a:p>
        </p:txBody>
      </p:sp>
      <p:sp>
        <p:nvSpPr>
          <p:cNvPr id="24" name="Shape 22"/>
          <p:cNvSpPr/>
          <p:nvPr/>
        </p:nvSpPr>
        <p:spPr>
          <a:xfrm>
            <a:off x="4389120" y="1965960"/>
            <a:ext cx="3456432" cy="3794760"/>
          </a:xfrm>
          <a:prstGeom prst="rect">
            <a:avLst/>
          </a:prstGeom>
          <a:solidFill>
            <a:srgbClr val="FFFFFF"/>
          </a:solidFill>
          <a:ln w="12700">
            <a:solidFill>
              <a:srgbClr val="C6C4B8"/>
            </a:solidFill>
            <a:prstDash val="solid"/>
          </a:ln>
        </p:spPr>
      </p:sp>
      <p:sp>
        <p:nvSpPr>
          <p:cNvPr id="25" name="Shape 23"/>
          <p:cNvSpPr/>
          <p:nvPr/>
        </p:nvSpPr>
        <p:spPr>
          <a:xfrm>
            <a:off x="4389120" y="1965960"/>
            <a:ext cx="3456432" cy="54864"/>
          </a:xfrm>
          <a:prstGeom prst="rect">
            <a:avLst/>
          </a:prstGeom>
          <a:solidFill>
            <a:srgbClr val="5A7189"/>
          </a:solidFill>
          <a:ln w="12700">
            <a:solidFill>
              <a:srgbClr val="5A7189"/>
            </a:solidFill>
            <a:prstDash val="solid"/>
          </a:ln>
        </p:spPr>
      </p:sp>
      <p:sp>
        <p:nvSpPr>
          <p:cNvPr id="26" name="Text 24"/>
          <p:cNvSpPr txBox="1"/>
          <p:nvPr/>
        </p:nvSpPr>
        <p:spPr>
          <a:xfrm>
            <a:off x="4617720" y="2194560"/>
            <a:ext cx="2926080" cy="219456"/>
          </a:xfrm>
          <a:prstGeom prst="rect">
            <a:avLst/>
          </a:prstGeom>
          <a:noFill/>
          <a:ln/>
        </p:spPr>
        <p:txBody>
          <a:bodyPr wrap="square" lIns="0" tIns="0" rIns="0" bIns="0" rtlCol="0" anchor="ctr"/>
          <a:lstStyle/>
          <a:p>
            <a:pPr indent="0" marL="0">
              <a:buNone/>
            </a:pPr>
            <a:r>
              <a:rPr lang="en-US" sz="850" spc="50" kern="0" dirty="0">
                <a:solidFill>
                  <a:srgbClr val="5A7189"/>
                </a:solidFill>
                <a:latin typeface="Courier New" pitchFamily="34" charset="0"/>
                <a:ea typeface="Courier New" pitchFamily="34" charset="-122"/>
                <a:cs typeface="Courier New" pitchFamily="34" charset="-120"/>
              </a:rPr>
              <a:t>SÍNTOMA</a:t>
            </a:r>
            <a:endParaRPr lang="en-US" sz="850" dirty="0"/>
          </a:p>
        </p:txBody>
      </p:sp>
      <p:sp>
        <p:nvSpPr>
          <p:cNvPr id="27" name="Text 25"/>
          <p:cNvSpPr txBox="1"/>
          <p:nvPr/>
        </p:nvSpPr>
        <p:spPr>
          <a:xfrm>
            <a:off x="4617720" y="2450592"/>
            <a:ext cx="2999232" cy="566928"/>
          </a:xfrm>
          <a:prstGeom prst="rect">
            <a:avLst/>
          </a:prstGeom>
          <a:noFill/>
          <a:ln/>
        </p:spPr>
        <p:txBody>
          <a:bodyPr wrap="square" lIns="0" tIns="0" rIns="0" bIns="0" rtlCol="0" anchor="ctr"/>
          <a:lstStyle/>
          <a:p>
            <a:pPr indent="0" marL="0">
              <a:buNone/>
            </a:pPr>
            <a:r>
              <a:rPr lang="en-US" sz="1500" b="1" dirty="0">
                <a:solidFill>
                  <a:srgbClr val="16273F"/>
                </a:solidFill>
                <a:latin typeface="Arial" pitchFamily="34" charset="0"/>
                <a:ea typeface="Arial" pitchFamily="34" charset="-122"/>
                <a:cs typeface="Arial" pitchFamily="34" charset="-120"/>
              </a:rPr>
              <a:t>Monolito desproporcionado</a:t>
            </a:r>
            <a:endParaRPr lang="en-US" sz="1500" dirty="0"/>
          </a:p>
        </p:txBody>
      </p:sp>
      <p:sp>
        <p:nvSpPr>
          <p:cNvPr id="28" name="Text 26"/>
          <p:cNvSpPr txBox="1"/>
          <p:nvPr/>
        </p:nvSpPr>
        <p:spPr>
          <a:xfrm>
            <a:off x="4617720" y="3063240"/>
            <a:ext cx="2999232" cy="548640"/>
          </a:xfrm>
          <a:prstGeom prst="rect">
            <a:avLst/>
          </a:prstGeom>
          <a:noFill/>
          <a:ln/>
        </p:spPr>
        <p:txBody>
          <a:bodyPr wrap="square" lIns="0" tIns="0" rIns="0" bIns="0" rtlCol="0" anchor="ctr"/>
          <a:lstStyle/>
          <a:p>
            <a:pPr indent="0" marL="0">
              <a:lnSpc>
                <a:spcPts val="1600"/>
              </a:lnSpc>
              <a:buNone/>
            </a:pPr>
            <a:r>
              <a:rPr lang="en-US" sz="1200" dirty="0">
                <a:solidFill>
                  <a:srgbClr val="1F2A36"/>
                </a:solidFill>
                <a:latin typeface="Calibri" pitchFamily="34" charset="0"/>
                <a:ea typeface="Calibri" pitchFamily="34" charset="-122"/>
                <a:cs typeface="Calibri" pitchFamily="34" charset="-120"/>
              </a:rPr>
              <a:t>Una sola unidad que concentra todo el sistema.</a:t>
            </a:r>
            <a:endParaRPr lang="en-US" sz="1200" dirty="0"/>
          </a:p>
        </p:txBody>
      </p:sp>
      <p:sp>
        <p:nvSpPr>
          <p:cNvPr id="29" name="Text 27"/>
          <p:cNvSpPr txBox="1"/>
          <p:nvPr/>
        </p:nvSpPr>
        <p:spPr>
          <a:xfrm>
            <a:off x="4617720" y="3794760"/>
            <a:ext cx="2926080" cy="219456"/>
          </a:xfrm>
          <a:prstGeom prst="rect">
            <a:avLst/>
          </a:prstGeom>
          <a:noFill/>
          <a:ln/>
        </p:spPr>
        <p:txBody>
          <a:bodyPr wrap="square" lIns="0" tIns="0" rIns="0" bIns="0" rtlCol="0" anchor="ctr"/>
          <a:lstStyle/>
          <a:p>
            <a:pPr indent="0" marL="0">
              <a:buNone/>
            </a:pPr>
            <a:r>
              <a:rPr lang="en-US" sz="850" spc="50" kern="0" dirty="0">
                <a:solidFill>
                  <a:srgbClr val="5A7189"/>
                </a:solidFill>
                <a:latin typeface="Courier New" pitchFamily="34" charset="0"/>
                <a:ea typeface="Courier New" pitchFamily="34" charset="-122"/>
                <a:cs typeface="Courier New" pitchFamily="34" charset="-120"/>
              </a:rPr>
              <a:t>IMPACTO</a:t>
            </a:r>
            <a:endParaRPr lang="en-US" sz="850" dirty="0"/>
          </a:p>
        </p:txBody>
      </p:sp>
      <p:sp>
        <p:nvSpPr>
          <p:cNvPr id="30" name="Text 28"/>
          <p:cNvSpPr txBox="1"/>
          <p:nvPr/>
        </p:nvSpPr>
        <p:spPr>
          <a:xfrm>
            <a:off x="4617720" y="4050792"/>
            <a:ext cx="2999232" cy="1097280"/>
          </a:xfrm>
          <a:prstGeom prst="rect">
            <a:avLst/>
          </a:prstGeom>
          <a:noFill/>
          <a:ln/>
        </p:spPr>
        <p:txBody>
          <a:bodyPr wrap="square" lIns="0" tIns="0" rIns="0" bIns="0" rtlCol="0" anchor="ctr"/>
          <a:lstStyle/>
          <a:p>
            <a:pPr indent="0" marL="0">
              <a:lnSpc>
                <a:spcPts val="1600"/>
              </a:lnSpc>
              <a:buNone/>
            </a:pPr>
            <a:r>
              <a:rPr lang="en-US" sz="1200" dirty="0">
                <a:solidFill>
                  <a:srgbClr val="1F2A36"/>
                </a:solidFill>
                <a:latin typeface="Calibri" pitchFamily="34" charset="0"/>
                <a:ea typeface="Calibri" pitchFamily="34" charset="-122"/>
                <a:cs typeface="Calibri" pitchFamily="34" charset="-120"/>
              </a:rPr>
              <a:t>Limita la escalabilidad, impide la adaptación ágil y frena los ciclos de despliegue.</a:t>
            </a:r>
            <a:endParaRPr lang="en-US" sz="1200" dirty="0"/>
          </a:p>
        </p:txBody>
      </p:sp>
      <p:sp>
        <p:nvSpPr>
          <p:cNvPr id="31" name="Shape 29"/>
          <p:cNvSpPr/>
          <p:nvPr/>
        </p:nvSpPr>
        <p:spPr>
          <a:xfrm>
            <a:off x="8092440" y="1965960"/>
            <a:ext cx="3456432" cy="3794760"/>
          </a:xfrm>
          <a:prstGeom prst="rect">
            <a:avLst/>
          </a:prstGeom>
          <a:solidFill>
            <a:srgbClr val="FFFFFF"/>
          </a:solidFill>
          <a:ln w="12700">
            <a:solidFill>
              <a:srgbClr val="C6C4B8"/>
            </a:solidFill>
            <a:prstDash val="solid"/>
          </a:ln>
        </p:spPr>
      </p:sp>
      <p:sp>
        <p:nvSpPr>
          <p:cNvPr id="32" name="Shape 30"/>
          <p:cNvSpPr/>
          <p:nvPr/>
        </p:nvSpPr>
        <p:spPr>
          <a:xfrm>
            <a:off x="8092440" y="1965960"/>
            <a:ext cx="3456432" cy="54864"/>
          </a:xfrm>
          <a:prstGeom prst="rect">
            <a:avLst/>
          </a:prstGeom>
          <a:solidFill>
            <a:srgbClr val="1E7A52"/>
          </a:solidFill>
          <a:ln w="12700">
            <a:solidFill>
              <a:srgbClr val="1E7A52"/>
            </a:solidFill>
            <a:prstDash val="solid"/>
          </a:ln>
        </p:spPr>
      </p:sp>
      <p:sp>
        <p:nvSpPr>
          <p:cNvPr id="33" name="Text 31"/>
          <p:cNvSpPr txBox="1"/>
          <p:nvPr/>
        </p:nvSpPr>
        <p:spPr>
          <a:xfrm>
            <a:off x="8321040" y="2194560"/>
            <a:ext cx="2926080" cy="219456"/>
          </a:xfrm>
          <a:prstGeom prst="rect">
            <a:avLst/>
          </a:prstGeom>
          <a:noFill/>
          <a:ln/>
        </p:spPr>
        <p:txBody>
          <a:bodyPr wrap="square" lIns="0" tIns="0" rIns="0" bIns="0" rtlCol="0" anchor="ctr"/>
          <a:lstStyle/>
          <a:p>
            <a:pPr indent="0" marL="0">
              <a:buNone/>
            </a:pPr>
            <a:r>
              <a:rPr lang="en-US" sz="850" spc="50" kern="0" dirty="0">
                <a:solidFill>
                  <a:srgbClr val="1E7A52"/>
                </a:solidFill>
                <a:latin typeface="Courier New" pitchFamily="34" charset="0"/>
                <a:ea typeface="Courier New" pitchFamily="34" charset="-122"/>
                <a:cs typeface="Courier New" pitchFamily="34" charset="-120"/>
              </a:rPr>
              <a:t>SÍNTOMA</a:t>
            </a:r>
            <a:endParaRPr lang="en-US" sz="850" dirty="0"/>
          </a:p>
        </p:txBody>
      </p:sp>
      <p:sp>
        <p:nvSpPr>
          <p:cNvPr id="34" name="Text 32"/>
          <p:cNvSpPr txBox="1"/>
          <p:nvPr/>
        </p:nvSpPr>
        <p:spPr>
          <a:xfrm>
            <a:off x="8321040" y="2450592"/>
            <a:ext cx="2999232" cy="566928"/>
          </a:xfrm>
          <a:prstGeom prst="rect">
            <a:avLst/>
          </a:prstGeom>
          <a:noFill/>
          <a:ln/>
        </p:spPr>
        <p:txBody>
          <a:bodyPr wrap="square" lIns="0" tIns="0" rIns="0" bIns="0" rtlCol="0" anchor="ctr"/>
          <a:lstStyle/>
          <a:p>
            <a:pPr indent="0" marL="0">
              <a:buNone/>
            </a:pPr>
            <a:r>
              <a:rPr lang="en-US" sz="1500" b="1" dirty="0">
                <a:solidFill>
                  <a:srgbClr val="16273F"/>
                </a:solidFill>
                <a:latin typeface="Arial" pitchFamily="34" charset="0"/>
                <a:ea typeface="Arial" pitchFamily="34" charset="-122"/>
                <a:cs typeface="Arial" pitchFamily="34" charset="-120"/>
              </a:rPr>
              <a:t>Sistema sin observabilidad</a:t>
            </a:r>
            <a:endParaRPr lang="en-US" sz="1500" dirty="0"/>
          </a:p>
        </p:txBody>
      </p:sp>
      <p:sp>
        <p:nvSpPr>
          <p:cNvPr id="35" name="Text 33"/>
          <p:cNvSpPr txBox="1"/>
          <p:nvPr/>
        </p:nvSpPr>
        <p:spPr>
          <a:xfrm>
            <a:off x="8321040" y="3063240"/>
            <a:ext cx="2999232" cy="548640"/>
          </a:xfrm>
          <a:prstGeom prst="rect">
            <a:avLst/>
          </a:prstGeom>
          <a:noFill/>
          <a:ln/>
        </p:spPr>
        <p:txBody>
          <a:bodyPr wrap="square" lIns="0" tIns="0" rIns="0" bIns="0" rtlCol="0" anchor="ctr"/>
          <a:lstStyle/>
          <a:p>
            <a:pPr indent="0" marL="0">
              <a:lnSpc>
                <a:spcPts val="1600"/>
              </a:lnSpc>
              <a:buNone/>
            </a:pPr>
            <a:r>
              <a:rPr lang="en-US" sz="1200" dirty="0">
                <a:solidFill>
                  <a:srgbClr val="1F2A36"/>
                </a:solidFill>
                <a:latin typeface="Calibri" pitchFamily="34" charset="0"/>
                <a:ea typeface="Calibri" pitchFamily="34" charset="-122"/>
                <a:cs typeface="Calibri" pitchFamily="34" charset="-120"/>
              </a:rPr>
              <a:t>Ausencia de telemetría, métricas y trazas.</a:t>
            </a:r>
            <a:endParaRPr lang="en-US" sz="1200" dirty="0"/>
          </a:p>
        </p:txBody>
      </p:sp>
      <p:sp>
        <p:nvSpPr>
          <p:cNvPr id="36" name="Text 34"/>
          <p:cNvSpPr txBox="1"/>
          <p:nvPr/>
        </p:nvSpPr>
        <p:spPr>
          <a:xfrm>
            <a:off x="8321040" y="3794760"/>
            <a:ext cx="2926080" cy="219456"/>
          </a:xfrm>
          <a:prstGeom prst="rect">
            <a:avLst/>
          </a:prstGeom>
          <a:noFill/>
          <a:ln/>
        </p:spPr>
        <p:txBody>
          <a:bodyPr wrap="square" lIns="0" tIns="0" rIns="0" bIns="0" rtlCol="0" anchor="ctr"/>
          <a:lstStyle/>
          <a:p>
            <a:pPr indent="0" marL="0">
              <a:buNone/>
            </a:pPr>
            <a:r>
              <a:rPr lang="en-US" sz="850" spc="50" kern="0" dirty="0">
                <a:solidFill>
                  <a:srgbClr val="1E7A52"/>
                </a:solidFill>
                <a:latin typeface="Courier New" pitchFamily="34" charset="0"/>
                <a:ea typeface="Courier New" pitchFamily="34" charset="-122"/>
                <a:cs typeface="Courier New" pitchFamily="34" charset="-120"/>
              </a:rPr>
              <a:t>IMPACTO</a:t>
            </a:r>
            <a:endParaRPr lang="en-US" sz="850" dirty="0"/>
          </a:p>
        </p:txBody>
      </p:sp>
      <p:sp>
        <p:nvSpPr>
          <p:cNvPr id="37" name="Text 35"/>
          <p:cNvSpPr txBox="1"/>
          <p:nvPr/>
        </p:nvSpPr>
        <p:spPr>
          <a:xfrm>
            <a:off x="8321040" y="4050792"/>
            <a:ext cx="2999232" cy="1097280"/>
          </a:xfrm>
          <a:prstGeom prst="rect">
            <a:avLst/>
          </a:prstGeom>
          <a:noFill/>
          <a:ln/>
        </p:spPr>
        <p:txBody>
          <a:bodyPr wrap="square" lIns="0" tIns="0" rIns="0" bIns="0" rtlCol="0" anchor="ctr"/>
          <a:lstStyle/>
          <a:p>
            <a:pPr indent="0" marL="0">
              <a:lnSpc>
                <a:spcPts val="1600"/>
              </a:lnSpc>
              <a:buNone/>
            </a:pPr>
            <a:r>
              <a:rPr lang="en-US" sz="1200" dirty="0">
                <a:solidFill>
                  <a:srgbClr val="1F2A36"/>
                </a:solidFill>
                <a:latin typeface="Calibri" pitchFamily="34" charset="0"/>
                <a:ea typeface="Calibri" pitchFamily="34" charset="-122"/>
                <a:cs typeface="Calibri" pitchFamily="34" charset="-120"/>
              </a:rPr>
              <a:t>Fallos silenciosos y resolución tardía de incidentes críticos.</a:t>
            </a:r>
            <a:endParaRPr lang="en-US" sz="1200" dirty="0"/>
          </a:p>
        </p:txBody>
      </p:sp>
      <p:sp>
        <p:nvSpPr>
          <p:cNvPr id="38" name="Shape 36"/>
          <p:cNvSpPr/>
          <p:nvPr/>
        </p:nvSpPr>
        <p:spPr>
          <a:xfrm>
            <a:off x="685800" y="5943600"/>
            <a:ext cx="10820095" cy="502920"/>
          </a:xfrm>
          <a:prstGeom prst="rect">
            <a:avLst/>
          </a:prstGeom>
          <a:solidFill>
            <a:srgbClr val="EFEDE3"/>
          </a:solidFill>
          <a:ln w="12700">
            <a:solidFill>
              <a:srgbClr val="C6C4B8"/>
            </a:solidFill>
            <a:prstDash val="solid"/>
          </a:ln>
        </p:spPr>
      </p:sp>
      <p:sp>
        <p:nvSpPr>
          <p:cNvPr id="39" name="Text 37"/>
          <p:cNvSpPr txBox="1"/>
          <p:nvPr/>
        </p:nvSpPr>
        <p:spPr>
          <a:xfrm>
            <a:off x="960120" y="5943600"/>
            <a:ext cx="10271455" cy="502920"/>
          </a:xfrm>
          <a:prstGeom prst="rect">
            <a:avLst/>
          </a:prstGeom>
          <a:noFill/>
          <a:ln/>
        </p:spPr>
        <p:txBody>
          <a:bodyPr wrap="square" lIns="0" tIns="0" rIns="0" bIns="0" rtlCol="0" anchor="ctr"/>
          <a:lstStyle/>
          <a:p>
            <a:pPr indent="0" marL="0">
              <a:buNone/>
            </a:pPr>
            <a:r>
              <a:rPr lang="en-US" sz="1250" dirty="0">
                <a:solidFill>
                  <a:srgbClr val="1F2A36"/>
                </a:solidFill>
                <a:latin typeface="Calibri" pitchFamily="34" charset="0"/>
                <a:ea typeface="Calibri" pitchFamily="34" charset="-122"/>
                <a:cs typeface="Calibri" pitchFamily="34" charset="-120"/>
              </a:rPr>
              <a:t>Ninguno de los tres es un error de programación: los tres son decisiones estructurales que en su momento parecieron razonables.</a:t>
            </a:r>
            <a:endParaRPr lang="en-US" sz="1250" dirty="0"/>
          </a:p>
        </p:txBody>
      </p:sp>
      <p:sp>
        <p:nvSpPr>
          <p:cNvPr id="40" name="Text 38"/>
          <p:cNvSpPr txBox="1"/>
          <p:nvPr/>
        </p:nvSpPr>
        <p:spPr>
          <a:xfrm>
            <a:off x="685800" y="6583680"/>
            <a:ext cx="6400800" cy="237744"/>
          </a:xfrm>
          <a:prstGeom prst="rect">
            <a:avLst/>
          </a:prstGeom>
          <a:noFill/>
          <a:ln/>
        </p:spPr>
        <p:txBody>
          <a:bodyPr wrap="square" lIns="0" tIns="0" rIns="0" bIns="0" rtlCol="0" anchor="ctr"/>
          <a:lstStyle/>
          <a:p>
            <a:pPr indent="0" marL="0">
              <a:buNone/>
            </a:pPr>
            <a:r>
              <a:rPr lang="en-US" sz="800" dirty="0">
                <a:solidFill>
                  <a:srgbClr val="707C86"/>
                </a:solidFill>
                <a:latin typeface="Courier New" pitchFamily="34" charset="0"/>
                <a:ea typeface="Courier New" pitchFamily="34" charset="-122"/>
                <a:cs typeface="Courier New" pitchFamily="34" charset="-120"/>
              </a:rPr>
              <a:t>AREM · Módulo 9 · Evaluación de Riesgos Arquitectónicos</a:t>
            </a:r>
            <a:endParaRPr lang="en-US" sz="800" dirty="0"/>
          </a:p>
        </p:txBody>
      </p:sp>
      <p:sp>
        <p:nvSpPr>
          <p:cNvPr id="41" name="Text 39"/>
          <p:cNvSpPr txBox="1"/>
          <p:nvPr/>
        </p:nvSpPr>
        <p:spPr>
          <a:xfrm>
            <a:off x="10881360" y="6583680"/>
            <a:ext cx="621792" cy="237744"/>
          </a:xfrm>
          <a:prstGeom prst="rect">
            <a:avLst/>
          </a:prstGeom>
          <a:noFill/>
          <a:ln/>
        </p:spPr>
        <p:txBody>
          <a:bodyPr wrap="square" lIns="0" tIns="0" rIns="0" bIns="0" rtlCol="0" anchor="ctr"/>
          <a:lstStyle/>
          <a:p>
            <a:pPr algn="r" indent="0" marL="0">
              <a:buNone/>
            </a:pPr>
            <a:r>
              <a:rPr lang="en-US" sz="800" dirty="0">
                <a:solidFill>
                  <a:srgbClr val="707C86"/>
                </a:solidFill>
                <a:latin typeface="Courier New" pitchFamily="34" charset="0"/>
                <a:ea typeface="Courier New" pitchFamily="34" charset="-122"/>
                <a:cs typeface="Courier New" pitchFamily="34" charset="-120"/>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4ED"/>
        </a:solidFill>
      </p:bgPr>
    </p:bg>
    <p:spTree>
      <p:nvGrpSpPr>
        <p:cNvPr id="1" name=""/>
        <p:cNvGrpSpPr/>
        <p:nvPr/>
      </p:nvGrpSpPr>
      <p:grpSpPr>
        <a:xfrm>
          <a:off x="0" y="0"/>
          <a:ext cx="0" cy="0"/>
          <a:chOff x="0" y="0"/>
          <a:chExt cx="0" cy="0"/>
        </a:xfrm>
      </p:grpSpPr>
      <p:sp>
        <p:nvSpPr>
          <p:cNvPr id="2" name="Shape 0"/>
          <p:cNvSpPr/>
          <p:nvPr/>
        </p:nvSpPr>
        <p:spPr>
          <a:xfrm>
            <a:off x="384048" y="310896"/>
            <a:ext cx="11420856" cy="10973"/>
          </a:xfrm>
          <a:prstGeom prst="rect">
            <a:avLst/>
          </a:prstGeom>
          <a:solidFill>
            <a:srgbClr val="C6C4B8"/>
          </a:solidFill>
          <a:ln w="12700">
            <a:solidFill>
              <a:srgbClr val="C6C4B8"/>
            </a:solidFill>
            <a:prstDash val="solid"/>
          </a:ln>
        </p:spPr>
      </p:sp>
      <p:sp>
        <p:nvSpPr>
          <p:cNvPr id="3" name="Shape 1"/>
          <p:cNvSpPr/>
          <p:nvPr/>
        </p:nvSpPr>
        <p:spPr>
          <a:xfrm>
            <a:off x="384048" y="6510528"/>
            <a:ext cx="11420856" cy="10973"/>
          </a:xfrm>
          <a:prstGeom prst="rect">
            <a:avLst/>
          </a:prstGeom>
          <a:solidFill>
            <a:srgbClr val="C6C4B8"/>
          </a:solidFill>
          <a:ln w="12700">
            <a:solidFill>
              <a:srgbClr val="C6C4B8"/>
            </a:solidFill>
            <a:prstDash val="solid"/>
          </a:ln>
        </p:spPr>
      </p:sp>
      <p:sp>
        <p:nvSpPr>
          <p:cNvPr id="4" name="Shape 2"/>
          <p:cNvSpPr/>
          <p:nvPr/>
        </p:nvSpPr>
        <p:spPr>
          <a:xfrm>
            <a:off x="384048" y="310896"/>
            <a:ext cx="10973" cy="6208776"/>
          </a:xfrm>
          <a:prstGeom prst="rect">
            <a:avLst/>
          </a:prstGeom>
          <a:solidFill>
            <a:srgbClr val="C6C4B8"/>
          </a:solidFill>
          <a:ln w="12700">
            <a:solidFill>
              <a:srgbClr val="C6C4B8"/>
            </a:solidFill>
            <a:prstDash val="solid"/>
          </a:ln>
        </p:spPr>
      </p:sp>
      <p:sp>
        <p:nvSpPr>
          <p:cNvPr id="5" name="Shape 3"/>
          <p:cNvSpPr/>
          <p:nvPr/>
        </p:nvSpPr>
        <p:spPr>
          <a:xfrm>
            <a:off x="11795760" y="310896"/>
            <a:ext cx="10973" cy="6208776"/>
          </a:xfrm>
          <a:prstGeom prst="rect">
            <a:avLst/>
          </a:prstGeom>
          <a:solidFill>
            <a:srgbClr val="C6C4B8"/>
          </a:solidFill>
          <a:ln w="12700">
            <a:solidFill>
              <a:srgbClr val="C6C4B8"/>
            </a:solidFill>
            <a:prstDash val="solid"/>
          </a:ln>
        </p:spPr>
      </p:sp>
      <p:sp>
        <p:nvSpPr>
          <p:cNvPr id="6" name="Shape 4"/>
          <p:cNvSpPr/>
          <p:nvPr/>
        </p:nvSpPr>
        <p:spPr>
          <a:xfrm>
            <a:off x="283464" y="306324"/>
            <a:ext cx="201168" cy="9144"/>
          </a:xfrm>
          <a:prstGeom prst="rect">
            <a:avLst/>
          </a:prstGeom>
          <a:solidFill>
            <a:srgbClr val="5A7189"/>
          </a:solidFill>
          <a:ln w="12700">
            <a:solidFill>
              <a:srgbClr val="5A7189"/>
            </a:solidFill>
            <a:prstDash val="solid"/>
          </a:ln>
        </p:spPr>
      </p:sp>
      <p:sp>
        <p:nvSpPr>
          <p:cNvPr id="7" name="Shape 5"/>
          <p:cNvSpPr/>
          <p:nvPr/>
        </p:nvSpPr>
        <p:spPr>
          <a:xfrm>
            <a:off x="379476" y="210312"/>
            <a:ext cx="9144" cy="201168"/>
          </a:xfrm>
          <a:prstGeom prst="rect">
            <a:avLst/>
          </a:prstGeom>
          <a:solidFill>
            <a:srgbClr val="5A7189"/>
          </a:solidFill>
          <a:ln w="12700">
            <a:solidFill>
              <a:srgbClr val="5A7189"/>
            </a:solidFill>
            <a:prstDash val="solid"/>
          </a:ln>
        </p:spPr>
      </p:sp>
      <p:sp>
        <p:nvSpPr>
          <p:cNvPr id="8" name="Shape 6"/>
          <p:cNvSpPr/>
          <p:nvPr/>
        </p:nvSpPr>
        <p:spPr>
          <a:xfrm>
            <a:off x="11695176" y="306324"/>
            <a:ext cx="201168" cy="9144"/>
          </a:xfrm>
          <a:prstGeom prst="rect">
            <a:avLst/>
          </a:prstGeom>
          <a:solidFill>
            <a:srgbClr val="5A7189"/>
          </a:solidFill>
          <a:ln w="12700">
            <a:solidFill>
              <a:srgbClr val="5A7189"/>
            </a:solidFill>
            <a:prstDash val="solid"/>
          </a:ln>
        </p:spPr>
      </p:sp>
      <p:sp>
        <p:nvSpPr>
          <p:cNvPr id="9" name="Shape 7"/>
          <p:cNvSpPr/>
          <p:nvPr/>
        </p:nvSpPr>
        <p:spPr>
          <a:xfrm>
            <a:off x="11791188" y="210312"/>
            <a:ext cx="9144" cy="201168"/>
          </a:xfrm>
          <a:prstGeom prst="rect">
            <a:avLst/>
          </a:prstGeom>
          <a:solidFill>
            <a:srgbClr val="5A7189"/>
          </a:solidFill>
          <a:ln w="12700">
            <a:solidFill>
              <a:srgbClr val="5A7189"/>
            </a:solidFill>
            <a:prstDash val="solid"/>
          </a:ln>
        </p:spPr>
      </p:sp>
      <p:sp>
        <p:nvSpPr>
          <p:cNvPr id="10" name="Shape 8"/>
          <p:cNvSpPr/>
          <p:nvPr/>
        </p:nvSpPr>
        <p:spPr>
          <a:xfrm>
            <a:off x="283464" y="6505956"/>
            <a:ext cx="201168" cy="9144"/>
          </a:xfrm>
          <a:prstGeom prst="rect">
            <a:avLst/>
          </a:prstGeom>
          <a:solidFill>
            <a:srgbClr val="5A7189"/>
          </a:solidFill>
          <a:ln w="12700">
            <a:solidFill>
              <a:srgbClr val="5A7189"/>
            </a:solidFill>
            <a:prstDash val="solid"/>
          </a:ln>
        </p:spPr>
      </p:sp>
      <p:sp>
        <p:nvSpPr>
          <p:cNvPr id="11" name="Shape 9"/>
          <p:cNvSpPr/>
          <p:nvPr/>
        </p:nvSpPr>
        <p:spPr>
          <a:xfrm>
            <a:off x="379476" y="6409944"/>
            <a:ext cx="9144" cy="201168"/>
          </a:xfrm>
          <a:prstGeom prst="rect">
            <a:avLst/>
          </a:prstGeom>
          <a:solidFill>
            <a:srgbClr val="5A7189"/>
          </a:solidFill>
          <a:ln w="12700">
            <a:solidFill>
              <a:srgbClr val="5A7189"/>
            </a:solidFill>
            <a:prstDash val="solid"/>
          </a:ln>
        </p:spPr>
      </p:sp>
      <p:sp>
        <p:nvSpPr>
          <p:cNvPr id="12" name="Shape 10"/>
          <p:cNvSpPr/>
          <p:nvPr/>
        </p:nvSpPr>
        <p:spPr>
          <a:xfrm>
            <a:off x="11695176" y="6505956"/>
            <a:ext cx="201168" cy="9144"/>
          </a:xfrm>
          <a:prstGeom prst="rect">
            <a:avLst/>
          </a:prstGeom>
          <a:solidFill>
            <a:srgbClr val="5A7189"/>
          </a:solidFill>
          <a:ln w="12700">
            <a:solidFill>
              <a:srgbClr val="5A7189"/>
            </a:solidFill>
            <a:prstDash val="solid"/>
          </a:ln>
        </p:spPr>
      </p:sp>
      <p:sp>
        <p:nvSpPr>
          <p:cNvPr id="13" name="Shape 11"/>
          <p:cNvSpPr/>
          <p:nvPr/>
        </p:nvSpPr>
        <p:spPr>
          <a:xfrm>
            <a:off x="11791188" y="6409944"/>
            <a:ext cx="9144" cy="201168"/>
          </a:xfrm>
          <a:prstGeom prst="rect">
            <a:avLst/>
          </a:prstGeom>
          <a:solidFill>
            <a:srgbClr val="5A7189"/>
          </a:solidFill>
          <a:ln w="12700">
            <a:solidFill>
              <a:srgbClr val="5A7189"/>
            </a:solidFill>
            <a:prstDash val="solid"/>
          </a:ln>
        </p:spPr>
      </p:sp>
      <p:sp>
        <p:nvSpPr>
          <p:cNvPr id="14" name="Text 12"/>
          <p:cNvSpPr txBox="1"/>
          <p:nvPr/>
        </p:nvSpPr>
        <p:spPr>
          <a:xfrm>
            <a:off x="685800" y="566928"/>
            <a:ext cx="7315200" cy="237744"/>
          </a:xfrm>
          <a:prstGeom prst="rect">
            <a:avLst/>
          </a:prstGeom>
          <a:noFill/>
          <a:ln/>
        </p:spPr>
        <p:txBody>
          <a:bodyPr wrap="square" lIns="0" tIns="0" rIns="0" bIns="0" rtlCol="0" anchor="ctr"/>
          <a:lstStyle/>
          <a:p>
            <a:pPr indent="0" marL="0">
              <a:buNone/>
            </a:pPr>
            <a:r>
              <a:rPr lang="en-US" sz="1000" spc="100" kern="0" dirty="0">
                <a:solidFill>
                  <a:srgbClr val="B85C2E"/>
                </a:solidFill>
                <a:latin typeface="Courier New" pitchFamily="34" charset="0"/>
                <a:ea typeface="Courier New" pitchFamily="34" charset="-122"/>
                <a:cs typeface="Courier New" pitchFamily="34" charset="-120"/>
              </a:rPr>
              <a:t>05 · RIESGO EMERGENTE</a:t>
            </a:r>
            <a:endParaRPr lang="en-US" sz="1000" dirty="0"/>
          </a:p>
        </p:txBody>
      </p:sp>
      <p:sp>
        <p:nvSpPr>
          <p:cNvPr id="15" name="Text 13"/>
          <p:cNvSpPr txBox="1"/>
          <p:nvPr/>
        </p:nvSpPr>
        <p:spPr>
          <a:xfrm>
            <a:off x="685800" y="822960"/>
            <a:ext cx="10820095" cy="566928"/>
          </a:xfrm>
          <a:prstGeom prst="rect">
            <a:avLst/>
          </a:prstGeom>
          <a:noFill/>
          <a:ln/>
        </p:spPr>
        <p:txBody>
          <a:bodyPr wrap="square" lIns="0" tIns="0" rIns="0" bIns="0" rtlCol="0" anchor="ctr"/>
          <a:lstStyle/>
          <a:p>
            <a:pPr indent="0" marL="0">
              <a:buNone/>
            </a:pPr>
            <a:r>
              <a:rPr lang="en-US" sz="3000" b="1" dirty="0">
                <a:solidFill>
                  <a:srgbClr val="16273F"/>
                </a:solidFill>
                <a:latin typeface="Arial" pitchFamily="34" charset="0"/>
                <a:ea typeface="Arial" pitchFamily="34" charset="-122"/>
                <a:cs typeface="Arial" pitchFamily="34" charset="-120"/>
              </a:rPr>
              <a:t>Deuda cognitiva del código</a:t>
            </a:r>
            <a:endParaRPr lang="en-US" sz="3000" dirty="0"/>
          </a:p>
        </p:txBody>
      </p:sp>
      <p:sp>
        <p:nvSpPr>
          <p:cNvPr id="16" name="Text 14"/>
          <p:cNvSpPr txBox="1"/>
          <p:nvPr/>
        </p:nvSpPr>
        <p:spPr>
          <a:xfrm>
            <a:off x="685800" y="1389888"/>
            <a:ext cx="10820095" cy="310896"/>
          </a:xfrm>
          <a:prstGeom prst="rect">
            <a:avLst/>
          </a:prstGeom>
          <a:noFill/>
          <a:ln/>
        </p:spPr>
        <p:txBody>
          <a:bodyPr wrap="square" lIns="0" tIns="0" rIns="0" bIns="0" rtlCol="0" anchor="ctr"/>
          <a:lstStyle/>
          <a:p>
            <a:pPr indent="0" marL="0">
              <a:buNone/>
            </a:pPr>
            <a:r>
              <a:rPr lang="en-US" sz="1350" dirty="0">
                <a:solidFill>
                  <a:srgbClr val="707C86"/>
                </a:solidFill>
                <a:latin typeface="Calibri" pitchFamily="34" charset="0"/>
                <a:ea typeface="Calibri" pitchFamily="34" charset="-122"/>
                <a:cs typeface="Calibri" pitchFamily="34" charset="-120"/>
              </a:rPr>
              <a:t>El riesgo que apareció cuando la IA aceleró el ritmo de cambio</a:t>
            </a:r>
            <a:endParaRPr lang="en-US" sz="1350" dirty="0"/>
          </a:p>
        </p:txBody>
      </p:sp>
      <p:sp>
        <p:nvSpPr>
          <p:cNvPr id="17" name="Shape 15"/>
          <p:cNvSpPr/>
          <p:nvPr/>
        </p:nvSpPr>
        <p:spPr>
          <a:xfrm>
            <a:off x="685800" y="1920240"/>
            <a:ext cx="5669280" cy="1051560"/>
          </a:xfrm>
          <a:prstGeom prst="rect">
            <a:avLst/>
          </a:prstGeom>
          <a:solidFill>
            <a:srgbClr val="16273F"/>
          </a:solidFill>
          <a:ln w="12700">
            <a:solidFill>
              <a:srgbClr val="16273F"/>
            </a:solidFill>
            <a:prstDash val="solid"/>
          </a:ln>
        </p:spPr>
      </p:sp>
      <p:sp>
        <p:nvSpPr>
          <p:cNvPr id="18" name="Text 16"/>
          <p:cNvSpPr txBox="1"/>
          <p:nvPr/>
        </p:nvSpPr>
        <p:spPr>
          <a:xfrm>
            <a:off x="960120" y="1920240"/>
            <a:ext cx="5120640" cy="1051560"/>
          </a:xfrm>
          <a:prstGeom prst="rect">
            <a:avLst/>
          </a:prstGeom>
          <a:noFill/>
          <a:ln/>
        </p:spPr>
        <p:txBody>
          <a:bodyPr wrap="square" lIns="0" tIns="0" rIns="0" bIns="0" rtlCol="0" anchor="ctr"/>
          <a:lstStyle/>
          <a:p>
            <a:pPr indent="0" marL="0">
              <a:lnSpc>
                <a:spcPts val="2000"/>
              </a:lnSpc>
              <a:buNone/>
            </a:pPr>
            <a:r>
              <a:rPr lang="en-US" sz="1400" dirty="0">
                <a:solidFill>
                  <a:srgbClr val="FFFFFF"/>
                </a:solidFill>
                <a:latin typeface="Calibri" pitchFamily="34" charset="0"/>
                <a:ea typeface="Calibri" pitchFamily="34" charset="-122"/>
                <a:cs typeface="Calibri" pitchFamily="34" charset="-120"/>
              </a:rPr>
              <a:t>La brecha creciente entre lo que el sistema hace y lo que el equipo entiende de cómo y por qué funciona.</a:t>
            </a:r>
            <a:endParaRPr lang="en-US" sz="1400" dirty="0"/>
          </a:p>
        </p:txBody>
      </p:sp>
      <p:sp>
        <p:nvSpPr>
          <p:cNvPr id="19" name="Text 17"/>
          <p:cNvSpPr txBox="1"/>
          <p:nvPr/>
        </p:nvSpPr>
        <p:spPr>
          <a:xfrm>
            <a:off x="685800" y="3154680"/>
            <a:ext cx="3657600" cy="219456"/>
          </a:xfrm>
          <a:prstGeom prst="rect">
            <a:avLst/>
          </a:prstGeom>
          <a:noFill/>
          <a:ln/>
        </p:spPr>
        <p:txBody>
          <a:bodyPr wrap="square" lIns="0" tIns="0" rIns="0" bIns="0" rtlCol="0" anchor="ctr"/>
          <a:lstStyle/>
          <a:p>
            <a:pPr indent="0" marL="0">
              <a:buNone/>
            </a:pPr>
            <a:r>
              <a:rPr lang="en-US" sz="850" spc="50" kern="0" dirty="0">
                <a:solidFill>
                  <a:srgbClr val="B85C2E"/>
                </a:solidFill>
                <a:latin typeface="Courier New" pitchFamily="34" charset="0"/>
                <a:ea typeface="Courier New" pitchFamily="34" charset="-122"/>
                <a:cs typeface="Courier New" pitchFamily="34" charset="-120"/>
              </a:rPr>
              <a:t>EL CICLO QUE SE REFUERZA</a:t>
            </a:r>
            <a:endParaRPr lang="en-US" sz="850" dirty="0"/>
          </a:p>
        </p:txBody>
      </p:sp>
      <p:sp>
        <p:nvSpPr>
          <p:cNvPr id="20" name="Shape 18"/>
          <p:cNvSpPr/>
          <p:nvPr/>
        </p:nvSpPr>
        <p:spPr>
          <a:xfrm>
            <a:off x="685800" y="3456432"/>
            <a:ext cx="5669280" cy="621792"/>
          </a:xfrm>
          <a:prstGeom prst="rect">
            <a:avLst/>
          </a:prstGeom>
          <a:solidFill>
            <a:srgbClr val="FFFFFF"/>
          </a:solidFill>
          <a:ln w="12700">
            <a:solidFill>
              <a:srgbClr val="C6C4B8"/>
            </a:solidFill>
            <a:prstDash val="solid"/>
          </a:ln>
        </p:spPr>
      </p:sp>
      <p:sp>
        <p:nvSpPr>
          <p:cNvPr id="21" name="Text 19"/>
          <p:cNvSpPr txBox="1"/>
          <p:nvPr/>
        </p:nvSpPr>
        <p:spPr>
          <a:xfrm>
            <a:off x="886968" y="3456432"/>
            <a:ext cx="365760" cy="621792"/>
          </a:xfrm>
          <a:prstGeom prst="rect">
            <a:avLst/>
          </a:prstGeom>
          <a:noFill/>
          <a:ln/>
        </p:spPr>
        <p:txBody>
          <a:bodyPr wrap="square" lIns="0" tIns="0" rIns="0" bIns="0" rtlCol="0" anchor="ctr"/>
          <a:lstStyle/>
          <a:p>
            <a:pPr indent="0" marL="0">
              <a:buNone/>
            </a:pPr>
            <a:r>
              <a:rPr lang="en-US" sz="1300" b="1" dirty="0">
                <a:solidFill>
                  <a:srgbClr val="B85C2E"/>
                </a:solidFill>
                <a:latin typeface="Courier New" pitchFamily="34" charset="0"/>
                <a:ea typeface="Courier New" pitchFamily="34" charset="-122"/>
                <a:cs typeface="Courier New" pitchFamily="34" charset="-120"/>
              </a:rPr>
              <a:t>1</a:t>
            </a:r>
            <a:endParaRPr lang="en-US" sz="1300" dirty="0"/>
          </a:p>
        </p:txBody>
      </p:sp>
      <p:sp>
        <p:nvSpPr>
          <p:cNvPr id="22" name="Text 20"/>
          <p:cNvSpPr txBox="1"/>
          <p:nvPr/>
        </p:nvSpPr>
        <p:spPr>
          <a:xfrm>
            <a:off x="1344168" y="3456432"/>
            <a:ext cx="2286000" cy="621792"/>
          </a:xfrm>
          <a:prstGeom prst="rect">
            <a:avLst/>
          </a:prstGeom>
          <a:noFill/>
          <a:ln/>
        </p:spPr>
        <p:txBody>
          <a:bodyPr wrap="square" lIns="0" tIns="0" rIns="0" bIns="0" rtlCol="0" anchor="ctr"/>
          <a:lstStyle/>
          <a:p>
            <a:pPr indent="0" marL="0">
              <a:buNone/>
            </a:pPr>
            <a:r>
              <a:rPr lang="en-US" sz="1250" b="1" dirty="0">
                <a:solidFill>
                  <a:srgbClr val="16273F"/>
                </a:solidFill>
                <a:latin typeface="Calibri" pitchFamily="34" charset="0"/>
                <a:ea typeface="Calibri" pitchFamily="34" charset="-122"/>
                <a:cs typeface="Calibri" pitchFamily="34" charset="-120"/>
              </a:rPr>
              <a:t>La IA acelera el cambio</a:t>
            </a:r>
            <a:endParaRPr lang="en-US" sz="1250" dirty="0"/>
          </a:p>
        </p:txBody>
      </p:sp>
      <p:sp>
        <p:nvSpPr>
          <p:cNvPr id="23" name="Text 21"/>
          <p:cNvSpPr txBox="1"/>
          <p:nvPr/>
        </p:nvSpPr>
        <p:spPr>
          <a:xfrm>
            <a:off x="3703320" y="3456432"/>
            <a:ext cx="2514600" cy="621792"/>
          </a:xfrm>
          <a:prstGeom prst="rect">
            <a:avLst/>
          </a:prstGeom>
          <a:noFill/>
          <a:ln/>
        </p:spPr>
        <p:txBody>
          <a:bodyPr wrap="square" lIns="0" tIns="0" rIns="0" bIns="0" rtlCol="0" anchor="ctr"/>
          <a:lstStyle/>
          <a:p>
            <a:pPr indent="0" marL="0">
              <a:buNone/>
            </a:pPr>
            <a:r>
              <a:rPr lang="en-US" sz="1150" dirty="0">
                <a:solidFill>
                  <a:srgbClr val="1F2A36"/>
                </a:solidFill>
                <a:latin typeface="Calibri" pitchFamily="34" charset="0"/>
                <a:ea typeface="Calibri" pitchFamily="34" charset="-122"/>
                <a:cs typeface="Calibri" pitchFamily="34" charset="-120"/>
              </a:rPr>
              <a:t>Se produce más código en menos tiempo.</a:t>
            </a:r>
            <a:endParaRPr lang="en-US" sz="1150" dirty="0"/>
          </a:p>
        </p:txBody>
      </p:sp>
      <p:sp>
        <p:nvSpPr>
          <p:cNvPr id="24" name="Shape 22"/>
          <p:cNvSpPr/>
          <p:nvPr/>
        </p:nvSpPr>
        <p:spPr>
          <a:xfrm>
            <a:off x="685800" y="4151376"/>
            <a:ext cx="5669280" cy="621792"/>
          </a:xfrm>
          <a:prstGeom prst="rect">
            <a:avLst/>
          </a:prstGeom>
          <a:solidFill>
            <a:srgbClr val="FFFFFF"/>
          </a:solidFill>
          <a:ln w="12700">
            <a:solidFill>
              <a:srgbClr val="C6C4B8"/>
            </a:solidFill>
            <a:prstDash val="solid"/>
          </a:ln>
        </p:spPr>
      </p:sp>
      <p:sp>
        <p:nvSpPr>
          <p:cNvPr id="25" name="Text 23"/>
          <p:cNvSpPr txBox="1"/>
          <p:nvPr/>
        </p:nvSpPr>
        <p:spPr>
          <a:xfrm>
            <a:off x="886968" y="4151376"/>
            <a:ext cx="365760" cy="621792"/>
          </a:xfrm>
          <a:prstGeom prst="rect">
            <a:avLst/>
          </a:prstGeom>
          <a:noFill/>
          <a:ln/>
        </p:spPr>
        <p:txBody>
          <a:bodyPr wrap="square" lIns="0" tIns="0" rIns="0" bIns="0" rtlCol="0" anchor="ctr"/>
          <a:lstStyle/>
          <a:p>
            <a:pPr indent="0" marL="0">
              <a:buNone/>
            </a:pPr>
            <a:r>
              <a:rPr lang="en-US" sz="1300" b="1" dirty="0">
                <a:solidFill>
                  <a:srgbClr val="B85C2E"/>
                </a:solidFill>
                <a:latin typeface="Courier New" pitchFamily="34" charset="0"/>
                <a:ea typeface="Courier New" pitchFamily="34" charset="-122"/>
                <a:cs typeface="Courier New" pitchFamily="34" charset="-120"/>
              </a:rPr>
              <a:t>2</a:t>
            </a:r>
            <a:endParaRPr lang="en-US" sz="1300" dirty="0"/>
          </a:p>
        </p:txBody>
      </p:sp>
      <p:sp>
        <p:nvSpPr>
          <p:cNvPr id="26" name="Text 24"/>
          <p:cNvSpPr txBox="1"/>
          <p:nvPr/>
        </p:nvSpPr>
        <p:spPr>
          <a:xfrm>
            <a:off x="1344168" y="4151376"/>
            <a:ext cx="2286000" cy="621792"/>
          </a:xfrm>
          <a:prstGeom prst="rect">
            <a:avLst/>
          </a:prstGeom>
          <a:noFill/>
          <a:ln/>
        </p:spPr>
        <p:txBody>
          <a:bodyPr wrap="square" lIns="0" tIns="0" rIns="0" bIns="0" rtlCol="0" anchor="ctr"/>
          <a:lstStyle/>
          <a:p>
            <a:pPr indent="0" marL="0">
              <a:buNone/>
            </a:pPr>
            <a:r>
              <a:rPr lang="en-US" sz="1250" b="1" dirty="0">
                <a:solidFill>
                  <a:srgbClr val="16273F"/>
                </a:solidFill>
                <a:latin typeface="Calibri" pitchFamily="34" charset="0"/>
                <a:ea typeface="Calibri" pitchFamily="34" charset="-122"/>
                <a:cs typeface="Calibri" pitchFamily="34" charset="-120"/>
              </a:rPr>
              <a:t>El entendimiento se rezaga</a:t>
            </a:r>
            <a:endParaRPr lang="en-US" sz="1250" dirty="0"/>
          </a:p>
        </p:txBody>
      </p:sp>
      <p:sp>
        <p:nvSpPr>
          <p:cNvPr id="27" name="Text 25"/>
          <p:cNvSpPr txBox="1"/>
          <p:nvPr/>
        </p:nvSpPr>
        <p:spPr>
          <a:xfrm>
            <a:off x="3703320" y="4151376"/>
            <a:ext cx="2514600" cy="621792"/>
          </a:xfrm>
          <a:prstGeom prst="rect">
            <a:avLst/>
          </a:prstGeom>
          <a:noFill/>
          <a:ln/>
        </p:spPr>
        <p:txBody>
          <a:bodyPr wrap="square" lIns="0" tIns="0" rIns="0" bIns="0" rtlCol="0" anchor="ctr"/>
          <a:lstStyle/>
          <a:p>
            <a:pPr indent="0" marL="0">
              <a:buNone/>
            </a:pPr>
            <a:r>
              <a:rPr lang="en-US" sz="1150" dirty="0">
                <a:solidFill>
                  <a:srgbClr val="1F2A36"/>
                </a:solidFill>
                <a:latin typeface="Calibri" pitchFamily="34" charset="0"/>
                <a:ea typeface="Calibri" pitchFamily="34" charset="-122"/>
                <a:cs typeface="Calibri" pitchFamily="34" charset="-120"/>
              </a:rPr>
              <a:t>Nadie alcanza a reconstruir la intención de diseño.</a:t>
            </a:r>
            <a:endParaRPr lang="en-US" sz="1150" dirty="0"/>
          </a:p>
        </p:txBody>
      </p:sp>
      <p:sp>
        <p:nvSpPr>
          <p:cNvPr id="28" name="Shape 26"/>
          <p:cNvSpPr/>
          <p:nvPr/>
        </p:nvSpPr>
        <p:spPr>
          <a:xfrm>
            <a:off x="685800" y="4846320"/>
            <a:ext cx="5669280" cy="621792"/>
          </a:xfrm>
          <a:prstGeom prst="rect">
            <a:avLst/>
          </a:prstGeom>
          <a:solidFill>
            <a:srgbClr val="FFFFFF"/>
          </a:solidFill>
          <a:ln w="12700">
            <a:solidFill>
              <a:srgbClr val="C6C4B8"/>
            </a:solidFill>
            <a:prstDash val="solid"/>
          </a:ln>
        </p:spPr>
      </p:sp>
      <p:sp>
        <p:nvSpPr>
          <p:cNvPr id="29" name="Text 27"/>
          <p:cNvSpPr txBox="1"/>
          <p:nvPr/>
        </p:nvSpPr>
        <p:spPr>
          <a:xfrm>
            <a:off x="886968" y="4846320"/>
            <a:ext cx="365760" cy="621792"/>
          </a:xfrm>
          <a:prstGeom prst="rect">
            <a:avLst/>
          </a:prstGeom>
          <a:noFill/>
          <a:ln/>
        </p:spPr>
        <p:txBody>
          <a:bodyPr wrap="square" lIns="0" tIns="0" rIns="0" bIns="0" rtlCol="0" anchor="ctr"/>
          <a:lstStyle/>
          <a:p>
            <a:pPr indent="0" marL="0">
              <a:buNone/>
            </a:pPr>
            <a:r>
              <a:rPr lang="en-US" sz="1300" b="1" dirty="0">
                <a:solidFill>
                  <a:srgbClr val="B85C2E"/>
                </a:solidFill>
                <a:latin typeface="Courier New" pitchFamily="34" charset="0"/>
                <a:ea typeface="Courier New" pitchFamily="34" charset="-122"/>
                <a:cs typeface="Courier New" pitchFamily="34" charset="-120"/>
              </a:rPr>
              <a:t>3</a:t>
            </a:r>
            <a:endParaRPr lang="en-US" sz="1300" dirty="0"/>
          </a:p>
        </p:txBody>
      </p:sp>
      <p:sp>
        <p:nvSpPr>
          <p:cNvPr id="30" name="Text 28"/>
          <p:cNvSpPr txBox="1"/>
          <p:nvPr/>
        </p:nvSpPr>
        <p:spPr>
          <a:xfrm>
            <a:off x="1344168" y="4846320"/>
            <a:ext cx="2286000" cy="621792"/>
          </a:xfrm>
          <a:prstGeom prst="rect">
            <a:avLst/>
          </a:prstGeom>
          <a:noFill/>
          <a:ln/>
        </p:spPr>
        <p:txBody>
          <a:bodyPr wrap="square" lIns="0" tIns="0" rIns="0" bIns="0" rtlCol="0" anchor="ctr"/>
          <a:lstStyle/>
          <a:p>
            <a:pPr indent="0" marL="0">
              <a:buNone/>
            </a:pPr>
            <a:r>
              <a:rPr lang="en-US" sz="1250" b="1" dirty="0">
                <a:solidFill>
                  <a:srgbClr val="16273F"/>
                </a:solidFill>
                <a:latin typeface="Calibri" pitchFamily="34" charset="0"/>
                <a:ea typeface="Calibri" pitchFamily="34" charset="-122"/>
                <a:cs typeface="Calibri" pitchFamily="34" charset="-120"/>
              </a:rPr>
              <a:t>Se guía peor a la IA</a:t>
            </a:r>
            <a:endParaRPr lang="en-US" sz="1250" dirty="0"/>
          </a:p>
        </p:txBody>
      </p:sp>
      <p:sp>
        <p:nvSpPr>
          <p:cNvPr id="31" name="Text 29"/>
          <p:cNvSpPr txBox="1"/>
          <p:nvPr/>
        </p:nvSpPr>
        <p:spPr>
          <a:xfrm>
            <a:off x="3703320" y="4846320"/>
            <a:ext cx="2514600" cy="621792"/>
          </a:xfrm>
          <a:prstGeom prst="rect">
            <a:avLst/>
          </a:prstGeom>
          <a:noFill/>
          <a:ln/>
        </p:spPr>
        <p:txBody>
          <a:bodyPr wrap="square" lIns="0" tIns="0" rIns="0" bIns="0" rtlCol="0" anchor="ctr"/>
          <a:lstStyle/>
          <a:p>
            <a:pPr indent="0" marL="0">
              <a:buNone/>
            </a:pPr>
            <a:r>
              <a:rPr lang="en-US" sz="1150" dirty="0">
                <a:solidFill>
                  <a:srgbClr val="1F2A36"/>
                </a:solidFill>
                <a:latin typeface="Calibri" pitchFamily="34" charset="0"/>
                <a:ea typeface="Calibri" pitchFamily="34" charset="-122"/>
                <a:cs typeface="Calibri" pitchFamily="34" charset="-120"/>
              </a:rPr>
              <a:t>Sin entender el sistema no se anticipan los casos límite.</a:t>
            </a:r>
            <a:endParaRPr lang="en-US" sz="1150" dirty="0"/>
          </a:p>
        </p:txBody>
      </p:sp>
      <p:sp>
        <p:nvSpPr>
          <p:cNvPr id="32" name="Shape 30"/>
          <p:cNvSpPr/>
          <p:nvPr/>
        </p:nvSpPr>
        <p:spPr>
          <a:xfrm>
            <a:off x="685800" y="5541264"/>
            <a:ext cx="5669280" cy="621792"/>
          </a:xfrm>
          <a:prstGeom prst="rect">
            <a:avLst/>
          </a:prstGeom>
          <a:solidFill>
            <a:srgbClr val="FFFFFF"/>
          </a:solidFill>
          <a:ln w="12700">
            <a:solidFill>
              <a:srgbClr val="C6C4B8"/>
            </a:solidFill>
            <a:prstDash val="solid"/>
          </a:ln>
        </p:spPr>
      </p:sp>
      <p:sp>
        <p:nvSpPr>
          <p:cNvPr id="33" name="Text 31"/>
          <p:cNvSpPr txBox="1"/>
          <p:nvPr/>
        </p:nvSpPr>
        <p:spPr>
          <a:xfrm>
            <a:off x="886968" y="5541264"/>
            <a:ext cx="365760" cy="621792"/>
          </a:xfrm>
          <a:prstGeom prst="rect">
            <a:avLst/>
          </a:prstGeom>
          <a:noFill/>
          <a:ln/>
        </p:spPr>
        <p:txBody>
          <a:bodyPr wrap="square" lIns="0" tIns="0" rIns="0" bIns="0" rtlCol="0" anchor="ctr"/>
          <a:lstStyle/>
          <a:p>
            <a:pPr indent="0" marL="0">
              <a:buNone/>
            </a:pPr>
            <a:r>
              <a:rPr lang="en-US" sz="1300" b="1" dirty="0">
                <a:solidFill>
                  <a:srgbClr val="B85C2E"/>
                </a:solidFill>
                <a:latin typeface="Courier New" pitchFamily="34" charset="0"/>
                <a:ea typeface="Courier New" pitchFamily="34" charset="-122"/>
                <a:cs typeface="Courier New" pitchFamily="34" charset="-120"/>
              </a:rPr>
              <a:t>4</a:t>
            </a:r>
            <a:endParaRPr lang="en-US" sz="1300" dirty="0"/>
          </a:p>
        </p:txBody>
      </p:sp>
      <p:sp>
        <p:nvSpPr>
          <p:cNvPr id="34" name="Text 32"/>
          <p:cNvSpPr txBox="1"/>
          <p:nvPr/>
        </p:nvSpPr>
        <p:spPr>
          <a:xfrm>
            <a:off x="1344168" y="5541264"/>
            <a:ext cx="2286000" cy="621792"/>
          </a:xfrm>
          <a:prstGeom prst="rect">
            <a:avLst/>
          </a:prstGeom>
          <a:noFill/>
          <a:ln/>
        </p:spPr>
        <p:txBody>
          <a:bodyPr wrap="square" lIns="0" tIns="0" rIns="0" bIns="0" rtlCol="0" anchor="ctr"/>
          <a:lstStyle/>
          <a:p>
            <a:pPr indent="0" marL="0">
              <a:buNone/>
            </a:pPr>
            <a:r>
              <a:rPr lang="en-US" sz="1250" b="1" dirty="0">
                <a:solidFill>
                  <a:srgbClr val="16273F"/>
                </a:solidFill>
                <a:latin typeface="Calibri" pitchFamily="34" charset="0"/>
                <a:ea typeface="Calibri" pitchFamily="34" charset="-122"/>
                <a:cs typeface="Calibri" pitchFamily="34" charset="-120"/>
              </a:rPr>
              <a:t>El sistema se degrada más</a:t>
            </a:r>
            <a:endParaRPr lang="en-US" sz="1250" dirty="0"/>
          </a:p>
        </p:txBody>
      </p:sp>
      <p:sp>
        <p:nvSpPr>
          <p:cNvPr id="35" name="Text 33"/>
          <p:cNvSpPr txBox="1"/>
          <p:nvPr/>
        </p:nvSpPr>
        <p:spPr>
          <a:xfrm>
            <a:off x="3703320" y="5541264"/>
            <a:ext cx="2514600" cy="621792"/>
          </a:xfrm>
          <a:prstGeom prst="rect">
            <a:avLst/>
          </a:prstGeom>
          <a:noFill/>
          <a:ln/>
        </p:spPr>
        <p:txBody>
          <a:bodyPr wrap="square" lIns="0" tIns="0" rIns="0" bIns="0" rtlCol="0" anchor="ctr"/>
          <a:lstStyle/>
          <a:p>
            <a:pPr indent="0" marL="0">
              <a:buNone/>
            </a:pPr>
            <a:r>
              <a:rPr lang="en-US" sz="1150" dirty="0">
                <a:solidFill>
                  <a:srgbClr val="1F2A36"/>
                </a:solidFill>
                <a:latin typeface="Calibri" pitchFamily="34" charset="0"/>
                <a:ea typeface="Calibri" pitchFamily="34" charset="-122"/>
                <a:cs typeface="Calibri" pitchFamily="34" charset="-120"/>
              </a:rPr>
              <a:t>Y el ciclo vuelve a empezar, más rápido.</a:t>
            </a:r>
            <a:endParaRPr lang="en-US" sz="1150" dirty="0"/>
          </a:p>
        </p:txBody>
      </p:sp>
      <p:sp>
        <p:nvSpPr>
          <p:cNvPr id="36" name="Shape 34"/>
          <p:cNvSpPr/>
          <p:nvPr/>
        </p:nvSpPr>
        <p:spPr>
          <a:xfrm flipH="1">
            <a:off x="6263640" y="3566160"/>
            <a:ext cx="0" cy="2240280"/>
          </a:xfrm>
          <a:prstGeom prst="line">
            <a:avLst/>
          </a:prstGeom>
          <a:noFill/>
          <a:ln w="15875">
            <a:solidFill>
              <a:srgbClr val="B85C2E"/>
            </a:solidFill>
            <a:prstDash val="dash"/>
            <a:headEnd type="triangle"/>
          </a:ln>
        </p:spPr>
      </p:sp>
      <p:sp>
        <p:nvSpPr>
          <p:cNvPr id="37" name="Text 35"/>
          <p:cNvSpPr txBox="1"/>
          <p:nvPr/>
        </p:nvSpPr>
        <p:spPr>
          <a:xfrm>
            <a:off x="5532120" y="4572000"/>
            <a:ext cx="1371600" cy="219456"/>
          </a:xfrm>
          <a:prstGeom prst="rect">
            <a:avLst/>
          </a:prstGeom>
          <a:noFill/>
          <a:ln/>
        </p:spPr>
        <p:txBody>
          <a:bodyPr wrap="square" lIns="0" tIns="0" rIns="0" bIns="0" rtlCol="0" anchor="ctr"/>
          <a:lstStyle/>
          <a:p>
            <a:pPr indent="0" marL="0">
              <a:buNone/>
            </a:pPr>
            <a:r>
              <a:rPr lang="en-US" sz="800" dirty="0">
                <a:solidFill>
                  <a:srgbClr val="B85C2E"/>
                </a:solidFill>
                <a:latin typeface="Courier New" pitchFamily="34" charset="0"/>
                <a:ea typeface="Courier New" pitchFamily="34" charset="-122"/>
                <a:cs typeface="Courier New" pitchFamily="34" charset="-120"/>
              </a:rPr>
              <a:t>se retroalimenta</a:t>
            </a:r>
            <a:endParaRPr lang="en-US" sz="800" dirty="0"/>
          </a:p>
        </p:txBody>
      </p:sp>
      <p:sp>
        <p:nvSpPr>
          <p:cNvPr id="38" name="Shape 36"/>
          <p:cNvSpPr/>
          <p:nvPr/>
        </p:nvSpPr>
        <p:spPr>
          <a:xfrm>
            <a:off x="6949440" y="1920240"/>
            <a:ext cx="4553712" cy="4480560"/>
          </a:xfrm>
          <a:prstGeom prst="rect">
            <a:avLst/>
          </a:prstGeom>
          <a:solidFill>
            <a:srgbClr val="FFFFFF"/>
          </a:solidFill>
          <a:ln w="12700">
            <a:solidFill>
              <a:srgbClr val="C6C4B8"/>
            </a:solidFill>
            <a:prstDash val="solid"/>
          </a:ln>
        </p:spPr>
      </p:sp>
      <p:sp>
        <p:nvSpPr>
          <p:cNvPr id="39" name="Text 37"/>
          <p:cNvSpPr txBox="1"/>
          <p:nvPr/>
        </p:nvSpPr>
        <p:spPr>
          <a:xfrm>
            <a:off x="7178040" y="2121408"/>
            <a:ext cx="3657600" cy="219456"/>
          </a:xfrm>
          <a:prstGeom prst="rect">
            <a:avLst/>
          </a:prstGeom>
          <a:noFill/>
          <a:ln/>
        </p:spPr>
        <p:txBody>
          <a:bodyPr wrap="square" lIns="0" tIns="0" rIns="0" bIns="0" rtlCol="0" anchor="ctr"/>
          <a:lstStyle/>
          <a:p>
            <a:pPr indent="0" marL="0">
              <a:buNone/>
            </a:pPr>
            <a:r>
              <a:rPr lang="en-US" sz="850" spc="50" kern="0" dirty="0">
                <a:solidFill>
                  <a:srgbClr val="1E7A52"/>
                </a:solidFill>
                <a:latin typeface="Courier New" pitchFamily="34" charset="0"/>
                <a:ea typeface="Courier New" pitchFamily="34" charset="-122"/>
                <a:cs typeface="Courier New" pitchFamily="34" charset="-120"/>
              </a:rPr>
              <a:t>CONTRAMEDIDAS</a:t>
            </a:r>
            <a:endParaRPr lang="en-US" sz="850" dirty="0"/>
          </a:p>
        </p:txBody>
      </p:sp>
      <p:sp>
        <p:nvSpPr>
          <p:cNvPr id="40" name="Shape 38"/>
          <p:cNvSpPr/>
          <p:nvPr/>
        </p:nvSpPr>
        <p:spPr>
          <a:xfrm>
            <a:off x="7178040" y="2523744"/>
            <a:ext cx="146304" cy="146304"/>
          </a:xfrm>
          <a:prstGeom prst="rect">
            <a:avLst/>
          </a:prstGeom>
          <a:solidFill>
            <a:srgbClr val="1E7A52"/>
          </a:solidFill>
          <a:ln w="12700">
            <a:solidFill>
              <a:srgbClr val="1E7A52"/>
            </a:solidFill>
            <a:prstDash val="solid"/>
          </a:ln>
        </p:spPr>
      </p:sp>
      <p:sp>
        <p:nvSpPr>
          <p:cNvPr id="41" name="Text 39"/>
          <p:cNvSpPr txBox="1"/>
          <p:nvPr/>
        </p:nvSpPr>
        <p:spPr>
          <a:xfrm>
            <a:off x="7452360" y="2450592"/>
            <a:ext cx="3840480" cy="256032"/>
          </a:xfrm>
          <a:prstGeom prst="rect">
            <a:avLst/>
          </a:prstGeom>
          <a:noFill/>
          <a:ln/>
        </p:spPr>
        <p:txBody>
          <a:bodyPr wrap="square" lIns="0" tIns="0" rIns="0" bIns="0" rtlCol="0" anchor="ctr"/>
          <a:lstStyle/>
          <a:p>
            <a:pPr indent="0" marL="0">
              <a:buNone/>
            </a:pPr>
            <a:r>
              <a:rPr lang="en-US" sz="1300" b="1" dirty="0">
                <a:solidFill>
                  <a:srgbClr val="16273F"/>
                </a:solidFill>
                <a:latin typeface="Calibri" pitchFamily="34" charset="0"/>
                <a:ea typeface="Calibri" pitchFamily="34" charset="-122"/>
                <a:cs typeface="Calibri" pitchFamily="34" charset="-120"/>
              </a:rPr>
              <a:t>Modelos vivos</a:t>
            </a:r>
            <a:endParaRPr lang="en-US" sz="1300" dirty="0"/>
          </a:p>
        </p:txBody>
      </p:sp>
      <p:sp>
        <p:nvSpPr>
          <p:cNvPr id="42" name="Text 40"/>
          <p:cNvSpPr txBox="1"/>
          <p:nvPr/>
        </p:nvSpPr>
        <p:spPr>
          <a:xfrm>
            <a:off x="7452360" y="2724912"/>
            <a:ext cx="3840480" cy="566928"/>
          </a:xfrm>
          <a:prstGeom prst="rect">
            <a:avLst/>
          </a:prstGeom>
          <a:noFill/>
          <a:ln/>
        </p:spPr>
        <p:txBody>
          <a:bodyPr wrap="square" lIns="0" tIns="0" rIns="0" bIns="0" rtlCol="0" anchor="ctr"/>
          <a:lstStyle/>
          <a:p>
            <a:pPr indent="0" marL="0">
              <a:lnSpc>
                <a:spcPts val="1500"/>
              </a:lnSpc>
              <a:buNone/>
            </a:pPr>
            <a:r>
              <a:rPr lang="en-US" sz="1150" dirty="0">
                <a:solidFill>
                  <a:srgbClr val="1F2A36"/>
                </a:solidFill>
                <a:latin typeface="Calibri" pitchFamily="34" charset="0"/>
                <a:ea typeface="Calibri" pitchFamily="34" charset="-122"/>
                <a:cs typeface="Calibri" pitchFamily="34" charset="-120"/>
              </a:rPr>
              <a:t>Diagramas y ADR versionados junto al código, no en un Drive aparte.</a:t>
            </a:r>
            <a:endParaRPr lang="en-US" sz="1150" dirty="0"/>
          </a:p>
        </p:txBody>
      </p:sp>
      <p:sp>
        <p:nvSpPr>
          <p:cNvPr id="43" name="Shape 41"/>
          <p:cNvSpPr/>
          <p:nvPr/>
        </p:nvSpPr>
        <p:spPr>
          <a:xfrm>
            <a:off x="7178040" y="3511296"/>
            <a:ext cx="146304" cy="146304"/>
          </a:xfrm>
          <a:prstGeom prst="rect">
            <a:avLst/>
          </a:prstGeom>
          <a:solidFill>
            <a:srgbClr val="1E7A52"/>
          </a:solidFill>
          <a:ln w="12700">
            <a:solidFill>
              <a:srgbClr val="1E7A52"/>
            </a:solidFill>
            <a:prstDash val="solid"/>
          </a:ln>
        </p:spPr>
      </p:sp>
      <p:sp>
        <p:nvSpPr>
          <p:cNvPr id="44" name="Text 42"/>
          <p:cNvSpPr txBox="1"/>
          <p:nvPr/>
        </p:nvSpPr>
        <p:spPr>
          <a:xfrm>
            <a:off x="7452360" y="3438144"/>
            <a:ext cx="3840480" cy="256032"/>
          </a:xfrm>
          <a:prstGeom prst="rect">
            <a:avLst/>
          </a:prstGeom>
          <a:noFill/>
          <a:ln/>
        </p:spPr>
        <p:txBody>
          <a:bodyPr wrap="square" lIns="0" tIns="0" rIns="0" bIns="0" rtlCol="0" anchor="ctr"/>
          <a:lstStyle/>
          <a:p>
            <a:pPr indent="0" marL="0">
              <a:buNone/>
            </a:pPr>
            <a:r>
              <a:rPr lang="en-US" sz="1300" b="1" dirty="0">
                <a:solidFill>
                  <a:srgbClr val="16273F"/>
                </a:solidFill>
                <a:latin typeface="Calibri" pitchFamily="34" charset="0"/>
                <a:ea typeface="Calibri" pitchFamily="34" charset="-122"/>
                <a:cs typeface="Calibri" pitchFamily="34" charset="-120"/>
              </a:rPr>
              <a:t>Fitness functions</a:t>
            </a:r>
            <a:endParaRPr lang="en-US" sz="1300" dirty="0"/>
          </a:p>
        </p:txBody>
      </p:sp>
      <p:sp>
        <p:nvSpPr>
          <p:cNvPr id="45" name="Text 43"/>
          <p:cNvSpPr txBox="1"/>
          <p:nvPr/>
        </p:nvSpPr>
        <p:spPr>
          <a:xfrm>
            <a:off x="7452360" y="3712464"/>
            <a:ext cx="3840480" cy="566928"/>
          </a:xfrm>
          <a:prstGeom prst="rect">
            <a:avLst/>
          </a:prstGeom>
          <a:noFill/>
          <a:ln/>
        </p:spPr>
        <p:txBody>
          <a:bodyPr wrap="square" lIns="0" tIns="0" rIns="0" bIns="0" rtlCol="0" anchor="ctr"/>
          <a:lstStyle/>
          <a:p>
            <a:pPr indent="0" marL="0">
              <a:lnSpc>
                <a:spcPts val="1500"/>
              </a:lnSpc>
              <a:buNone/>
            </a:pPr>
            <a:r>
              <a:rPr lang="en-US" sz="1150" dirty="0">
                <a:solidFill>
                  <a:srgbClr val="1F2A36"/>
                </a:solidFill>
                <a:latin typeface="Calibri" pitchFamily="34" charset="0"/>
                <a:ea typeface="Calibri" pitchFamily="34" charset="-122"/>
                <a:cs typeface="Calibri" pitchFamily="34" charset="-120"/>
              </a:rPr>
              <a:t>Reglas estructurales verificadas automáticamente en cada integración.</a:t>
            </a:r>
            <a:endParaRPr lang="en-US" sz="1150" dirty="0"/>
          </a:p>
        </p:txBody>
      </p:sp>
      <p:sp>
        <p:nvSpPr>
          <p:cNvPr id="46" name="Shape 44"/>
          <p:cNvSpPr/>
          <p:nvPr/>
        </p:nvSpPr>
        <p:spPr>
          <a:xfrm>
            <a:off x="7178040" y="4498848"/>
            <a:ext cx="146304" cy="146304"/>
          </a:xfrm>
          <a:prstGeom prst="rect">
            <a:avLst/>
          </a:prstGeom>
          <a:solidFill>
            <a:srgbClr val="1E7A52"/>
          </a:solidFill>
          <a:ln w="12700">
            <a:solidFill>
              <a:srgbClr val="1E7A52"/>
            </a:solidFill>
            <a:prstDash val="solid"/>
          </a:ln>
        </p:spPr>
      </p:sp>
      <p:sp>
        <p:nvSpPr>
          <p:cNvPr id="47" name="Text 45"/>
          <p:cNvSpPr txBox="1"/>
          <p:nvPr/>
        </p:nvSpPr>
        <p:spPr>
          <a:xfrm>
            <a:off x="7452360" y="4425696"/>
            <a:ext cx="3840480" cy="256032"/>
          </a:xfrm>
          <a:prstGeom prst="rect">
            <a:avLst/>
          </a:prstGeom>
          <a:noFill/>
          <a:ln/>
        </p:spPr>
        <p:txBody>
          <a:bodyPr wrap="square" lIns="0" tIns="0" rIns="0" bIns="0" rtlCol="0" anchor="ctr"/>
          <a:lstStyle/>
          <a:p>
            <a:pPr indent="0" marL="0">
              <a:buNone/>
            </a:pPr>
            <a:r>
              <a:rPr lang="en-US" sz="1300" b="1" dirty="0">
                <a:solidFill>
                  <a:srgbClr val="16273F"/>
                </a:solidFill>
                <a:latin typeface="Calibri" pitchFamily="34" charset="0"/>
                <a:ea typeface="Calibri" pitchFamily="34" charset="-122"/>
                <a:cs typeface="Calibri" pitchFamily="34" charset="-120"/>
              </a:rPr>
              <a:t>Cambios pequeños</a:t>
            </a:r>
            <a:endParaRPr lang="en-US" sz="1300" dirty="0"/>
          </a:p>
        </p:txBody>
      </p:sp>
      <p:sp>
        <p:nvSpPr>
          <p:cNvPr id="48" name="Text 46"/>
          <p:cNvSpPr txBox="1"/>
          <p:nvPr/>
        </p:nvSpPr>
        <p:spPr>
          <a:xfrm>
            <a:off x="7452360" y="4700016"/>
            <a:ext cx="3840480" cy="566928"/>
          </a:xfrm>
          <a:prstGeom prst="rect">
            <a:avLst/>
          </a:prstGeom>
          <a:noFill/>
          <a:ln/>
        </p:spPr>
        <p:txBody>
          <a:bodyPr wrap="square" lIns="0" tIns="0" rIns="0" bIns="0" rtlCol="0" anchor="ctr"/>
          <a:lstStyle/>
          <a:p>
            <a:pPr indent="0" marL="0">
              <a:lnSpc>
                <a:spcPts val="1500"/>
              </a:lnSpc>
              <a:buNone/>
            </a:pPr>
            <a:r>
              <a:rPr lang="en-US" sz="1150" dirty="0">
                <a:solidFill>
                  <a:srgbClr val="1F2A36"/>
                </a:solidFill>
                <a:latin typeface="Calibri" pitchFamily="34" charset="0"/>
                <a:ea typeface="Calibri" pitchFamily="34" charset="-122"/>
                <a:cs typeface="Calibri" pitchFamily="34" charset="-120"/>
              </a:rPr>
              <a:t>Lotes acotados que un revisor humano alcance a entender.</a:t>
            </a:r>
            <a:endParaRPr lang="en-US" sz="1150" dirty="0"/>
          </a:p>
        </p:txBody>
      </p:sp>
      <p:sp>
        <p:nvSpPr>
          <p:cNvPr id="49" name="Shape 47"/>
          <p:cNvSpPr/>
          <p:nvPr/>
        </p:nvSpPr>
        <p:spPr>
          <a:xfrm>
            <a:off x="7178040" y="5486400"/>
            <a:ext cx="146304" cy="146304"/>
          </a:xfrm>
          <a:prstGeom prst="rect">
            <a:avLst/>
          </a:prstGeom>
          <a:solidFill>
            <a:srgbClr val="1E7A52"/>
          </a:solidFill>
          <a:ln w="12700">
            <a:solidFill>
              <a:srgbClr val="1E7A52"/>
            </a:solidFill>
            <a:prstDash val="solid"/>
          </a:ln>
        </p:spPr>
      </p:sp>
      <p:sp>
        <p:nvSpPr>
          <p:cNvPr id="50" name="Text 48"/>
          <p:cNvSpPr txBox="1"/>
          <p:nvPr/>
        </p:nvSpPr>
        <p:spPr>
          <a:xfrm>
            <a:off x="7452360" y="5413248"/>
            <a:ext cx="3840480" cy="256032"/>
          </a:xfrm>
          <a:prstGeom prst="rect">
            <a:avLst/>
          </a:prstGeom>
          <a:noFill/>
          <a:ln/>
        </p:spPr>
        <p:txBody>
          <a:bodyPr wrap="square" lIns="0" tIns="0" rIns="0" bIns="0" rtlCol="0" anchor="ctr"/>
          <a:lstStyle/>
          <a:p>
            <a:pPr indent="0" marL="0">
              <a:buNone/>
            </a:pPr>
            <a:r>
              <a:rPr lang="en-US" sz="1300" b="1" dirty="0">
                <a:solidFill>
                  <a:srgbClr val="16273F"/>
                </a:solidFill>
                <a:latin typeface="Calibri" pitchFamily="34" charset="0"/>
                <a:ea typeface="Calibri" pitchFamily="34" charset="-122"/>
                <a:cs typeface="Calibri" pitchFamily="34" charset="-120"/>
              </a:rPr>
              <a:t>Carga cognitiva del equipo</a:t>
            </a:r>
            <a:endParaRPr lang="en-US" sz="1300" dirty="0"/>
          </a:p>
        </p:txBody>
      </p:sp>
      <p:sp>
        <p:nvSpPr>
          <p:cNvPr id="51" name="Text 49"/>
          <p:cNvSpPr txBox="1"/>
          <p:nvPr/>
        </p:nvSpPr>
        <p:spPr>
          <a:xfrm>
            <a:off x="7452360" y="5687568"/>
            <a:ext cx="3840480" cy="566928"/>
          </a:xfrm>
          <a:prstGeom prst="rect">
            <a:avLst/>
          </a:prstGeom>
          <a:noFill/>
          <a:ln/>
        </p:spPr>
        <p:txBody>
          <a:bodyPr wrap="square" lIns="0" tIns="0" rIns="0" bIns="0" rtlCol="0" anchor="ctr"/>
          <a:lstStyle/>
          <a:p>
            <a:pPr indent="0" marL="0">
              <a:lnSpc>
                <a:spcPts val="1500"/>
              </a:lnSpc>
              <a:buNone/>
            </a:pPr>
            <a:r>
              <a:rPr lang="en-US" sz="1150" dirty="0">
                <a:solidFill>
                  <a:srgbClr val="1F2A36"/>
                </a:solidFill>
                <a:latin typeface="Calibri" pitchFamily="34" charset="0"/>
                <a:ea typeface="Calibri" pitchFamily="34" charset="-122"/>
                <a:cs typeface="Calibri" pitchFamily="34" charset="-120"/>
              </a:rPr>
              <a:t>Medirla y tratarla como restricción de diseño, no como queja.</a:t>
            </a:r>
            <a:endParaRPr lang="en-US" sz="1150" dirty="0"/>
          </a:p>
        </p:txBody>
      </p:sp>
      <p:sp>
        <p:nvSpPr>
          <p:cNvPr id="52" name="Text 50"/>
          <p:cNvSpPr txBox="1"/>
          <p:nvPr/>
        </p:nvSpPr>
        <p:spPr>
          <a:xfrm>
            <a:off x="685800" y="6583680"/>
            <a:ext cx="6400800" cy="237744"/>
          </a:xfrm>
          <a:prstGeom prst="rect">
            <a:avLst/>
          </a:prstGeom>
          <a:noFill/>
          <a:ln/>
        </p:spPr>
        <p:txBody>
          <a:bodyPr wrap="square" lIns="0" tIns="0" rIns="0" bIns="0" rtlCol="0" anchor="ctr"/>
          <a:lstStyle/>
          <a:p>
            <a:pPr indent="0" marL="0">
              <a:buNone/>
            </a:pPr>
            <a:r>
              <a:rPr lang="en-US" sz="800" dirty="0">
                <a:solidFill>
                  <a:srgbClr val="707C86"/>
                </a:solidFill>
                <a:latin typeface="Courier New" pitchFamily="34" charset="0"/>
                <a:ea typeface="Courier New" pitchFamily="34" charset="-122"/>
                <a:cs typeface="Courier New" pitchFamily="34" charset="-120"/>
              </a:rPr>
              <a:t>AREM · Módulo 9 · Evaluación de Riesgos Arquitectónicos</a:t>
            </a:r>
            <a:endParaRPr lang="en-US" sz="800" dirty="0"/>
          </a:p>
        </p:txBody>
      </p:sp>
      <p:sp>
        <p:nvSpPr>
          <p:cNvPr id="53" name="Text 51"/>
          <p:cNvSpPr txBox="1"/>
          <p:nvPr/>
        </p:nvSpPr>
        <p:spPr>
          <a:xfrm>
            <a:off x="10881360" y="6583680"/>
            <a:ext cx="621792" cy="237744"/>
          </a:xfrm>
          <a:prstGeom prst="rect">
            <a:avLst/>
          </a:prstGeom>
          <a:noFill/>
          <a:ln/>
        </p:spPr>
        <p:txBody>
          <a:bodyPr wrap="square" lIns="0" tIns="0" rIns="0" bIns="0" rtlCol="0" anchor="ctr"/>
          <a:lstStyle/>
          <a:p>
            <a:pPr algn="r" indent="0" marL="0">
              <a:buNone/>
            </a:pPr>
            <a:r>
              <a:rPr lang="en-US" sz="800" dirty="0">
                <a:solidFill>
                  <a:srgbClr val="707C86"/>
                </a:solidFill>
                <a:latin typeface="Courier New" pitchFamily="34" charset="0"/>
                <a:ea typeface="Courier New" pitchFamily="34" charset="-122"/>
                <a:cs typeface="Courier New" pitchFamily="34" charset="-120"/>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4ED"/>
        </a:solidFill>
      </p:bgPr>
    </p:bg>
    <p:spTree>
      <p:nvGrpSpPr>
        <p:cNvPr id="1" name=""/>
        <p:cNvGrpSpPr/>
        <p:nvPr/>
      </p:nvGrpSpPr>
      <p:grpSpPr>
        <a:xfrm>
          <a:off x="0" y="0"/>
          <a:ext cx="0" cy="0"/>
          <a:chOff x="0" y="0"/>
          <a:chExt cx="0" cy="0"/>
        </a:xfrm>
      </p:grpSpPr>
      <p:sp>
        <p:nvSpPr>
          <p:cNvPr id="2" name="Shape 0"/>
          <p:cNvSpPr/>
          <p:nvPr/>
        </p:nvSpPr>
        <p:spPr>
          <a:xfrm>
            <a:off x="384048" y="310896"/>
            <a:ext cx="11420856" cy="10973"/>
          </a:xfrm>
          <a:prstGeom prst="rect">
            <a:avLst/>
          </a:prstGeom>
          <a:solidFill>
            <a:srgbClr val="C6C4B8"/>
          </a:solidFill>
          <a:ln w="12700">
            <a:solidFill>
              <a:srgbClr val="C6C4B8"/>
            </a:solidFill>
            <a:prstDash val="solid"/>
          </a:ln>
        </p:spPr>
      </p:sp>
      <p:sp>
        <p:nvSpPr>
          <p:cNvPr id="3" name="Shape 1"/>
          <p:cNvSpPr/>
          <p:nvPr/>
        </p:nvSpPr>
        <p:spPr>
          <a:xfrm>
            <a:off x="384048" y="6510528"/>
            <a:ext cx="11420856" cy="10973"/>
          </a:xfrm>
          <a:prstGeom prst="rect">
            <a:avLst/>
          </a:prstGeom>
          <a:solidFill>
            <a:srgbClr val="C6C4B8"/>
          </a:solidFill>
          <a:ln w="12700">
            <a:solidFill>
              <a:srgbClr val="C6C4B8"/>
            </a:solidFill>
            <a:prstDash val="solid"/>
          </a:ln>
        </p:spPr>
      </p:sp>
      <p:sp>
        <p:nvSpPr>
          <p:cNvPr id="4" name="Shape 2"/>
          <p:cNvSpPr/>
          <p:nvPr/>
        </p:nvSpPr>
        <p:spPr>
          <a:xfrm>
            <a:off x="384048" y="310896"/>
            <a:ext cx="10973" cy="6208776"/>
          </a:xfrm>
          <a:prstGeom prst="rect">
            <a:avLst/>
          </a:prstGeom>
          <a:solidFill>
            <a:srgbClr val="C6C4B8"/>
          </a:solidFill>
          <a:ln w="12700">
            <a:solidFill>
              <a:srgbClr val="C6C4B8"/>
            </a:solidFill>
            <a:prstDash val="solid"/>
          </a:ln>
        </p:spPr>
      </p:sp>
      <p:sp>
        <p:nvSpPr>
          <p:cNvPr id="5" name="Shape 3"/>
          <p:cNvSpPr/>
          <p:nvPr/>
        </p:nvSpPr>
        <p:spPr>
          <a:xfrm>
            <a:off x="11795760" y="310896"/>
            <a:ext cx="10973" cy="6208776"/>
          </a:xfrm>
          <a:prstGeom prst="rect">
            <a:avLst/>
          </a:prstGeom>
          <a:solidFill>
            <a:srgbClr val="C6C4B8"/>
          </a:solidFill>
          <a:ln w="12700">
            <a:solidFill>
              <a:srgbClr val="C6C4B8"/>
            </a:solidFill>
            <a:prstDash val="solid"/>
          </a:ln>
        </p:spPr>
      </p:sp>
      <p:sp>
        <p:nvSpPr>
          <p:cNvPr id="6" name="Shape 4"/>
          <p:cNvSpPr/>
          <p:nvPr/>
        </p:nvSpPr>
        <p:spPr>
          <a:xfrm>
            <a:off x="283464" y="306324"/>
            <a:ext cx="201168" cy="9144"/>
          </a:xfrm>
          <a:prstGeom prst="rect">
            <a:avLst/>
          </a:prstGeom>
          <a:solidFill>
            <a:srgbClr val="5A7189"/>
          </a:solidFill>
          <a:ln w="12700">
            <a:solidFill>
              <a:srgbClr val="5A7189"/>
            </a:solidFill>
            <a:prstDash val="solid"/>
          </a:ln>
        </p:spPr>
      </p:sp>
      <p:sp>
        <p:nvSpPr>
          <p:cNvPr id="7" name="Shape 5"/>
          <p:cNvSpPr/>
          <p:nvPr/>
        </p:nvSpPr>
        <p:spPr>
          <a:xfrm>
            <a:off x="379476" y="210312"/>
            <a:ext cx="9144" cy="201168"/>
          </a:xfrm>
          <a:prstGeom prst="rect">
            <a:avLst/>
          </a:prstGeom>
          <a:solidFill>
            <a:srgbClr val="5A7189"/>
          </a:solidFill>
          <a:ln w="12700">
            <a:solidFill>
              <a:srgbClr val="5A7189"/>
            </a:solidFill>
            <a:prstDash val="solid"/>
          </a:ln>
        </p:spPr>
      </p:sp>
      <p:sp>
        <p:nvSpPr>
          <p:cNvPr id="8" name="Shape 6"/>
          <p:cNvSpPr/>
          <p:nvPr/>
        </p:nvSpPr>
        <p:spPr>
          <a:xfrm>
            <a:off x="11695176" y="306324"/>
            <a:ext cx="201168" cy="9144"/>
          </a:xfrm>
          <a:prstGeom prst="rect">
            <a:avLst/>
          </a:prstGeom>
          <a:solidFill>
            <a:srgbClr val="5A7189"/>
          </a:solidFill>
          <a:ln w="12700">
            <a:solidFill>
              <a:srgbClr val="5A7189"/>
            </a:solidFill>
            <a:prstDash val="solid"/>
          </a:ln>
        </p:spPr>
      </p:sp>
      <p:sp>
        <p:nvSpPr>
          <p:cNvPr id="9" name="Shape 7"/>
          <p:cNvSpPr/>
          <p:nvPr/>
        </p:nvSpPr>
        <p:spPr>
          <a:xfrm>
            <a:off x="11791188" y="210312"/>
            <a:ext cx="9144" cy="201168"/>
          </a:xfrm>
          <a:prstGeom prst="rect">
            <a:avLst/>
          </a:prstGeom>
          <a:solidFill>
            <a:srgbClr val="5A7189"/>
          </a:solidFill>
          <a:ln w="12700">
            <a:solidFill>
              <a:srgbClr val="5A7189"/>
            </a:solidFill>
            <a:prstDash val="solid"/>
          </a:ln>
        </p:spPr>
      </p:sp>
      <p:sp>
        <p:nvSpPr>
          <p:cNvPr id="10" name="Shape 8"/>
          <p:cNvSpPr/>
          <p:nvPr/>
        </p:nvSpPr>
        <p:spPr>
          <a:xfrm>
            <a:off x="283464" y="6505956"/>
            <a:ext cx="201168" cy="9144"/>
          </a:xfrm>
          <a:prstGeom prst="rect">
            <a:avLst/>
          </a:prstGeom>
          <a:solidFill>
            <a:srgbClr val="5A7189"/>
          </a:solidFill>
          <a:ln w="12700">
            <a:solidFill>
              <a:srgbClr val="5A7189"/>
            </a:solidFill>
            <a:prstDash val="solid"/>
          </a:ln>
        </p:spPr>
      </p:sp>
      <p:sp>
        <p:nvSpPr>
          <p:cNvPr id="11" name="Shape 9"/>
          <p:cNvSpPr/>
          <p:nvPr/>
        </p:nvSpPr>
        <p:spPr>
          <a:xfrm>
            <a:off x="379476" y="6409944"/>
            <a:ext cx="9144" cy="201168"/>
          </a:xfrm>
          <a:prstGeom prst="rect">
            <a:avLst/>
          </a:prstGeom>
          <a:solidFill>
            <a:srgbClr val="5A7189"/>
          </a:solidFill>
          <a:ln w="12700">
            <a:solidFill>
              <a:srgbClr val="5A7189"/>
            </a:solidFill>
            <a:prstDash val="solid"/>
          </a:ln>
        </p:spPr>
      </p:sp>
      <p:sp>
        <p:nvSpPr>
          <p:cNvPr id="12" name="Shape 10"/>
          <p:cNvSpPr/>
          <p:nvPr/>
        </p:nvSpPr>
        <p:spPr>
          <a:xfrm>
            <a:off x="11695176" y="6505956"/>
            <a:ext cx="201168" cy="9144"/>
          </a:xfrm>
          <a:prstGeom prst="rect">
            <a:avLst/>
          </a:prstGeom>
          <a:solidFill>
            <a:srgbClr val="5A7189"/>
          </a:solidFill>
          <a:ln w="12700">
            <a:solidFill>
              <a:srgbClr val="5A7189"/>
            </a:solidFill>
            <a:prstDash val="solid"/>
          </a:ln>
        </p:spPr>
      </p:sp>
      <p:sp>
        <p:nvSpPr>
          <p:cNvPr id="13" name="Shape 11"/>
          <p:cNvSpPr/>
          <p:nvPr/>
        </p:nvSpPr>
        <p:spPr>
          <a:xfrm>
            <a:off x="11791188" y="6409944"/>
            <a:ext cx="9144" cy="201168"/>
          </a:xfrm>
          <a:prstGeom prst="rect">
            <a:avLst/>
          </a:prstGeom>
          <a:solidFill>
            <a:srgbClr val="5A7189"/>
          </a:solidFill>
          <a:ln w="12700">
            <a:solidFill>
              <a:srgbClr val="5A7189"/>
            </a:solidFill>
            <a:prstDash val="solid"/>
          </a:ln>
        </p:spPr>
      </p:sp>
      <p:sp>
        <p:nvSpPr>
          <p:cNvPr id="14" name="Text 12"/>
          <p:cNvSpPr txBox="1"/>
          <p:nvPr/>
        </p:nvSpPr>
        <p:spPr>
          <a:xfrm>
            <a:off x="685800" y="566928"/>
            <a:ext cx="7315200" cy="237744"/>
          </a:xfrm>
          <a:prstGeom prst="rect">
            <a:avLst/>
          </a:prstGeom>
          <a:noFill/>
          <a:ln/>
        </p:spPr>
        <p:txBody>
          <a:bodyPr wrap="square" lIns="0" tIns="0" rIns="0" bIns="0" rtlCol="0" anchor="ctr"/>
          <a:lstStyle/>
          <a:p>
            <a:pPr indent="0" marL="0">
              <a:buNone/>
            </a:pPr>
            <a:r>
              <a:rPr lang="en-US" sz="1000" spc="100" kern="0" dirty="0">
                <a:solidFill>
                  <a:srgbClr val="B85C2E"/>
                </a:solidFill>
                <a:latin typeface="Courier New" pitchFamily="34" charset="0"/>
                <a:ea typeface="Courier New" pitchFamily="34" charset="-122"/>
                <a:cs typeface="Courier New" pitchFamily="34" charset="-120"/>
              </a:rPr>
              <a:t>06 · IDENTIFICACIÓN</a:t>
            </a:r>
            <a:endParaRPr lang="en-US" sz="1000" dirty="0"/>
          </a:p>
        </p:txBody>
      </p:sp>
      <p:sp>
        <p:nvSpPr>
          <p:cNvPr id="15" name="Text 13"/>
          <p:cNvSpPr txBox="1"/>
          <p:nvPr/>
        </p:nvSpPr>
        <p:spPr>
          <a:xfrm>
            <a:off x="685800" y="822960"/>
            <a:ext cx="10820095" cy="566928"/>
          </a:xfrm>
          <a:prstGeom prst="rect">
            <a:avLst/>
          </a:prstGeom>
          <a:noFill/>
          <a:ln/>
        </p:spPr>
        <p:txBody>
          <a:bodyPr wrap="square" lIns="0" tIns="0" rIns="0" bIns="0" rtlCol="0" anchor="ctr"/>
          <a:lstStyle/>
          <a:p>
            <a:pPr indent="0" marL="0">
              <a:buNone/>
            </a:pPr>
            <a:r>
              <a:rPr lang="en-US" sz="3000" b="1" dirty="0">
                <a:solidFill>
                  <a:srgbClr val="16273F"/>
                </a:solidFill>
                <a:latin typeface="Arial" pitchFamily="34" charset="0"/>
                <a:ea typeface="Arial" pitchFamily="34" charset="-122"/>
                <a:cs typeface="Arial" pitchFamily="34" charset="-120"/>
              </a:rPr>
              <a:t>Cuatro métodos para encontrar lo que no se ve</a:t>
            </a:r>
            <a:endParaRPr lang="en-US" sz="3000" dirty="0"/>
          </a:p>
        </p:txBody>
      </p:sp>
      <p:sp>
        <p:nvSpPr>
          <p:cNvPr id="16" name="Text 14"/>
          <p:cNvSpPr txBox="1"/>
          <p:nvPr/>
        </p:nvSpPr>
        <p:spPr>
          <a:xfrm>
            <a:off x="685800" y="1389888"/>
            <a:ext cx="10820095" cy="310896"/>
          </a:xfrm>
          <a:prstGeom prst="rect">
            <a:avLst/>
          </a:prstGeom>
          <a:noFill/>
          <a:ln/>
        </p:spPr>
        <p:txBody>
          <a:bodyPr wrap="square" lIns="0" tIns="0" rIns="0" bIns="0" rtlCol="0" anchor="ctr"/>
          <a:lstStyle/>
          <a:p>
            <a:pPr indent="0" marL="0">
              <a:buNone/>
            </a:pPr>
            <a:r>
              <a:rPr lang="en-US" sz="1350" dirty="0">
                <a:solidFill>
                  <a:srgbClr val="707C86"/>
                </a:solidFill>
                <a:latin typeface="Calibri" pitchFamily="34" charset="0"/>
                <a:ea typeface="Calibri" pitchFamily="34" charset="-122"/>
                <a:cs typeface="Calibri" pitchFamily="34" charset="-120"/>
              </a:rPr>
              <a:t>Cada uno cubre un punto ciego de los otros tres</a:t>
            </a:r>
            <a:endParaRPr lang="en-US" sz="1350" dirty="0"/>
          </a:p>
        </p:txBody>
      </p:sp>
      <p:sp>
        <p:nvSpPr>
          <p:cNvPr id="17" name="Shape 15"/>
          <p:cNvSpPr/>
          <p:nvPr/>
        </p:nvSpPr>
        <p:spPr>
          <a:xfrm>
            <a:off x="685800" y="1965960"/>
            <a:ext cx="5376672" cy="1965960"/>
          </a:xfrm>
          <a:prstGeom prst="rect">
            <a:avLst/>
          </a:prstGeom>
          <a:solidFill>
            <a:srgbClr val="FFFFFF"/>
          </a:solidFill>
          <a:ln w="12700">
            <a:solidFill>
              <a:srgbClr val="C6C4B8"/>
            </a:solidFill>
            <a:prstDash val="solid"/>
          </a:ln>
        </p:spPr>
      </p:sp>
      <p:sp>
        <p:nvSpPr>
          <p:cNvPr id="18" name="Text 16"/>
          <p:cNvSpPr txBox="1"/>
          <p:nvPr/>
        </p:nvSpPr>
        <p:spPr>
          <a:xfrm>
            <a:off x="941832" y="2148840"/>
            <a:ext cx="1828800" cy="219456"/>
          </a:xfrm>
          <a:prstGeom prst="rect">
            <a:avLst/>
          </a:prstGeom>
          <a:noFill/>
          <a:ln/>
        </p:spPr>
        <p:txBody>
          <a:bodyPr wrap="square" lIns="0" tIns="0" rIns="0" bIns="0" rtlCol="0" anchor="ctr"/>
          <a:lstStyle/>
          <a:p>
            <a:pPr indent="0" marL="0">
              <a:buNone/>
            </a:pPr>
            <a:r>
              <a:rPr lang="en-US" sz="850" spc="50" kern="0" dirty="0">
                <a:solidFill>
                  <a:srgbClr val="B85C2E"/>
                </a:solidFill>
                <a:latin typeface="Courier New" pitchFamily="34" charset="0"/>
                <a:ea typeface="Courier New" pitchFamily="34" charset="-122"/>
                <a:cs typeface="Courier New" pitchFamily="34" charset="-120"/>
              </a:rPr>
              <a:t>SISTEMA</a:t>
            </a:r>
            <a:endParaRPr lang="en-US" sz="850" dirty="0"/>
          </a:p>
        </p:txBody>
      </p:sp>
      <p:sp>
        <p:nvSpPr>
          <p:cNvPr id="19" name="Text 17"/>
          <p:cNvSpPr txBox="1"/>
          <p:nvPr/>
        </p:nvSpPr>
        <p:spPr>
          <a:xfrm>
            <a:off x="941832" y="2404872"/>
            <a:ext cx="4846320" cy="310896"/>
          </a:xfrm>
          <a:prstGeom prst="rect">
            <a:avLst/>
          </a:prstGeom>
          <a:noFill/>
          <a:ln/>
        </p:spPr>
        <p:txBody>
          <a:bodyPr wrap="square" lIns="0" tIns="0" rIns="0" bIns="0" rtlCol="0" anchor="ctr"/>
          <a:lstStyle/>
          <a:p>
            <a:pPr indent="0" marL="0">
              <a:buNone/>
            </a:pPr>
            <a:r>
              <a:rPr lang="en-US" sz="1500" b="1" dirty="0">
                <a:solidFill>
                  <a:srgbClr val="16273F"/>
                </a:solidFill>
                <a:latin typeface="Arial" pitchFamily="34" charset="0"/>
                <a:ea typeface="Arial" pitchFamily="34" charset="-122"/>
                <a:cs typeface="Arial" pitchFamily="34" charset="-120"/>
              </a:rPr>
              <a:t>Análisis de arquitectura</a:t>
            </a:r>
            <a:endParaRPr lang="en-US" sz="1500" dirty="0"/>
          </a:p>
        </p:txBody>
      </p:sp>
      <p:sp>
        <p:nvSpPr>
          <p:cNvPr id="20" name="Text 18"/>
          <p:cNvSpPr txBox="1"/>
          <p:nvPr/>
        </p:nvSpPr>
        <p:spPr>
          <a:xfrm>
            <a:off x="941832" y="2752344"/>
            <a:ext cx="4846320" cy="566928"/>
          </a:xfrm>
          <a:prstGeom prst="rect">
            <a:avLst/>
          </a:prstGeom>
          <a:noFill/>
          <a:ln/>
        </p:spPr>
        <p:txBody>
          <a:bodyPr wrap="square" lIns="0" tIns="0" rIns="0" bIns="0" rtlCol="0" anchor="ctr"/>
          <a:lstStyle/>
          <a:p>
            <a:pPr indent="0" marL="0">
              <a:lnSpc>
                <a:spcPts val="1600"/>
              </a:lnSpc>
              <a:buNone/>
            </a:pPr>
            <a:r>
              <a:rPr lang="en-US" sz="1200" dirty="0">
                <a:solidFill>
                  <a:srgbClr val="1F2A36"/>
                </a:solidFill>
                <a:latin typeface="Calibri" pitchFamily="34" charset="0"/>
                <a:ea typeface="Calibri" pitchFamily="34" charset="-122"/>
                <a:cs typeface="Calibri" pitchFamily="34" charset="-120"/>
              </a:rPr>
              <a:t>Examina el diseño estructural buscando vulnerabilidades, puntos únicos de fallo e ineficiencias.</a:t>
            </a:r>
            <a:endParaRPr lang="en-US" sz="1200" dirty="0"/>
          </a:p>
        </p:txBody>
      </p:sp>
      <p:sp>
        <p:nvSpPr>
          <p:cNvPr id="21" name="Shape 19"/>
          <p:cNvSpPr/>
          <p:nvPr/>
        </p:nvSpPr>
        <p:spPr>
          <a:xfrm>
            <a:off x="941832" y="3355848"/>
            <a:ext cx="4846320" cy="411480"/>
          </a:xfrm>
          <a:prstGeom prst="rect">
            <a:avLst/>
          </a:prstGeom>
          <a:solidFill>
            <a:srgbClr val="EFEDE3"/>
          </a:solidFill>
          <a:ln w="12700">
            <a:solidFill>
              <a:srgbClr val="EFEDE3"/>
            </a:solidFill>
            <a:prstDash val="solid"/>
          </a:ln>
        </p:spPr>
      </p:sp>
      <p:sp>
        <p:nvSpPr>
          <p:cNvPr id="22" name="Text 20"/>
          <p:cNvSpPr txBox="1"/>
          <p:nvPr/>
        </p:nvSpPr>
        <p:spPr>
          <a:xfrm>
            <a:off x="1069848" y="3355848"/>
            <a:ext cx="4617720" cy="411480"/>
          </a:xfrm>
          <a:prstGeom prst="rect">
            <a:avLst/>
          </a:prstGeom>
          <a:noFill/>
          <a:ln/>
        </p:spPr>
        <p:txBody>
          <a:bodyPr wrap="square" lIns="0" tIns="0" rIns="0" bIns="0" rtlCol="0" anchor="ctr"/>
          <a:lstStyle/>
          <a:p>
            <a:pPr indent="0" marL="0">
              <a:buNone/>
            </a:pPr>
            <a:r>
              <a:rPr lang="en-US" sz="1150" i="1" dirty="0">
                <a:solidFill>
                  <a:srgbClr val="27405C"/>
                </a:solidFill>
                <a:latin typeface="Calibri" pitchFamily="34" charset="0"/>
                <a:ea typeface="Calibri" pitchFamily="34" charset="-122"/>
                <a:cs typeface="Calibri" pitchFamily="34" charset="-120"/>
              </a:rPr>
              <a:t>¿Qué pasa si este componente deja de responder?</a:t>
            </a:r>
            <a:endParaRPr lang="en-US" sz="1150" dirty="0"/>
          </a:p>
        </p:txBody>
      </p:sp>
      <p:sp>
        <p:nvSpPr>
          <p:cNvPr id="23" name="Shape 21"/>
          <p:cNvSpPr/>
          <p:nvPr/>
        </p:nvSpPr>
        <p:spPr>
          <a:xfrm>
            <a:off x="6309360" y="1965960"/>
            <a:ext cx="5376672" cy="1965960"/>
          </a:xfrm>
          <a:prstGeom prst="rect">
            <a:avLst/>
          </a:prstGeom>
          <a:solidFill>
            <a:srgbClr val="FFFFFF"/>
          </a:solidFill>
          <a:ln w="12700">
            <a:solidFill>
              <a:srgbClr val="C6C4B8"/>
            </a:solidFill>
            <a:prstDash val="solid"/>
          </a:ln>
        </p:spPr>
      </p:sp>
      <p:sp>
        <p:nvSpPr>
          <p:cNvPr id="24" name="Text 22"/>
          <p:cNvSpPr txBox="1"/>
          <p:nvPr/>
        </p:nvSpPr>
        <p:spPr>
          <a:xfrm>
            <a:off x="6565392" y="2148840"/>
            <a:ext cx="1828800" cy="219456"/>
          </a:xfrm>
          <a:prstGeom prst="rect">
            <a:avLst/>
          </a:prstGeom>
          <a:noFill/>
          <a:ln/>
        </p:spPr>
        <p:txBody>
          <a:bodyPr wrap="square" lIns="0" tIns="0" rIns="0" bIns="0" rtlCol="0" anchor="ctr"/>
          <a:lstStyle/>
          <a:p>
            <a:pPr indent="0" marL="0">
              <a:buNone/>
            </a:pPr>
            <a:r>
              <a:rPr lang="en-US" sz="850" spc="50" kern="0" dirty="0">
                <a:solidFill>
                  <a:srgbClr val="B85C2E"/>
                </a:solidFill>
                <a:latin typeface="Courier New" pitchFamily="34" charset="0"/>
                <a:ea typeface="Courier New" pitchFamily="34" charset="-122"/>
                <a:cs typeface="Courier New" pitchFamily="34" charset="-120"/>
              </a:rPr>
              <a:t>RED</a:t>
            </a:r>
            <a:endParaRPr lang="en-US" sz="850" dirty="0"/>
          </a:p>
        </p:txBody>
      </p:sp>
      <p:sp>
        <p:nvSpPr>
          <p:cNvPr id="25" name="Text 23"/>
          <p:cNvSpPr txBox="1"/>
          <p:nvPr/>
        </p:nvSpPr>
        <p:spPr>
          <a:xfrm>
            <a:off x="6565392" y="2404872"/>
            <a:ext cx="4846320" cy="310896"/>
          </a:xfrm>
          <a:prstGeom prst="rect">
            <a:avLst/>
          </a:prstGeom>
          <a:noFill/>
          <a:ln/>
        </p:spPr>
        <p:txBody>
          <a:bodyPr wrap="square" lIns="0" tIns="0" rIns="0" bIns="0" rtlCol="0" anchor="ctr"/>
          <a:lstStyle/>
          <a:p>
            <a:pPr indent="0" marL="0">
              <a:buNone/>
            </a:pPr>
            <a:r>
              <a:rPr lang="en-US" sz="1500" b="1" dirty="0">
                <a:solidFill>
                  <a:srgbClr val="16273F"/>
                </a:solidFill>
                <a:latin typeface="Arial" pitchFamily="34" charset="0"/>
                <a:ea typeface="Arial" pitchFamily="34" charset="-122"/>
                <a:cs typeface="Arial" pitchFamily="34" charset="-120"/>
              </a:rPr>
              <a:t>Análisis de dependencias</a:t>
            </a:r>
            <a:endParaRPr lang="en-US" sz="1500" dirty="0"/>
          </a:p>
        </p:txBody>
      </p:sp>
      <p:sp>
        <p:nvSpPr>
          <p:cNvPr id="26" name="Text 24"/>
          <p:cNvSpPr txBox="1"/>
          <p:nvPr/>
        </p:nvSpPr>
        <p:spPr>
          <a:xfrm>
            <a:off x="6565392" y="2752344"/>
            <a:ext cx="4846320" cy="566928"/>
          </a:xfrm>
          <a:prstGeom prst="rect">
            <a:avLst/>
          </a:prstGeom>
          <a:noFill/>
          <a:ln/>
        </p:spPr>
        <p:txBody>
          <a:bodyPr wrap="square" lIns="0" tIns="0" rIns="0" bIns="0" rtlCol="0" anchor="ctr"/>
          <a:lstStyle/>
          <a:p>
            <a:pPr indent="0" marL="0">
              <a:lnSpc>
                <a:spcPts val="1600"/>
              </a:lnSpc>
              <a:buNone/>
            </a:pPr>
            <a:r>
              <a:rPr lang="en-US" sz="1200" dirty="0">
                <a:solidFill>
                  <a:srgbClr val="1F2A36"/>
                </a:solidFill>
                <a:latin typeface="Calibri" pitchFamily="34" charset="0"/>
                <a:ea typeface="Calibri" pitchFamily="34" charset="-122"/>
                <a:cs typeface="Calibri" pitchFamily="34" charset="-120"/>
              </a:rPr>
              <a:t>Evalúa las interconexiones y revela cómo un fallo localizado se propaga en cascada.</a:t>
            </a:r>
            <a:endParaRPr lang="en-US" sz="1200" dirty="0"/>
          </a:p>
        </p:txBody>
      </p:sp>
      <p:sp>
        <p:nvSpPr>
          <p:cNvPr id="27" name="Shape 25"/>
          <p:cNvSpPr/>
          <p:nvPr/>
        </p:nvSpPr>
        <p:spPr>
          <a:xfrm>
            <a:off x="6565392" y="3355848"/>
            <a:ext cx="4846320" cy="411480"/>
          </a:xfrm>
          <a:prstGeom prst="rect">
            <a:avLst/>
          </a:prstGeom>
          <a:solidFill>
            <a:srgbClr val="EFEDE3"/>
          </a:solidFill>
          <a:ln w="12700">
            <a:solidFill>
              <a:srgbClr val="EFEDE3"/>
            </a:solidFill>
            <a:prstDash val="solid"/>
          </a:ln>
        </p:spPr>
      </p:sp>
      <p:sp>
        <p:nvSpPr>
          <p:cNvPr id="28" name="Text 26"/>
          <p:cNvSpPr txBox="1"/>
          <p:nvPr/>
        </p:nvSpPr>
        <p:spPr>
          <a:xfrm>
            <a:off x="6693408" y="3355848"/>
            <a:ext cx="4617720" cy="411480"/>
          </a:xfrm>
          <a:prstGeom prst="rect">
            <a:avLst/>
          </a:prstGeom>
          <a:noFill/>
          <a:ln/>
        </p:spPr>
        <p:txBody>
          <a:bodyPr wrap="square" lIns="0" tIns="0" rIns="0" bIns="0" rtlCol="0" anchor="ctr"/>
          <a:lstStyle/>
          <a:p>
            <a:pPr indent="0" marL="0">
              <a:buNone/>
            </a:pPr>
            <a:r>
              <a:rPr lang="en-US" sz="1150" i="1" dirty="0">
                <a:solidFill>
                  <a:srgbClr val="27405C"/>
                </a:solidFill>
                <a:latin typeface="Calibri" pitchFamily="34" charset="0"/>
                <a:ea typeface="Calibri" pitchFamily="34" charset="-122"/>
                <a:cs typeface="Calibri" pitchFamily="34" charset="-120"/>
              </a:rPr>
              <a:t>¿Hasta dónde llega el daño si cae el proveedor de pagos?</a:t>
            </a:r>
            <a:endParaRPr lang="en-US" sz="1150" dirty="0"/>
          </a:p>
        </p:txBody>
      </p:sp>
      <p:sp>
        <p:nvSpPr>
          <p:cNvPr id="29" name="Shape 27"/>
          <p:cNvSpPr/>
          <p:nvPr/>
        </p:nvSpPr>
        <p:spPr>
          <a:xfrm>
            <a:off x="685800" y="4114800"/>
            <a:ext cx="5376672" cy="1965960"/>
          </a:xfrm>
          <a:prstGeom prst="rect">
            <a:avLst/>
          </a:prstGeom>
          <a:solidFill>
            <a:srgbClr val="FFFFFF"/>
          </a:solidFill>
          <a:ln w="12700">
            <a:solidFill>
              <a:srgbClr val="C6C4B8"/>
            </a:solidFill>
            <a:prstDash val="solid"/>
          </a:ln>
        </p:spPr>
      </p:sp>
      <p:sp>
        <p:nvSpPr>
          <p:cNvPr id="30" name="Text 28"/>
          <p:cNvSpPr txBox="1"/>
          <p:nvPr/>
        </p:nvSpPr>
        <p:spPr>
          <a:xfrm>
            <a:off x="941832" y="4297680"/>
            <a:ext cx="1828800" cy="219456"/>
          </a:xfrm>
          <a:prstGeom prst="rect">
            <a:avLst/>
          </a:prstGeom>
          <a:noFill/>
          <a:ln/>
        </p:spPr>
        <p:txBody>
          <a:bodyPr wrap="square" lIns="0" tIns="0" rIns="0" bIns="0" rtlCol="0" anchor="ctr"/>
          <a:lstStyle/>
          <a:p>
            <a:pPr indent="0" marL="0">
              <a:buNone/>
            </a:pPr>
            <a:r>
              <a:rPr lang="en-US" sz="850" spc="50" kern="0" dirty="0">
                <a:solidFill>
                  <a:srgbClr val="B85C2E"/>
                </a:solidFill>
                <a:latin typeface="Courier New" pitchFamily="34" charset="0"/>
                <a:ea typeface="Courier New" pitchFamily="34" charset="-122"/>
                <a:cs typeface="Courier New" pitchFamily="34" charset="-120"/>
              </a:rPr>
              <a:t>HISTÓRICO</a:t>
            </a:r>
            <a:endParaRPr lang="en-US" sz="850" dirty="0"/>
          </a:p>
        </p:txBody>
      </p:sp>
      <p:sp>
        <p:nvSpPr>
          <p:cNvPr id="31" name="Text 29"/>
          <p:cNvSpPr txBox="1"/>
          <p:nvPr/>
        </p:nvSpPr>
        <p:spPr>
          <a:xfrm>
            <a:off x="941832" y="4553712"/>
            <a:ext cx="4846320" cy="310896"/>
          </a:xfrm>
          <a:prstGeom prst="rect">
            <a:avLst/>
          </a:prstGeom>
          <a:noFill/>
          <a:ln/>
        </p:spPr>
        <p:txBody>
          <a:bodyPr wrap="square" lIns="0" tIns="0" rIns="0" bIns="0" rtlCol="0" anchor="ctr"/>
          <a:lstStyle/>
          <a:p>
            <a:pPr indent="0" marL="0">
              <a:buNone/>
            </a:pPr>
            <a:r>
              <a:rPr lang="en-US" sz="1500" b="1" dirty="0">
                <a:solidFill>
                  <a:srgbClr val="16273F"/>
                </a:solidFill>
                <a:latin typeface="Arial" pitchFamily="34" charset="0"/>
                <a:ea typeface="Arial" pitchFamily="34" charset="-122"/>
                <a:cs typeface="Arial" pitchFamily="34" charset="-120"/>
              </a:rPr>
              <a:t>Listas de verificación</a:t>
            </a:r>
            <a:endParaRPr lang="en-US" sz="1500" dirty="0"/>
          </a:p>
        </p:txBody>
      </p:sp>
      <p:sp>
        <p:nvSpPr>
          <p:cNvPr id="32" name="Text 30"/>
          <p:cNvSpPr txBox="1"/>
          <p:nvPr/>
        </p:nvSpPr>
        <p:spPr>
          <a:xfrm>
            <a:off x="941832" y="4901184"/>
            <a:ext cx="4846320" cy="566928"/>
          </a:xfrm>
          <a:prstGeom prst="rect">
            <a:avLst/>
          </a:prstGeom>
          <a:noFill/>
          <a:ln/>
        </p:spPr>
        <p:txBody>
          <a:bodyPr wrap="square" lIns="0" tIns="0" rIns="0" bIns="0" rtlCol="0" anchor="ctr"/>
          <a:lstStyle/>
          <a:p>
            <a:pPr indent="0" marL="0">
              <a:lnSpc>
                <a:spcPts val="1600"/>
              </a:lnSpc>
              <a:buNone/>
            </a:pPr>
            <a:r>
              <a:rPr lang="en-US" sz="1200" dirty="0">
                <a:solidFill>
                  <a:srgbClr val="1F2A36"/>
                </a:solidFill>
                <a:latin typeface="Calibri" pitchFamily="34" charset="0"/>
                <a:ea typeface="Calibri" pitchFamily="34" charset="-122"/>
                <a:cs typeface="Calibri" pitchFamily="34" charset="-120"/>
              </a:rPr>
              <a:t>Usa experiencia previa y estándares de industria para una detección sistemática.</a:t>
            </a:r>
            <a:endParaRPr lang="en-US" sz="1200" dirty="0"/>
          </a:p>
        </p:txBody>
      </p:sp>
      <p:sp>
        <p:nvSpPr>
          <p:cNvPr id="33" name="Shape 31"/>
          <p:cNvSpPr/>
          <p:nvPr/>
        </p:nvSpPr>
        <p:spPr>
          <a:xfrm>
            <a:off x="941832" y="5504688"/>
            <a:ext cx="4846320" cy="411480"/>
          </a:xfrm>
          <a:prstGeom prst="rect">
            <a:avLst/>
          </a:prstGeom>
          <a:solidFill>
            <a:srgbClr val="EFEDE3"/>
          </a:solidFill>
          <a:ln w="12700">
            <a:solidFill>
              <a:srgbClr val="EFEDE3"/>
            </a:solidFill>
            <a:prstDash val="solid"/>
          </a:ln>
        </p:spPr>
      </p:sp>
      <p:sp>
        <p:nvSpPr>
          <p:cNvPr id="34" name="Text 32"/>
          <p:cNvSpPr txBox="1"/>
          <p:nvPr/>
        </p:nvSpPr>
        <p:spPr>
          <a:xfrm>
            <a:off x="1069848" y="5504688"/>
            <a:ext cx="4617720" cy="411480"/>
          </a:xfrm>
          <a:prstGeom prst="rect">
            <a:avLst/>
          </a:prstGeom>
          <a:noFill/>
          <a:ln/>
        </p:spPr>
        <p:txBody>
          <a:bodyPr wrap="square" lIns="0" tIns="0" rIns="0" bIns="0" rtlCol="0" anchor="ctr"/>
          <a:lstStyle/>
          <a:p>
            <a:pPr indent="0" marL="0">
              <a:buNone/>
            </a:pPr>
            <a:r>
              <a:rPr lang="en-US" sz="1150" i="1" dirty="0">
                <a:solidFill>
                  <a:srgbClr val="27405C"/>
                </a:solidFill>
                <a:latin typeface="Calibri" pitchFamily="34" charset="0"/>
                <a:ea typeface="Calibri" pitchFamily="34" charset="-122"/>
                <a:cs typeface="Calibri" pitchFamily="34" charset="-120"/>
              </a:rPr>
              <a:t>¿Qué le ha pasado antes a sistemas como este?</a:t>
            </a:r>
            <a:endParaRPr lang="en-US" sz="1150" dirty="0"/>
          </a:p>
        </p:txBody>
      </p:sp>
      <p:sp>
        <p:nvSpPr>
          <p:cNvPr id="35" name="Shape 33"/>
          <p:cNvSpPr/>
          <p:nvPr/>
        </p:nvSpPr>
        <p:spPr>
          <a:xfrm>
            <a:off x="6309360" y="4114800"/>
            <a:ext cx="5376672" cy="1965960"/>
          </a:xfrm>
          <a:prstGeom prst="rect">
            <a:avLst/>
          </a:prstGeom>
          <a:solidFill>
            <a:srgbClr val="FFFFFF"/>
          </a:solidFill>
          <a:ln w="12700">
            <a:solidFill>
              <a:srgbClr val="C6C4B8"/>
            </a:solidFill>
            <a:prstDash val="solid"/>
          </a:ln>
        </p:spPr>
      </p:sp>
      <p:sp>
        <p:nvSpPr>
          <p:cNvPr id="36" name="Text 34"/>
          <p:cNvSpPr txBox="1"/>
          <p:nvPr/>
        </p:nvSpPr>
        <p:spPr>
          <a:xfrm>
            <a:off x="6565392" y="4297680"/>
            <a:ext cx="1828800" cy="219456"/>
          </a:xfrm>
          <a:prstGeom prst="rect">
            <a:avLst/>
          </a:prstGeom>
          <a:noFill/>
          <a:ln/>
        </p:spPr>
        <p:txBody>
          <a:bodyPr wrap="square" lIns="0" tIns="0" rIns="0" bIns="0" rtlCol="0" anchor="ctr"/>
          <a:lstStyle/>
          <a:p>
            <a:pPr indent="0" marL="0">
              <a:buNone/>
            </a:pPr>
            <a:r>
              <a:rPr lang="en-US" sz="850" spc="50" kern="0" dirty="0">
                <a:solidFill>
                  <a:srgbClr val="B85C2E"/>
                </a:solidFill>
                <a:latin typeface="Courier New" pitchFamily="34" charset="0"/>
                <a:ea typeface="Courier New" pitchFamily="34" charset="-122"/>
                <a:cs typeface="Courier New" pitchFamily="34" charset="-120"/>
              </a:rPr>
              <a:t>PERSONAS</a:t>
            </a:r>
            <a:endParaRPr lang="en-US" sz="850" dirty="0"/>
          </a:p>
        </p:txBody>
      </p:sp>
      <p:sp>
        <p:nvSpPr>
          <p:cNvPr id="37" name="Text 35"/>
          <p:cNvSpPr txBox="1"/>
          <p:nvPr/>
        </p:nvSpPr>
        <p:spPr>
          <a:xfrm>
            <a:off x="6565392" y="4553712"/>
            <a:ext cx="4846320" cy="310896"/>
          </a:xfrm>
          <a:prstGeom prst="rect">
            <a:avLst/>
          </a:prstGeom>
          <a:noFill/>
          <a:ln/>
        </p:spPr>
        <p:txBody>
          <a:bodyPr wrap="square" lIns="0" tIns="0" rIns="0" bIns="0" rtlCol="0" anchor="ctr"/>
          <a:lstStyle/>
          <a:p>
            <a:pPr indent="0" marL="0">
              <a:buNone/>
            </a:pPr>
            <a:r>
              <a:rPr lang="en-US" sz="1500" b="1" dirty="0">
                <a:solidFill>
                  <a:srgbClr val="16273F"/>
                </a:solidFill>
                <a:latin typeface="Arial" pitchFamily="34" charset="0"/>
                <a:ea typeface="Arial" pitchFamily="34" charset="-122"/>
                <a:cs typeface="Arial" pitchFamily="34" charset="-120"/>
              </a:rPr>
              <a:t>Consulta a interesados</a:t>
            </a:r>
            <a:endParaRPr lang="en-US" sz="1500" dirty="0"/>
          </a:p>
        </p:txBody>
      </p:sp>
      <p:sp>
        <p:nvSpPr>
          <p:cNvPr id="38" name="Text 36"/>
          <p:cNvSpPr txBox="1"/>
          <p:nvPr/>
        </p:nvSpPr>
        <p:spPr>
          <a:xfrm>
            <a:off x="6565392" y="4901184"/>
            <a:ext cx="4846320" cy="566928"/>
          </a:xfrm>
          <a:prstGeom prst="rect">
            <a:avLst/>
          </a:prstGeom>
          <a:noFill/>
          <a:ln/>
        </p:spPr>
        <p:txBody>
          <a:bodyPr wrap="square" lIns="0" tIns="0" rIns="0" bIns="0" rtlCol="0" anchor="ctr"/>
          <a:lstStyle/>
          <a:p>
            <a:pPr indent="0" marL="0">
              <a:lnSpc>
                <a:spcPts val="1600"/>
              </a:lnSpc>
              <a:buNone/>
            </a:pPr>
            <a:r>
              <a:rPr lang="en-US" sz="1200" dirty="0">
                <a:solidFill>
                  <a:srgbClr val="1F2A36"/>
                </a:solidFill>
                <a:latin typeface="Calibri" pitchFamily="34" charset="0"/>
                <a:ea typeface="Calibri" pitchFamily="34" charset="-122"/>
                <a:cs typeface="Calibri" pitchFamily="34" charset="-120"/>
              </a:rPr>
              <a:t>Recoge la perspectiva de usuarios finales y expertos mediante entrevistas.</a:t>
            </a:r>
            <a:endParaRPr lang="en-US" sz="1200" dirty="0"/>
          </a:p>
        </p:txBody>
      </p:sp>
      <p:sp>
        <p:nvSpPr>
          <p:cNvPr id="39" name="Shape 37"/>
          <p:cNvSpPr/>
          <p:nvPr/>
        </p:nvSpPr>
        <p:spPr>
          <a:xfrm>
            <a:off x="6565392" y="5504688"/>
            <a:ext cx="4846320" cy="411480"/>
          </a:xfrm>
          <a:prstGeom prst="rect">
            <a:avLst/>
          </a:prstGeom>
          <a:solidFill>
            <a:srgbClr val="EFEDE3"/>
          </a:solidFill>
          <a:ln w="12700">
            <a:solidFill>
              <a:srgbClr val="EFEDE3"/>
            </a:solidFill>
            <a:prstDash val="solid"/>
          </a:ln>
        </p:spPr>
      </p:sp>
      <p:sp>
        <p:nvSpPr>
          <p:cNvPr id="40" name="Text 38"/>
          <p:cNvSpPr txBox="1"/>
          <p:nvPr/>
        </p:nvSpPr>
        <p:spPr>
          <a:xfrm>
            <a:off x="6693408" y="5504688"/>
            <a:ext cx="4617720" cy="411480"/>
          </a:xfrm>
          <a:prstGeom prst="rect">
            <a:avLst/>
          </a:prstGeom>
          <a:noFill/>
          <a:ln/>
        </p:spPr>
        <p:txBody>
          <a:bodyPr wrap="square" lIns="0" tIns="0" rIns="0" bIns="0" rtlCol="0" anchor="ctr"/>
          <a:lstStyle/>
          <a:p>
            <a:pPr indent="0" marL="0">
              <a:buNone/>
            </a:pPr>
            <a:r>
              <a:rPr lang="en-US" sz="1150" i="1" dirty="0">
                <a:solidFill>
                  <a:srgbClr val="27405C"/>
                </a:solidFill>
                <a:latin typeface="Calibri" pitchFamily="34" charset="0"/>
                <a:ea typeface="Calibri" pitchFamily="34" charset="-122"/>
                <a:cs typeface="Calibri" pitchFamily="34" charset="-120"/>
              </a:rPr>
              <a:t>¿Qué es lo que más miedo le da al equipo del cliente?</a:t>
            </a:r>
            <a:endParaRPr lang="en-US" sz="1150" dirty="0"/>
          </a:p>
        </p:txBody>
      </p:sp>
      <p:sp>
        <p:nvSpPr>
          <p:cNvPr id="41" name="Text 39"/>
          <p:cNvSpPr txBox="1"/>
          <p:nvPr/>
        </p:nvSpPr>
        <p:spPr>
          <a:xfrm>
            <a:off x="685800" y="6583680"/>
            <a:ext cx="6400800" cy="237744"/>
          </a:xfrm>
          <a:prstGeom prst="rect">
            <a:avLst/>
          </a:prstGeom>
          <a:noFill/>
          <a:ln/>
        </p:spPr>
        <p:txBody>
          <a:bodyPr wrap="square" lIns="0" tIns="0" rIns="0" bIns="0" rtlCol="0" anchor="ctr"/>
          <a:lstStyle/>
          <a:p>
            <a:pPr indent="0" marL="0">
              <a:buNone/>
            </a:pPr>
            <a:r>
              <a:rPr lang="en-US" sz="800" dirty="0">
                <a:solidFill>
                  <a:srgbClr val="707C86"/>
                </a:solidFill>
                <a:latin typeface="Courier New" pitchFamily="34" charset="0"/>
                <a:ea typeface="Courier New" pitchFamily="34" charset="-122"/>
                <a:cs typeface="Courier New" pitchFamily="34" charset="-120"/>
              </a:rPr>
              <a:t>AREM · Módulo 9 · Evaluación de Riesgos Arquitectónicos</a:t>
            </a:r>
            <a:endParaRPr lang="en-US" sz="800" dirty="0"/>
          </a:p>
        </p:txBody>
      </p:sp>
      <p:sp>
        <p:nvSpPr>
          <p:cNvPr id="42" name="Text 40"/>
          <p:cNvSpPr txBox="1"/>
          <p:nvPr/>
        </p:nvSpPr>
        <p:spPr>
          <a:xfrm>
            <a:off x="10881360" y="6583680"/>
            <a:ext cx="621792" cy="237744"/>
          </a:xfrm>
          <a:prstGeom prst="rect">
            <a:avLst/>
          </a:prstGeom>
          <a:noFill/>
          <a:ln/>
        </p:spPr>
        <p:txBody>
          <a:bodyPr wrap="square" lIns="0" tIns="0" rIns="0" bIns="0" rtlCol="0" anchor="ctr"/>
          <a:lstStyle/>
          <a:p>
            <a:pPr algn="r" indent="0" marL="0">
              <a:buNone/>
            </a:pPr>
            <a:r>
              <a:rPr lang="en-US" sz="800" dirty="0">
                <a:solidFill>
                  <a:srgbClr val="707C86"/>
                </a:solidFill>
                <a:latin typeface="Courier New" pitchFamily="34" charset="0"/>
                <a:ea typeface="Courier New" pitchFamily="34" charset="-122"/>
                <a:cs typeface="Courier New" pitchFamily="34" charset="-120"/>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4ED"/>
        </a:solidFill>
      </p:bgPr>
    </p:bg>
    <p:spTree>
      <p:nvGrpSpPr>
        <p:cNvPr id="1" name=""/>
        <p:cNvGrpSpPr/>
        <p:nvPr/>
      </p:nvGrpSpPr>
      <p:grpSpPr>
        <a:xfrm>
          <a:off x="0" y="0"/>
          <a:ext cx="0" cy="0"/>
          <a:chOff x="0" y="0"/>
          <a:chExt cx="0" cy="0"/>
        </a:xfrm>
      </p:grpSpPr>
      <p:sp>
        <p:nvSpPr>
          <p:cNvPr id="2" name="Shape 0"/>
          <p:cNvSpPr/>
          <p:nvPr/>
        </p:nvSpPr>
        <p:spPr>
          <a:xfrm>
            <a:off x="384048" y="310896"/>
            <a:ext cx="11420856" cy="10973"/>
          </a:xfrm>
          <a:prstGeom prst="rect">
            <a:avLst/>
          </a:prstGeom>
          <a:solidFill>
            <a:srgbClr val="C6C4B8"/>
          </a:solidFill>
          <a:ln w="12700">
            <a:solidFill>
              <a:srgbClr val="C6C4B8"/>
            </a:solidFill>
            <a:prstDash val="solid"/>
          </a:ln>
        </p:spPr>
      </p:sp>
      <p:sp>
        <p:nvSpPr>
          <p:cNvPr id="3" name="Shape 1"/>
          <p:cNvSpPr/>
          <p:nvPr/>
        </p:nvSpPr>
        <p:spPr>
          <a:xfrm>
            <a:off x="384048" y="6510528"/>
            <a:ext cx="11420856" cy="10973"/>
          </a:xfrm>
          <a:prstGeom prst="rect">
            <a:avLst/>
          </a:prstGeom>
          <a:solidFill>
            <a:srgbClr val="C6C4B8"/>
          </a:solidFill>
          <a:ln w="12700">
            <a:solidFill>
              <a:srgbClr val="C6C4B8"/>
            </a:solidFill>
            <a:prstDash val="solid"/>
          </a:ln>
        </p:spPr>
      </p:sp>
      <p:sp>
        <p:nvSpPr>
          <p:cNvPr id="4" name="Shape 2"/>
          <p:cNvSpPr/>
          <p:nvPr/>
        </p:nvSpPr>
        <p:spPr>
          <a:xfrm>
            <a:off x="384048" y="310896"/>
            <a:ext cx="10973" cy="6208776"/>
          </a:xfrm>
          <a:prstGeom prst="rect">
            <a:avLst/>
          </a:prstGeom>
          <a:solidFill>
            <a:srgbClr val="C6C4B8"/>
          </a:solidFill>
          <a:ln w="12700">
            <a:solidFill>
              <a:srgbClr val="C6C4B8"/>
            </a:solidFill>
            <a:prstDash val="solid"/>
          </a:ln>
        </p:spPr>
      </p:sp>
      <p:sp>
        <p:nvSpPr>
          <p:cNvPr id="5" name="Shape 3"/>
          <p:cNvSpPr/>
          <p:nvPr/>
        </p:nvSpPr>
        <p:spPr>
          <a:xfrm>
            <a:off x="11795760" y="310896"/>
            <a:ext cx="10973" cy="6208776"/>
          </a:xfrm>
          <a:prstGeom prst="rect">
            <a:avLst/>
          </a:prstGeom>
          <a:solidFill>
            <a:srgbClr val="C6C4B8"/>
          </a:solidFill>
          <a:ln w="12700">
            <a:solidFill>
              <a:srgbClr val="C6C4B8"/>
            </a:solidFill>
            <a:prstDash val="solid"/>
          </a:ln>
        </p:spPr>
      </p:sp>
      <p:sp>
        <p:nvSpPr>
          <p:cNvPr id="6" name="Shape 4"/>
          <p:cNvSpPr/>
          <p:nvPr/>
        </p:nvSpPr>
        <p:spPr>
          <a:xfrm>
            <a:off x="283464" y="306324"/>
            <a:ext cx="201168" cy="9144"/>
          </a:xfrm>
          <a:prstGeom prst="rect">
            <a:avLst/>
          </a:prstGeom>
          <a:solidFill>
            <a:srgbClr val="5A7189"/>
          </a:solidFill>
          <a:ln w="12700">
            <a:solidFill>
              <a:srgbClr val="5A7189"/>
            </a:solidFill>
            <a:prstDash val="solid"/>
          </a:ln>
        </p:spPr>
      </p:sp>
      <p:sp>
        <p:nvSpPr>
          <p:cNvPr id="7" name="Shape 5"/>
          <p:cNvSpPr/>
          <p:nvPr/>
        </p:nvSpPr>
        <p:spPr>
          <a:xfrm>
            <a:off x="379476" y="210312"/>
            <a:ext cx="9144" cy="201168"/>
          </a:xfrm>
          <a:prstGeom prst="rect">
            <a:avLst/>
          </a:prstGeom>
          <a:solidFill>
            <a:srgbClr val="5A7189"/>
          </a:solidFill>
          <a:ln w="12700">
            <a:solidFill>
              <a:srgbClr val="5A7189"/>
            </a:solidFill>
            <a:prstDash val="solid"/>
          </a:ln>
        </p:spPr>
      </p:sp>
      <p:sp>
        <p:nvSpPr>
          <p:cNvPr id="8" name="Shape 6"/>
          <p:cNvSpPr/>
          <p:nvPr/>
        </p:nvSpPr>
        <p:spPr>
          <a:xfrm>
            <a:off x="11695176" y="306324"/>
            <a:ext cx="201168" cy="9144"/>
          </a:xfrm>
          <a:prstGeom prst="rect">
            <a:avLst/>
          </a:prstGeom>
          <a:solidFill>
            <a:srgbClr val="5A7189"/>
          </a:solidFill>
          <a:ln w="12700">
            <a:solidFill>
              <a:srgbClr val="5A7189"/>
            </a:solidFill>
            <a:prstDash val="solid"/>
          </a:ln>
        </p:spPr>
      </p:sp>
      <p:sp>
        <p:nvSpPr>
          <p:cNvPr id="9" name="Shape 7"/>
          <p:cNvSpPr/>
          <p:nvPr/>
        </p:nvSpPr>
        <p:spPr>
          <a:xfrm>
            <a:off x="11791188" y="210312"/>
            <a:ext cx="9144" cy="201168"/>
          </a:xfrm>
          <a:prstGeom prst="rect">
            <a:avLst/>
          </a:prstGeom>
          <a:solidFill>
            <a:srgbClr val="5A7189"/>
          </a:solidFill>
          <a:ln w="12700">
            <a:solidFill>
              <a:srgbClr val="5A7189"/>
            </a:solidFill>
            <a:prstDash val="solid"/>
          </a:ln>
        </p:spPr>
      </p:sp>
      <p:sp>
        <p:nvSpPr>
          <p:cNvPr id="10" name="Shape 8"/>
          <p:cNvSpPr/>
          <p:nvPr/>
        </p:nvSpPr>
        <p:spPr>
          <a:xfrm>
            <a:off x="283464" y="6505956"/>
            <a:ext cx="201168" cy="9144"/>
          </a:xfrm>
          <a:prstGeom prst="rect">
            <a:avLst/>
          </a:prstGeom>
          <a:solidFill>
            <a:srgbClr val="5A7189"/>
          </a:solidFill>
          <a:ln w="12700">
            <a:solidFill>
              <a:srgbClr val="5A7189"/>
            </a:solidFill>
            <a:prstDash val="solid"/>
          </a:ln>
        </p:spPr>
      </p:sp>
      <p:sp>
        <p:nvSpPr>
          <p:cNvPr id="11" name="Shape 9"/>
          <p:cNvSpPr/>
          <p:nvPr/>
        </p:nvSpPr>
        <p:spPr>
          <a:xfrm>
            <a:off x="379476" y="6409944"/>
            <a:ext cx="9144" cy="201168"/>
          </a:xfrm>
          <a:prstGeom prst="rect">
            <a:avLst/>
          </a:prstGeom>
          <a:solidFill>
            <a:srgbClr val="5A7189"/>
          </a:solidFill>
          <a:ln w="12700">
            <a:solidFill>
              <a:srgbClr val="5A7189"/>
            </a:solidFill>
            <a:prstDash val="solid"/>
          </a:ln>
        </p:spPr>
      </p:sp>
      <p:sp>
        <p:nvSpPr>
          <p:cNvPr id="12" name="Shape 10"/>
          <p:cNvSpPr/>
          <p:nvPr/>
        </p:nvSpPr>
        <p:spPr>
          <a:xfrm>
            <a:off x="11695176" y="6505956"/>
            <a:ext cx="201168" cy="9144"/>
          </a:xfrm>
          <a:prstGeom prst="rect">
            <a:avLst/>
          </a:prstGeom>
          <a:solidFill>
            <a:srgbClr val="5A7189"/>
          </a:solidFill>
          <a:ln w="12700">
            <a:solidFill>
              <a:srgbClr val="5A7189"/>
            </a:solidFill>
            <a:prstDash val="solid"/>
          </a:ln>
        </p:spPr>
      </p:sp>
      <p:sp>
        <p:nvSpPr>
          <p:cNvPr id="13" name="Shape 11"/>
          <p:cNvSpPr/>
          <p:nvPr/>
        </p:nvSpPr>
        <p:spPr>
          <a:xfrm>
            <a:off x="11791188" y="6409944"/>
            <a:ext cx="9144" cy="201168"/>
          </a:xfrm>
          <a:prstGeom prst="rect">
            <a:avLst/>
          </a:prstGeom>
          <a:solidFill>
            <a:srgbClr val="5A7189"/>
          </a:solidFill>
          <a:ln w="12700">
            <a:solidFill>
              <a:srgbClr val="5A7189"/>
            </a:solidFill>
            <a:prstDash val="solid"/>
          </a:ln>
        </p:spPr>
      </p:sp>
      <p:sp>
        <p:nvSpPr>
          <p:cNvPr id="14" name="Text 12"/>
          <p:cNvSpPr txBox="1"/>
          <p:nvPr/>
        </p:nvSpPr>
        <p:spPr>
          <a:xfrm>
            <a:off x="685800" y="566928"/>
            <a:ext cx="7315200" cy="237744"/>
          </a:xfrm>
          <a:prstGeom prst="rect">
            <a:avLst/>
          </a:prstGeom>
          <a:noFill/>
          <a:ln/>
        </p:spPr>
        <p:txBody>
          <a:bodyPr wrap="square" lIns="0" tIns="0" rIns="0" bIns="0" rtlCol="0" anchor="ctr"/>
          <a:lstStyle/>
          <a:p>
            <a:pPr indent="0" marL="0">
              <a:buNone/>
            </a:pPr>
            <a:r>
              <a:rPr lang="en-US" sz="1000" spc="100" kern="0" dirty="0">
                <a:solidFill>
                  <a:srgbClr val="B85C2E"/>
                </a:solidFill>
                <a:latin typeface="Courier New" pitchFamily="34" charset="0"/>
                <a:ea typeface="Courier New" pitchFamily="34" charset="-122"/>
                <a:cs typeface="Courier New" pitchFamily="34" charset="-120"/>
              </a:rPr>
              <a:t>07 · MÉTODO</a:t>
            </a:r>
            <a:endParaRPr lang="en-US" sz="1000" dirty="0"/>
          </a:p>
        </p:txBody>
      </p:sp>
      <p:sp>
        <p:nvSpPr>
          <p:cNvPr id="15" name="Text 13"/>
          <p:cNvSpPr txBox="1"/>
          <p:nvPr/>
        </p:nvSpPr>
        <p:spPr>
          <a:xfrm>
            <a:off x="685800" y="822960"/>
            <a:ext cx="10820095" cy="566928"/>
          </a:xfrm>
          <a:prstGeom prst="rect">
            <a:avLst/>
          </a:prstGeom>
          <a:noFill/>
          <a:ln/>
        </p:spPr>
        <p:txBody>
          <a:bodyPr wrap="square" lIns="0" tIns="0" rIns="0" bIns="0" rtlCol="0" anchor="ctr"/>
          <a:lstStyle/>
          <a:p>
            <a:pPr indent="0" marL="0">
              <a:buNone/>
            </a:pPr>
            <a:r>
              <a:rPr lang="en-US" sz="3000" b="1" dirty="0">
                <a:solidFill>
                  <a:srgbClr val="16273F"/>
                </a:solidFill>
                <a:latin typeface="Arial" pitchFamily="34" charset="0"/>
                <a:ea typeface="Arial" pitchFamily="34" charset="-122"/>
                <a:cs typeface="Arial" pitchFamily="34" charset="-120"/>
              </a:rPr>
              <a:t>ATAM: el método formal de evaluación</a:t>
            </a:r>
            <a:endParaRPr lang="en-US" sz="3000" dirty="0"/>
          </a:p>
        </p:txBody>
      </p:sp>
      <p:sp>
        <p:nvSpPr>
          <p:cNvPr id="16" name="Text 14"/>
          <p:cNvSpPr txBox="1"/>
          <p:nvPr/>
        </p:nvSpPr>
        <p:spPr>
          <a:xfrm>
            <a:off x="685800" y="1389888"/>
            <a:ext cx="10820095" cy="310896"/>
          </a:xfrm>
          <a:prstGeom prst="rect">
            <a:avLst/>
          </a:prstGeom>
          <a:noFill/>
          <a:ln/>
        </p:spPr>
        <p:txBody>
          <a:bodyPr wrap="square" lIns="0" tIns="0" rIns="0" bIns="0" rtlCol="0" anchor="ctr"/>
          <a:lstStyle/>
          <a:p>
            <a:pPr indent="0" marL="0">
              <a:buNone/>
            </a:pPr>
            <a:r>
              <a:rPr lang="en-US" sz="1350" dirty="0">
                <a:solidFill>
                  <a:srgbClr val="707C86"/>
                </a:solidFill>
                <a:latin typeface="Calibri" pitchFamily="34" charset="0"/>
                <a:ea typeface="Calibri" pitchFamily="34" charset="-122"/>
                <a:cs typeface="Calibri" pitchFamily="34" charset="-120"/>
              </a:rPr>
              <a:t>Architecture Tradeoff Analysis Method · Software Engineering Institute</a:t>
            </a:r>
            <a:endParaRPr lang="en-US" sz="1350" dirty="0"/>
          </a:p>
        </p:txBody>
      </p:sp>
      <p:sp>
        <p:nvSpPr>
          <p:cNvPr id="17" name="Text 15"/>
          <p:cNvSpPr txBox="1"/>
          <p:nvPr/>
        </p:nvSpPr>
        <p:spPr>
          <a:xfrm>
            <a:off x="685800" y="1920240"/>
            <a:ext cx="10820095" cy="457200"/>
          </a:xfrm>
          <a:prstGeom prst="rect">
            <a:avLst/>
          </a:prstGeom>
          <a:noFill/>
          <a:ln/>
        </p:spPr>
        <p:txBody>
          <a:bodyPr wrap="square" lIns="0" tIns="0" rIns="0" bIns="0" rtlCol="0" anchor="ctr"/>
          <a:lstStyle/>
          <a:p>
            <a:pPr indent="0" marL="0">
              <a:buNone/>
            </a:pPr>
            <a:r>
              <a:rPr lang="en-US" sz="1300" dirty="0">
                <a:solidFill>
                  <a:srgbClr val="1F2A36"/>
                </a:solidFill>
                <a:latin typeface="Calibri" pitchFamily="34" charset="0"/>
                <a:ea typeface="Calibri" pitchFamily="34" charset="-122"/>
                <a:cs typeface="Calibri" pitchFamily="34" charset="-120"/>
              </a:rPr>
              <a:t>Es el método de referencia para evaluar una arquitectura antes de construirla. No busca errores: busca dónde la arquitectura pone en riesgo los atributos de calidad que el negocio necesita.</a:t>
            </a:r>
            <a:endParaRPr lang="en-US" sz="1300" dirty="0"/>
          </a:p>
        </p:txBody>
      </p:sp>
      <p:sp>
        <p:nvSpPr>
          <p:cNvPr id="18" name="Text 16"/>
          <p:cNvSpPr txBox="1"/>
          <p:nvPr/>
        </p:nvSpPr>
        <p:spPr>
          <a:xfrm>
            <a:off x="685800" y="2542032"/>
            <a:ext cx="3657600" cy="219456"/>
          </a:xfrm>
          <a:prstGeom prst="rect">
            <a:avLst/>
          </a:prstGeom>
          <a:noFill/>
          <a:ln/>
        </p:spPr>
        <p:txBody>
          <a:bodyPr wrap="square" lIns="0" tIns="0" rIns="0" bIns="0" rtlCol="0" anchor="ctr"/>
          <a:lstStyle/>
          <a:p>
            <a:pPr indent="0" marL="0">
              <a:buNone/>
            </a:pPr>
            <a:r>
              <a:rPr lang="en-US" sz="850" spc="50" kern="0" dirty="0">
                <a:solidFill>
                  <a:srgbClr val="B85C2E"/>
                </a:solidFill>
                <a:latin typeface="Courier New" pitchFamily="34" charset="0"/>
                <a:ea typeface="Courier New" pitchFamily="34" charset="-122"/>
                <a:cs typeface="Courier New" pitchFamily="34" charset="-120"/>
              </a:rPr>
              <a:t>SECUENCIA SIMPLIFICADA</a:t>
            </a:r>
            <a:endParaRPr lang="en-US" sz="850" dirty="0"/>
          </a:p>
        </p:txBody>
      </p:sp>
      <p:sp>
        <p:nvSpPr>
          <p:cNvPr id="19" name="Shape 17"/>
          <p:cNvSpPr/>
          <p:nvPr/>
        </p:nvSpPr>
        <p:spPr>
          <a:xfrm>
            <a:off x="685800" y="2834640"/>
            <a:ext cx="2606040" cy="1371600"/>
          </a:xfrm>
          <a:prstGeom prst="rect">
            <a:avLst/>
          </a:prstGeom>
          <a:solidFill>
            <a:srgbClr val="FFFFFF"/>
          </a:solidFill>
          <a:ln w="12700">
            <a:solidFill>
              <a:srgbClr val="C6C4B8"/>
            </a:solidFill>
            <a:prstDash val="solid"/>
          </a:ln>
        </p:spPr>
      </p:sp>
      <p:sp>
        <p:nvSpPr>
          <p:cNvPr id="20" name="Text 18"/>
          <p:cNvSpPr txBox="1"/>
          <p:nvPr/>
        </p:nvSpPr>
        <p:spPr>
          <a:xfrm>
            <a:off x="886968" y="2944368"/>
            <a:ext cx="365760" cy="274320"/>
          </a:xfrm>
          <a:prstGeom prst="rect">
            <a:avLst/>
          </a:prstGeom>
          <a:noFill/>
          <a:ln/>
        </p:spPr>
        <p:txBody>
          <a:bodyPr wrap="square" lIns="0" tIns="0" rIns="0" bIns="0" rtlCol="0" anchor="ctr"/>
          <a:lstStyle/>
          <a:p>
            <a:pPr indent="0" marL="0">
              <a:buNone/>
            </a:pPr>
            <a:r>
              <a:rPr lang="en-US" sz="1300" b="1" dirty="0">
                <a:solidFill>
                  <a:srgbClr val="B85C2E"/>
                </a:solidFill>
                <a:latin typeface="Courier New" pitchFamily="34" charset="0"/>
                <a:ea typeface="Courier New" pitchFamily="34" charset="-122"/>
                <a:cs typeface="Courier New" pitchFamily="34" charset="-120"/>
              </a:rPr>
              <a:t>1</a:t>
            </a:r>
            <a:endParaRPr lang="en-US" sz="1300" dirty="0"/>
          </a:p>
        </p:txBody>
      </p:sp>
      <p:sp>
        <p:nvSpPr>
          <p:cNvPr id="21" name="Text 19"/>
          <p:cNvSpPr txBox="1"/>
          <p:nvPr/>
        </p:nvSpPr>
        <p:spPr>
          <a:xfrm>
            <a:off x="886968" y="3246120"/>
            <a:ext cx="2194560" cy="274320"/>
          </a:xfrm>
          <a:prstGeom prst="rect">
            <a:avLst/>
          </a:prstGeom>
          <a:noFill/>
          <a:ln/>
        </p:spPr>
        <p:txBody>
          <a:bodyPr wrap="square" lIns="0" tIns="0" rIns="0" bIns="0" rtlCol="0" anchor="ctr"/>
          <a:lstStyle/>
          <a:p>
            <a:pPr indent="0" marL="0">
              <a:buNone/>
            </a:pPr>
            <a:r>
              <a:rPr lang="en-US" sz="1300" b="1" dirty="0">
                <a:solidFill>
                  <a:srgbClr val="16273F"/>
                </a:solidFill>
                <a:latin typeface="Calibri" pitchFamily="34" charset="0"/>
                <a:ea typeface="Calibri" pitchFamily="34" charset="-122"/>
                <a:cs typeface="Calibri" pitchFamily="34" charset="-120"/>
              </a:rPr>
              <a:t>Drivers de negocio</a:t>
            </a:r>
            <a:endParaRPr lang="en-US" sz="1300" dirty="0"/>
          </a:p>
        </p:txBody>
      </p:sp>
      <p:sp>
        <p:nvSpPr>
          <p:cNvPr id="22" name="Text 20"/>
          <p:cNvSpPr txBox="1"/>
          <p:nvPr/>
        </p:nvSpPr>
        <p:spPr>
          <a:xfrm>
            <a:off x="886968" y="3547872"/>
            <a:ext cx="2194560" cy="548640"/>
          </a:xfrm>
          <a:prstGeom prst="rect">
            <a:avLst/>
          </a:prstGeom>
          <a:noFill/>
          <a:ln/>
        </p:spPr>
        <p:txBody>
          <a:bodyPr wrap="square" lIns="0" tIns="0" rIns="0" bIns="0" rtlCol="0" anchor="ctr"/>
          <a:lstStyle/>
          <a:p>
            <a:pPr indent="0" marL="0">
              <a:lnSpc>
                <a:spcPts val="1400"/>
              </a:lnSpc>
              <a:buNone/>
            </a:pPr>
            <a:r>
              <a:rPr lang="en-US" sz="1100" dirty="0">
                <a:solidFill>
                  <a:srgbClr val="1F2A36"/>
                </a:solidFill>
                <a:latin typeface="Calibri" pitchFamily="34" charset="0"/>
                <a:ea typeface="Calibri" pitchFamily="34" charset="-122"/>
                <a:cs typeface="Calibri" pitchFamily="34" charset="-120"/>
              </a:rPr>
              <a:t>Qué necesita el negocio del sistema</a:t>
            </a:r>
            <a:endParaRPr lang="en-US" sz="1100" dirty="0"/>
          </a:p>
        </p:txBody>
      </p:sp>
      <p:sp>
        <p:nvSpPr>
          <p:cNvPr id="23" name="Shape 21"/>
          <p:cNvSpPr/>
          <p:nvPr/>
        </p:nvSpPr>
        <p:spPr>
          <a:xfrm>
            <a:off x="3337560" y="3520440"/>
            <a:ext cx="228600" cy="0"/>
          </a:xfrm>
          <a:prstGeom prst="line">
            <a:avLst/>
          </a:prstGeom>
          <a:noFill/>
          <a:ln w="15875">
            <a:solidFill>
              <a:srgbClr val="5A7189"/>
            </a:solidFill>
            <a:prstDash val="solid"/>
            <a:tailEnd type="triangle"/>
          </a:ln>
        </p:spPr>
      </p:sp>
      <p:sp>
        <p:nvSpPr>
          <p:cNvPr id="24" name="Shape 22"/>
          <p:cNvSpPr/>
          <p:nvPr/>
        </p:nvSpPr>
        <p:spPr>
          <a:xfrm>
            <a:off x="3611880" y="2834640"/>
            <a:ext cx="2606040" cy="1371600"/>
          </a:xfrm>
          <a:prstGeom prst="rect">
            <a:avLst/>
          </a:prstGeom>
          <a:solidFill>
            <a:srgbClr val="FFFFFF"/>
          </a:solidFill>
          <a:ln w="12700">
            <a:solidFill>
              <a:srgbClr val="C6C4B8"/>
            </a:solidFill>
            <a:prstDash val="solid"/>
          </a:ln>
        </p:spPr>
      </p:sp>
      <p:sp>
        <p:nvSpPr>
          <p:cNvPr id="25" name="Text 23"/>
          <p:cNvSpPr txBox="1"/>
          <p:nvPr/>
        </p:nvSpPr>
        <p:spPr>
          <a:xfrm>
            <a:off x="3813048" y="2944368"/>
            <a:ext cx="365760" cy="274320"/>
          </a:xfrm>
          <a:prstGeom prst="rect">
            <a:avLst/>
          </a:prstGeom>
          <a:noFill/>
          <a:ln/>
        </p:spPr>
        <p:txBody>
          <a:bodyPr wrap="square" lIns="0" tIns="0" rIns="0" bIns="0" rtlCol="0" anchor="ctr"/>
          <a:lstStyle/>
          <a:p>
            <a:pPr indent="0" marL="0">
              <a:buNone/>
            </a:pPr>
            <a:r>
              <a:rPr lang="en-US" sz="1300" b="1" dirty="0">
                <a:solidFill>
                  <a:srgbClr val="B85C2E"/>
                </a:solidFill>
                <a:latin typeface="Courier New" pitchFamily="34" charset="0"/>
                <a:ea typeface="Courier New" pitchFamily="34" charset="-122"/>
                <a:cs typeface="Courier New" pitchFamily="34" charset="-120"/>
              </a:rPr>
              <a:t>2</a:t>
            </a:r>
            <a:endParaRPr lang="en-US" sz="1300" dirty="0"/>
          </a:p>
        </p:txBody>
      </p:sp>
      <p:sp>
        <p:nvSpPr>
          <p:cNvPr id="26" name="Text 24"/>
          <p:cNvSpPr txBox="1"/>
          <p:nvPr/>
        </p:nvSpPr>
        <p:spPr>
          <a:xfrm>
            <a:off x="3813048" y="3246120"/>
            <a:ext cx="2194560" cy="274320"/>
          </a:xfrm>
          <a:prstGeom prst="rect">
            <a:avLst/>
          </a:prstGeom>
          <a:noFill/>
          <a:ln/>
        </p:spPr>
        <p:txBody>
          <a:bodyPr wrap="square" lIns="0" tIns="0" rIns="0" bIns="0" rtlCol="0" anchor="ctr"/>
          <a:lstStyle/>
          <a:p>
            <a:pPr indent="0" marL="0">
              <a:buNone/>
            </a:pPr>
            <a:r>
              <a:rPr lang="en-US" sz="1300" b="1" dirty="0">
                <a:solidFill>
                  <a:srgbClr val="16273F"/>
                </a:solidFill>
                <a:latin typeface="Calibri" pitchFamily="34" charset="0"/>
                <a:ea typeface="Calibri" pitchFamily="34" charset="-122"/>
                <a:cs typeface="Calibri" pitchFamily="34" charset="-120"/>
              </a:rPr>
              <a:t>Arquitectura</a:t>
            </a:r>
            <a:endParaRPr lang="en-US" sz="1300" dirty="0"/>
          </a:p>
        </p:txBody>
      </p:sp>
      <p:sp>
        <p:nvSpPr>
          <p:cNvPr id="27" name="Text 25"/>
          <p:cNvSpPr txBox="1"/>
          <p:nvPr/>
        </p:nvSpPr>
        <p:spPr>
          <a:xfrm>
            <a:off x="3813048" y="3547872"/>
            <a:ext cx="2194560" cy="548640"/>
          </a:xfrm>
          <a:prstGeom prst="rect">
            <a:avLst/>
          </a:prstGeom>
          <a:noFill/>
          <a:ln/>
        </p:spPr>
        <p:txBody>
          <a:bodyPr wrap="square" lIns="0" tIns="0" rIns="0" bIns="0" rtlCol="0" anchor="ctr"/>
          <a:lstStyle/>
          <a:p>
            <a:pPr indent="0" marL="0">
              <a:lnSpc>
                <a:spcPts val="1400"/>
              </a:lnSpc>
              <a:buNone/>
            </a:pPr>
            <a:r>
              <a:rPr lang="en-US" sz="1100" dirty="0">
                <a:solidFill>
                  <a:srgbClr val="1F2A36"/>
                </a:solidFill>
                <a:latin typeface="Calibri" pitchFamily="34" charset="0"/>
                <a:ea typeface="Calibri" pitchFamily="34" charset="-122"/>
                <a:cs typeface="Calibri" pitchFamily="34" charset="-120"/>
              </a:rPr>
              <a:t>Cómo está resuelto hoy</a:t>
            </a:r>
            <a:endParaRPr lang="en-US" sz="1100" dirty="0"/>
          </a:p>
        </p:txBody>
      </p:sp>
      <p:sp>
        <p:nvSpPr>
          <p:cNvPr id="28" name="Shape 26"/>
          <p:cNvSpPr/>
          <p:nvPr/>
        </p:nvSpPr>
        <p:spPr>
          <a:xfrm>
            <a:off x="6263640" y="3520440"/>
            <a:ext cx="228600" cy="0"/>
          </a:xfrm>
          <a:prstGeom prst="line">
            <a:avLst/>
          </a:prstGeom>
          <a:noFill/>
          <a:ln w="15875">
            <a:solidFill>
              <a:srgbClr val="5A7189"/>
            </a:solidFill>
            <a:prstDash val="solid"/>
            <a:tailEnd type="triangle"/>
          </a:ln>
        </p:spPr>
      </p:sp>
      <p:sp>
        <p:nvSpPr>
          <p:cNvPr id="29" name="Shape 27"/>
          <p:cNvSpPr/>
          <p:nvPr/>
        </p:nvSpPr>
        <p:spPr>
          <a:xfrm>
            <a:off x="6537960" y="2834640"/>
            <a:ext cx="2606040" cy="1371600"/>
          </a:xfrm>
          <a:prstGeom prst="rect">
            <a:avLst/>
          </a:prstGeom>
          <a:solidFill>
            <a:srgbClr val="FFFFFF"/>
          </a:solidFill>
          <a:ln w="12700">
            <a:solidFill>
              <a:srgbClr val="C6C4B8"/>
            </a:solidFill>
            <a:prstDash val="solid"/>
          </a:ln>
        </p:spPr>
      </p:sp>
      <p:sp>
        <p:nvSpPr>
          <p:cNvPr id="30" name="Text 28"/>
          <p:cNvSpPr txBox="1"/>
          <p:nvPr/>
        </p:nvSpPr>
        <p:spPr>
          <a:xfrm>
            <a:off x="6739128" y="2944368"/>
            <a:ext cx="365760" cy="274320"/>
          </a:xfrm>
          <a:prstGeom prst="rect">
            <a:avLst/>
          </a:prstGeom>
          <a:noFill/>
          <a:ln/>
        </p:spPr>
        <p:txBody>
          <a:bodyPr wrap="square" lIns="0" tIns="0" rIns="0" bIns="0" rtlCol="0" anchor="ctr"/>
          <a:lstStyle/>
          <a:p>
            <a:pPr indent="0" marL="0">
              <a:buNone/>
            </a:pPr>
            <a:r>
              <a:rPr lang="en-US" sz="1300" b="1" dirty="0">
                <a:solidFill>
                  <a:srgbClr val="B85C2E"/>
                </a:solidFill>
                <a:latin typeface="Courier New" pitchFamily="34" charset="0"/>
                <a:ea typeface="Courier New" pitchFamily="34" charset="-122"/>
                <a:cs typeface="Courier New" pitchFamily="34" charset="-120"/>
              </a:rPr>
              <a:t>3</a:t>
            </a:r>
            <a:endParaRPr lang="en-US" sz="1300" dirty="0"/>
          </a:p>
        </p:txBody>
      </p:sp>
      <p:sp>
        <p:nvSpPr>
          <p:cNvPr id="31" name="Text 29"/>
          <p:cNvSpPr txBox="1"/>
          <p:nvPr/>
        </p:nvSpPr>
        <p:spPr>
          <a:xfrm>
            <a:off x="6739128" y="3246120"/>
            <a:ext cx="2194560" cy="274320"/>
          </a:xfrm>
          <a:prstGeom prst="rect">
            <a:avLst/>
          </a:prstGeom>
          <a:noFill/>
          <a:ln/>
        </p:spPr>
        <p:txBody>
          <a:bodyPr wrap="square" lIns="0" tIns="0" rIns="0" bIns="0" rtlCol="0" anchor="ctr"/>
          <a:lstStyle/>
          <a:p>
            <a:pPr indent="0" marL="0">
              <a:buNone/>
            </a:pPr>
            <a:r>
              <a:rPr lang="en-US" sz="1300" b="1" dirty="0">
                <a:solidFill>
                  <a:srgbClr val="16273F"/>
                </a:solidFill>
                <a:latin typeface="Calibri" pitchFamily="34" charset="0"/>
                <a:ea typeface="Calibri" pitchFamily="34" charset="-122"/>
                <a:cs typeface="Calibri" pitchFamily="34" charset="-120"/>
              </a:rPr>
              <a:t>Árbol de utilidad</a:t>
            </a:r>
            <a:endParaRPr lang="en-US" sz="1300" dirty="0"/>
          </a:p>
        </p:txBody>
      </p:sp>
      <p:sp>
        <p:nvSpPr>
          <p:cNvPr id="32" name="Text 30"/>
          <p:cNvSpPr txBox="1"/>
          <p:nvPr/>
        </p:nvSpPr>
        <p:spPr>
          <a:xfrm>
            <a:off x="6739128" y="3547872"/>
            <a:ext cx="2194560" cy="548640"/>
          </a:xfrm>
          <a:prstGeom prst="rect">
            <a:avLst/>
          </a:prstGeom>
          <a:noFill/>
          <a:ln/>
        </p:spPr>
        <p:txBody>
          <a:bodyPr wrap="square" lIns="0" tIns="0" rIns="0" bIns="0" rtlCol="0" anchor="ctr"/>
          <a:lstStyle/>
          <a:p>
            <a:pPr indent="0" marL="0">
              <a:lnSpc>
                <a:spcPts val="1400"/>
              </a:lnSpc>
              <a:buNone/>
            </a:pPr>
            <a:r>
              <a:rPr lang="en-US" sz="1100" dirty="0">
                <a:solidFill>
                  <a:srgbClr val="1F2A36"/>
                </a:solidFill>
                <a:latin typeface="Calibri" pitchFamily="34" charset="0"/>
                <a:ea typeface="Calibri" pitchFamily="34" charset="-122"/>
                <a:cs typeface="Calibri" pitchFamily="34" charset="-120"/>
              </a:rPr>
              <a:t>Atributos de calidad priorizados con escenarios medibles</a:t>
            </a:r>
            <a:endParaRPr lang="en-US" sz="1100" dirty="0"/>
          </a:p>
        </p:txBody>
      </p:sp>
      <p:sp>
        <p:nvSpPr>
          <p:cNvPr id="33" name="Shape 31"/>
          <p:cNvSpPr/>
          <p:nvPr/>
        </p:nvSpPr>
        <p:spPr>
          <a:xfrm>
            <a:off x="9189720" y="3520440"/>
            <a:ext cx="228600" cy="0"/>
          </a:xfrm>
          <a:prstGeom prst="line">
            <a:avLst/>
          </a:prstGeom>
          <a:noFill/>
          <a:ln w="15875">
            <a:solidFill>
              <a:srgbClr val="5A7189"/>
            </a:solidFill>
            <a:prstDash val="solid"/>
            <a:tailEnd type="triangle"/>
          </a:ln>
        </p:spPr>
      </p:sp>
      <p:sp>
        <p:nvSpPr>
          <p:cNvPr id="34" name="Shape 32"/>
          <p:cNvSpPr/>
          <p:nvPr/>
        </p:nvSpPr>
        <p:spPr>
          <a:xfrm>
            <a:off x="9464040" y="2834640"/>
            <a:ext cx="2606040" cy="1371600"/>
          </a:xfrm>
          <a:prstGeom prst="rect">
            <a:avLst/>
          </a:prstGeom>
          <a:solidFill>
            <a:srgbClr val="FFFFFF"/>
          </a:solidFill>
          <a:ln w="12700">
            <a:solidFill>
              <a:srgbClr val="C6C4B8"/>
            </a:solidFill>
            <a:prstDash val="solid"/>
          </a:ln>
        </p:spPr>
      </p:sp>
      <p:sp>
        <p:nvSpPr>
          <p:cNvPr id="35" name="Text 33"/>
          <p:cNvSpPr txBox="1"/>
          <p:nvPr/>
        </p:nvSpPr>
        <p:spPr>
          <a:xfrm>
            <a:off x="9665208" y="2944368"/>
            <a:ext cx="365760" cy="274320"/>
          </a:xfrm>
          <a:prstGeom prst="rect">
            <a:avLst/>
          </a:prstGeom>
          <a:noFill/>
          <a:ln/>
        </p:spPr>
        <p:txBody>
          <a:bodyPr wrap="square" lIns="0" tIns="0" rIns="0" bIns="0" rtlCol="0" anchor="ctr"/>
          <a:lstStyle/>
          <a:p>
            <a:pPr indent="0" marL="0">
              <a:buNone/>
            </a:pPr>
            <a:r>
              <a:rPr lang="en-US" sz="1300" b="1" dirty="0">
                <a:solidFill>
                  <a:srgbClr val="B85C2E"/>
                </a:solidFill>
                <a:latin typeface="Courier New" pitchFamily="34" charset="0"/>
                <a:ea typeface="Courier New" pitchFamily="34" charset="-122"/>
                <a:cs typeface="Courier New" pitchFamily="34" charset="-120"/>
              </a:rPr>
              <a:t>4</a:t>
            </a:r>
            <a:endParaRPr lang="en-US" sz="1300" dirty="0"/>
          </a:p>
        </p:txBody>
      </p:sp>
      <p:sp>
        <p:nvSpPr>
          <p:cNvPr id="36" name="Text 34"/>
          <p:cNvSpPr txBox="1"/>
          <p:nvPr/>
        </p:nvSpPr>
        <p:spPr>
          <a:xfrm>
            <a:off x="9665208" y="3246120"/>
            <a:ext cx="2194560" cy="274320"/>
          </a:xfrm>
          <a:prstGeom prst="rect">
            <a:avLst/>
          </a:prstGeom>
          <a:noFill/>
          <a:ln/>
        </p:spPr>
        <p:txBody>
          <a:bodyPr wrap="square" lIns="0" tIns="0" rIns="0" bIns="0" rtlCol="0" anchor="ctr"/>
          <a:lstStyle/>
          <a:p>
            <a:pPr indent="0" marL="0">
              <a:buNone/>
            </a:pPr>
            <a:r>
              <a:rPr lang="en-US" sz="1300" b="1" dirty="0">
                <a:solidFill>
                  <a:srgbClr val="16273F"/>
                </a:solidFill>
                <a:latin typeface="Calibri" pitchFamily="34" charset="0"/>
                <a:ea typeface="Calibri" pitchFamily="34" charset="-122"/>
                <a:cs typeface="Calibri" pitchFamily="34" charset="-120"/>
              </a:rPr>
              <a:t>Análisis</a:t>
            </a:r>
            <a:endParaRPr lang="en-US" sz="1300" dirty="0"/>
          </a:p>
        </p:txBody>
      </p:sp>
      <p:sp>
        <p:nvSpPr>
          <p:cNvPr id="37" name="Text 35"/>
          <p:cNvSpPr txBox="1"/>
          <p:nvPr/>
        </p:nvSpPr>
        <p:spPr>
          <a:xfrm>
            <a:off x="9665208" y="3547872"/>
            <a:ext cx="2194560" cy="548640"/>
          </a:xfrm>
          <a:prstGeom prst="rect">
            <a:avLst/>
          </a:prstGeom>
          <a:noFill/>
          <a:ln/>
        </p:spPr>
        <p:txBody>
          <a:bodyPr wrap="square" lIns="0" tIns="0" rIns="0" bIns="0" rtlCol="0" anchor="ctr"/>
          <a:lstStyle/>
          <a:p>
            <a:pPr indent="0" marL="0">
              <a:lnSpc>
                <a:spcPts val="1400"/>
              </a:lnSpc>
              <a:buNone/>
            </a:pPr>
            <a:r>
              <a:rPr lang="en-US" sz="1100" dirty="0">
                <a:solidFill>
                  <a:srgbClr val="1F2A36"/>
                </a:solidFill>
                <a:latin typeface="Calibri" pitchFamily="34" charset="0"/>
                <a:ea typeface="Calibri" pitchFamily="34" charset="-122"/>
                <a:cs typeface="Calibri" pitchFamily="34" charset="-120"/>
              </a:rPr>
              <a:t>Confrontar enfoques contra escenarios</a:t>
            </a:r>
            <a:endParaRPr lang="en-US" sz="1100" dirty="0"/>
          </a:p>
        </p:txBody>
      </p:sp>
      <p:sp>
        <p:nvSpPr>
          <p:cNvPr id="38" name="Text 36"/>
          <p:cNvSpPr txBox="1"/>
          <p:nvPr/>
        </p:nvSpPr>
        <p:spPr>
          <a:xfrm>
            <a:off x="685800" y="4434840"/>
            <a:ext cx="3657600" cy="219456"/>
          </a:xfrm>
          <a:prstGeom prst="rect">
            <a:avLst/>
          </a:prstGeom>
          <a:noFill/>
          <a:ln/>
        </p:spPr>
        <p:txBody>
          <a:bodyPr wrap="square" lIns="0" tIns="0" rIns="0" bIns="0" rtlCol="0" anchor="ctr"/>
          <a:lstStyle/>
          <a:p>
            <a:pPr indent="0" marL="0">
              <a:buNone/>
            </a:pPr>
            <a:r>
              <a:rPr lang="en-US" sz="850" spc="50" kern="0" dirty="0">
                <a:solidFill>
                  <a:srgbClr val="B85C2E"/>
                </a:solidFill>
                <a:latin typeface="Courier New" pitchFamily="34" charset="0"/>
                <a:ea typeface="Courier New" pitchFamily="34" charset="-122"/>
                <a:cs typeface="Courier New" pitchFamily="34" charset="-120"/>
              </a:rPr>
              <a:t>LO QUE PRODUCE</a:t>
            </a:r>
            <a:endParaRPr lang="en-US" sz="850" dirty="0"/>
          </a:p>
        </p:txBody>
      </p:sp>
      <p:sp>
        <p:nvSpPr>
          <p:cNvPr id="39" name="Shape 37"/>
          <p:cNvSpPr/>
          <p:nvPr/>
        </p:nvSpPr>
        <p:spPr>
          <a:xfrm>
            <a:off x="685800" y="4727448"/>
            <a:ext cx="2606040" cy="1234440"/>
          </a:xfrm>
          <a:prstGeom prst="rect">
            <a:avLst/>
          </a:prstGeom>
          <a:solidFill>
            <a:srgbClr val="FFFFFF"/>
          </a:solidFill>
          <a:ln w="12700">
            <a:solidFill>
              <a:srgbClr val="C6C4B8"/>
            </a:solidFill>
            <a:prstDash val="solid"/>
          </a:ln>
        </p:spPr>
      </p:sp>
      <p:sp>
        <p:nvSpPr>
          <p:cNvPr id="40" name="Shape 38"/>
          <p:cNvSpPr/>
          <p:nvPr/>
        </p:nvSpPr>
        <p:spPr>
          <a:xfrm>
            <a:off x="685800" y="4727448"/>
            <a:ext cx="2606040" cy="54864"/>
          </a:xfrm>
          <a:prstGeom prst="rect">
            <a:avLst/>
          </a:prstGeom>
          <a:solidFill>
            <a:srgbClr val="B85C2E"/>
          </a:solidFill>
          <a:ln w="12700">
            <a:solidFill>
              <a:srgbClr val="B85C2E"/>
            </a:solidFill>
            <a:prstDash val="solid"/>
          </a:ln>
        </p:spPr>
      </p:sp>
      <p:sp>
        <p:nvSpPr>
          <p:cNvPr id="41" name="Text 39"/>
          <p:cNvSpPr txBox="1"/>
          <p:nvPr/>
        </p:nvSpPr>
        <p:spPr>
          <a:xfrm>
            <a:off x="886968" y="4892040"/>
            <a:ext cx="2194560" cy="274320"/>
          </a:xfrm>
          <a:prstGeom prst="rect">
            <a:avLst/>
          </a:prstGeom>
          <a:noFill/>
          <a:ln/>
        </p:spPr>
        <p:txBody>
          <a:bodyPr wrap="square" lIns="0" tIns="0" rIns="0" bIns="0" rtlCol="0" anchor="ctr"/>
          <a:lstStyle/>
          <a:p>
            <a:pPr indent="0" marL="0">
              <a:buNone/>
            </a:pPr>
            <a:r>
              <a:rPr lang="en-US" sz="1300" b="1" dirty="0">
                <a:solidFill>
                  <a:srgbClr val="16273F"/>
                </a:solidFill>
                <a:latin typeface="Calibri" pitchFamily="34" charset="0"/>
                <a:ea typeface="Calibri" pitchFamily="34" charset="-122"/>
                <a:cs typeface="Calibri" pitchFamily="34" charset="-120"/>
              </a:rPr>
              <a:t>Riesgos</a:t>
            </a:r>
            <a:endParaRPr lang="en-US" sz="1300" dirty="0"/>
          </a:p>
        </p:txBody>
      </p:sp>
      <p:sp>
        <p:nvSpPr>
          <p:cNvPr id="42" name="Text 40"/>
          <p:cNvSpPr txBox="1"/>
          <p:nvPr/>
        </p:nvSpPr>
        <p:spPr>
          <a:xfrm>
            <a:off x="886968" y="5193792"/>
            <a:ext cx="2194560" cy="640080"/>
          </a:xfrm>
          <a:prstGeom prst="rect">
            <a:avLst/>
          </a:prstGeom>
          <a:noFill/>
          <a:ln/>
        </p:spPr>
        <p:txBody>
          <a:bodyPr wrap="square" lIns="0" tIns="0" rIns="0" bIns="0" rtlCol="0" anchor="ctr"/>
          <a:lstStyle/>
          <a:p>
            <a:pPr indent="0" marL="0">
              <a:lnSpc>
                <a:spcPts val="1400"/>
              </a:lnSpc>
              <a:buNone/>
            </a:pPr>
            <a:r>
              <a:rPr lang="en-US" sz="1100" dirty="0">
                <a:solidFill>
                  <a:srgbClr val="1F2A36"/>
                </a:solidFill>
                <a:latin typeface="Calibri" pitchFamily="34" charset="0"/>
                <a:ea typeface="Calibri" pitchFamily="34" charset="-122"/>
                <a:cs typeface="Calibri" pitchFamily="34" charset="-120"/>
              </a:rPr>
              <a:t>Decisiones que amenazan un atributo de calidad</a:t>
            </a:r>
            <a:endParaRPr lang="en-US" sz="1100" dirty="0"/>
          </a:p>
        </p:txBody>
      </p:sp>
      <p:sp>
        <p:nvSpPr>
          <p:cNvPr id="43" name="Shape 41"/>
          <p:cNvSpPr/>
          <p:nvPr/>
        </p:nvSpPr>
        <p:spPr>
          <a:xfrm>
            <a:off x="3611880" y="4727448"/>
            <a:ext cx="2606040" cy="1234440"/>
          </a:xfrm>
          <a:prstGeom prst="rect">
            <a:avLst/>
          </a:prstGeom>
          <a:solidFill>
            <a:srgbClr val="FFFFFF"/>
          </a:solidFill>
          <a:ln w="12700">
            <a:solidFill>
              <a:srgbClr val="C6C4B8"/>
            </a:solidFill>
            <a:prstDash val="solid"/>
          </a:ln>
        </p:spPr>
      </p:sp>
      <p:sp>
        <p:nvSpPr>
          <p:cNvPr id="44" name="Shape 42"/>
          <p:cNvSpPr/>
          <p:nvPr/>
        </p:nvSpPr>
        <p:spPr>
          <a:xfrm>
            <a:off x="3611880" y="4727448"/>
            <a:ext cx="2606040" cy="54864"/>
          </a:xfrm>
          <a:prstGeom prst="rect">
            <a:avLst/>
          </a:prstGeom>
          <a:solidFill>
            <a:srgbClr val="1E7A52"/>
          </a:solidFill>
          <a:ln w="12700">
            <a:solidFill>
              <a:srgbClr val="1E7A52"/>
            </a:solidFill>
            <a:prstDash val="solid"/>
          </a:ln>
        </p:spPr>
      </p:sp>
      <p:sp>
        <p:nvSpPr>
          <p:cNvPr id="45" name="Text 43"/>
          <p:cNvSpPr txBox="1"/>
          <p:nvPr/>
        </p:nvSpPr>
        <p:spPr>
          <a:xfrm>
            <a:off x="3813048" y="4892040"/>
            <a:ext cx="2194560" cy="274320"/>
          </a:xfrm>
          <a:prstGeom prst="rect">
            <a:avLst/>
          </a:prstGeom>
          <a:noFill/>
          <a:ln/>
        </p:spPr>
        <p:txBody>
          <a:bodyPr wrap="square" lIns="0" tIns="0" rIns="0" bIns="0" rtlCol="0" anchor="ctr"/>
          <a:lstStyle/>
          <a:p>
            <a:pPr indent="0" marL="0">
              <a:buNone/>
            </a:pPr>
            <a:r>
              <a:rPr lang="en-US" sz="1300" b="1" dirty="0">
                <a:solidFill>
                  <a:srgbClr val="16273F"/>
                </a:solidFill>
                <a:latin typeface="Calibri" pitchFamily="34" charset="0"/>
                <a:ea typeface="Calibri" pitchFamily="34" charset="-122"/>
                <a:cs typeface="Calibri" pitchFamily="34" charset="-120"/>
              </a:rPr>
              <a:t>No riesgos</a:t>
            </a:r>
            <a:endParaRPr lang="en-US" sz="1300" dirty="0"/>
          </a:p>
        </p:txBody>
      </p:sp>
      <p:sp>
        <p:nvSpPr>
          <p:cNvPr id="46" name="Text 44"/>
          <p:cNvSpPr txBox="1"/>
          <p:nvPr/>
        </p:nvSpPr>
        <p:spPr>
          <a:xfrm>
            <a:off x="3813048" y="5193792"/>
            <a:ext cx="2194560" cy="640080"/>
          </a:xfrm>
          <a:prstGeom prst="rect">
            <a:avLst/>
          </a:prstGeom>
          <a:noFill/>
          <a:ln/>
        </p:spPr>
        <p:txBody>
          <a:bodyPr wrap="square" lIns="0" tIns="0" rIns="0" bIns="0" rtlCol="0" anchor="ctr"/>
          <a:lstStyle/>
          <a:p>
            <a:pPr indent="0" marL="0">
              <a:lnSpc>
                <a:spcPts val="1400"/>
              </a:lnSpc>
              <a:buNone/>
            </a:pPr>
            <a:r>
              <a:rPr lang="en-US" sz="1100" dirty="0">
                <a:solidFill>
                  <a:srgbClr val="1F2A36"/>
                </a:solidFill>
                <a:latin typeface="Calibri" pitchFamily="34" charset="0"/>
                <a:ea typeface="Calibri" pitchFamily="34" charset="-122"/>
                <a:cs typeface="Calibri" pitchFamily="34" charset="-120"/>
              </a:rPr>
              <a:t>Decisiones que resisten el análisis</a:t>
            </a:r>
            <a:endParaRPr lang="en-US" sz="1100" dirty="0"/>
          </a:p>
        </p:txBody>
      </p:sp>
      <p:sp>
        <p:nvSpPr>
          <p:cNvPr id="47" name="Shape 45"/>
          <p:cNvSpPr/>
          <p:nvPr/>
        </p:nvSpPr>
        <p:spPr>
          <a:xfrm>
            <a:off x="6537960" y="4727448"/>
            <a:ext cx="2606040" cy="1234440"/>
          </a:xfrm>
          <a:prstGeom prst="rect">
            <a:avLst/>
          </a:prstGeom>
          <a:solidFill>
            <a:srgbClr val="FFFFFF"/>
          </a:solidFill>
          <a:ln w="12700">
            <a:solidFill>
              <a:srgbClr val="C6C4B8"/>
            </a:solidFill>
            <a:prstDash val="solid"/>
          </a:ln>
        </p:spPr>
      </p:sp>
      <p:sp>
        <p:nvSpPr>
          <p:cNvPr id="48" name="Shape 46"/>
          <p:cNvSpPr/>
          <p:nvPr/>
        </p:nvSpPr>
        <p:spPr>
          <a:xfrm>
            <a:off x="6537960" y="4727448"/>
            <a:ext cx="2606040" cy="54864"/>
          </a:xfrm>
          <a:prstGeom prst="rect">
            <a:avLst/>
          </a:prstGeom>
          <a:solidFill>
            <a:srgbClr val="5A7189"/>
          </a:solidFill>
          <a:ln w="12700">
            <a:solidFill>
              <a:srgbClr val="5A7189"/>
            </a:solidFill>
            <a:prstDash val="solid"/>
          </a:ln>
        </p:spPr>
      </p:sp>
      <p:sp>
        <p:nvSpPr>
          <p:cNvPr id="49" name="Text 47"/>
          <p:cNvSpPr txBox="1"/>
          <p:nvPr/>
        </p:nvSpPr>
        <p:spPr>
          <a:xfrm>
            <a:off x="6739128" y="4892040"/>
            <a:ext cx="2194560" cy="274320"/>
          </a:xfrm>
          <a:prstGeom prst="rect">
            <a:avLst/>
          </a:prstGeom>
          <a:noFill/>
          <a:ln/>
        </p:spPr>
        <p:txBody>
          <a:bodyPr wrap="square" lIns="0" tIns="0" rIns="0" bIns="0" rtlCol="0" anchor="ctr"/>
          <a:lstStyle/>
          <a:p>
            <a:pPr indent="0" marL="0">
              <a:buNone/>
            </a:pPr>
            <a:r>
              <a:rPr lang="en-US" sz="1300" b="1" dirty="0">
                <a:solidFill>
                  <a:srgbClr val="16273F"/>
                </a:solidFill>
                <a:latin typeface="Calibri" pitchFamily="34" charset="0"/>
                <a:ea typeface="Calibri" pitchFamily="34" charset="-122"/>
                <a:cs typeface="Calibri" pitchFamily="34" charset="-120"/>
              </a:rPr>
              <a:t>Puntos de sensibilidad</a:t>
            </a:r>
            <a:endParaRPr lang="en-US" sz="1300" dirty="0"/>
          </a:p>
        </p:txBody>
      </p:sp>
      <p:sp>
        <p:nvSpPr>
          <p:cNvPr id="50" name="Text 48"/>
          <p:cNvSpPr txBox="1"/>
          <p:nvPr/>
        </p:nvSpPr>
        <p:spPr>
          <a:xfrm>
            <a:off x="6739128" y="5193792"/>
            <a:ext cx="2194560" cy="640080"/>
          </a:xfrm>
          <a:prstGeom prst="rect">
            <a:avLst/>
          </a:prstGeom>
          <a:noFill/>
          <a:ln/>
        </p:spPr>
        <p:txBody>
          <a:bodyPr wrap="square" lIns="0" tIns="0" rIns="0" bIns="0" rtlCol="0" anchor="ctr"/>
          <a:lstStyle/>
          <a:p>
            <a:pPr indent="0" marL="0">
              <a:lnSpc>
                <a:spcPts val="1400"/>
              </a:lnSpc>
              <a:buNone/>
            </a:pPr>
            <a:r>
              <a:rPr lang="en-US" sz="1100" dirty="0">
                <a:solidFill>
                  <a:srgbClr val="1F2A36"/>
                </a:solidFill>
                <a:latin typeface="Calibri" pitchFamily="34" charset="0"/>
                <a:ea typeface="Calibri" pitchFamily="34" charset="-122"/>
                <a:cs typeface="Calibri" pitchFamily="34" charset="-120"/>
              </a:rPr>
              <a:t>Elementos donde un cambio mueve mucho un atributo</a:t>
            </a:r>
            <a:endParaRPr lang="en-US" sz="1100" dirty="0"/>
          </a:p>
        </p:txBody>
      </p:sp>
      <p:sp>
        <p:nvSpPr>
          <p:cNvPr id="51" name="Shape 49"/>
          <p:cNvSpPr/>
          <p:nvPr/>
        </p:nvSpPr>
        <p:spPr>
          <a:xfrm>
            <a:off x="9464040" y="4727448"/>
            <a:ext cx="2606040" cy="1234440"/>
          </a:xfrm>
          <a:prstGeom prst="rect">
            <a:avLst/>
          </a:prstGeom>
          <a:solidFill>
            <a:srgbClr val="FFFFFF"/>
          </a:solidFill>
          <a:ln w="12700">
            <a:solidFill>
              <a:srgbClr val="C6C4B8"/>
            </a:solidFill>
            <a:prstDash val="solid"/>
          </a:ln>
        </p:spPr>
      </p:sp>
      <p:sp>
        <p:nvSpPr>
          <p:cNvPr id="52" name="Shape 50"/>
          <p:cNvSpPr/>
          <p:nvPr/>
        </p:nvSpPr>
        <p:spPr>
          <a:xfrm>
            <a:off x="9464040" y="4727448"/>
            <a:ext cx="2606040" cy="54864"/>
          </a:xfrm>
          <a:prstGeom prst="rect">
            <a:avLst/>
          </a:prstGeom>
          <a:solidFill>
            <a:srgbClr val="16273F"/>
          </a:solidFill>
          <a:ln w="12700">
            <a:solidFill>
              <a:srgbClr val="16273F"/>
            </a:solidFill>
            <a:prstDash val="solid"/>
          </a:ln>
        </p:spPr>
      </p:sp>
      <p:sp>
        <p:nvSpPr>
          <p:cNvPr id="53" name="Text 51"/>
          <p:cNvSpPr txBox="1"/>
          <p:nvPr/>
        </p:nvSpPr>
        <p:spPr>
          <a:xfrm>
            <a:off x="9665208" y="4892040"/>
            <a:ext cx="2194560" cy="274320"/>
          </a:xfrm>
          <a:prstGeom prst="rect">
            <a:avLst/>
          </a:prstGeom>
          <a:noFill/>
          <a:ln/>
        </p:spPr>
        <p:txBody>
          <a:bodyPr wrap="square" lIns="0" tIns="0" rIns="0" bIns="0" rtlCol="0" anchor="ctr"/>
          <a:lstStyle/>
          <a:p>
            <a:pPr indent="0" marL="0">
              <a:buNone/>
            </a:pPr>
            <a:r>
              <a:rPr lang="en-US" sz="1300" b="1" dirty="0">
                <a:solidFill>
                  <a:srgbClr val="16273F"/>
                </a:solidFill>
                <a:latin typeface="Calibri" pitchFamily="34" charset="0"/>
                <a:ea typeface="Calibri" pitchFamily="34" charset="-122"/>
                <a:cs typeface="Calibri" pitchFamily="34" charset="-120"/>
              </a:rPr>
              <a:t>Puntos de compromiso</a:t>
            </a:r>
            <a:endParaRPr lang="en-US" sz="1300" dirty="0"/>
          </a:p>
        </p:txBody>
      </p:sp>
      <p:sp>
        <p:nvSpPr>
          <p:cNvPr id="54" name="Text 52"/>
          <p:cNvSpPr txBox="1"/>
          <p:nvPr/>
        </p:nvSpPr>
        <p:spPr>
          <a:xfrm>
            <a:off x="9665208" y="5193792"/>
            <a:ext cx="2194560" cy="640080"/>
          </a:xfrm>
          <a:prstGeom prst="rect">
            <a:avLst/>
          </a:prstGeom>
          <a:noFill/>
          <a:ln/>
        </p:spPr>
        <p:txBody>
          <a:bodyPr wrap="square" lIns="0" tIns="0" rIns="0" bIns="0" rtlCol="0" anchor="ctr"/>
          <a:lstStyle/>
          <a:p>
            <a:pPr indent="0" marL="0">
              <a:lnSpc>
                <a:spcPts val="1400"/>
              </a:lnSpc>
              <a:buNone/>
            </a:pPr>
            <a:r>
              <a:rPr lang="en-US" sz="1100" dirty="0">
                <a:solidFill>
                  <a:srgbClr val="1F2A36"/>
                </a:solidFill>
                <a:latin typeface="Calibri" pitchFamily="34" charset="0"/>
                <a:ea typeface="Calibri" pitchFamily="34" charset="-122"/>
                <a:cs typeface="Calibri" pitchFamily="34" charset="-120"/>
              </a:rPr>
              <a:t>Elementos donde mejorar un atributo empeora otro</a:t>
            </a:r>
            <a:endParaRPr lang="en-US" sz="1100" dirty="0"/>
          </a:p>
        </p:txBody>
      </p:sp>
      <p:sp>
        <p:nvSpPr>
          <p:cNvPr id="55" name="Text 53"/>
          <p:cNvSpPr txBox="1"/>
          <p:nvPr/>
        </p:nvSpPr>
        <p:spPr>
          <a:xfrm>
            <a:off x="685800" y="6089904"/>
            <a:ext cx="10820095" cy="292608"/>
          </a:xfrm>
          <a:prstGeom prst="rect">
            <a:avLst/>
          </a:prstGeom>
          <a:noFill/>
          <a:ln/>
        </p:spPr>
        <p:txBody>
          <a:bodyPr wrap="square" lIns="0" tIns="0" rIns="0" bIns="0" rtlCol="0" anchor="ctr"/>
          <a:lstStyle/>
          <a:p>
            <a:pPr indent="0" marL="0">
              <a:buNone/>
            </a:pPr>
            <a:r>
              <a:rPr lang="en-US" sz="1200" i="1" dirty="0">
                <a:solidFill>
                  <a:srgbClr val="27405C"/>
                </a:solidFill>
                <a:latin typeface="Calibri" pitchFamily="34" charset="0"/>
                <a:ea typeface="Calibri" pitchFamily="34" charset="-122"/>
                <a:cs typeface="Calibri" pitchFamily="34" charset="-120"/>
              </a:rPr>
              <a:t>Los puntos de compromiso son los trade-offs del Módulo 8. ATAM es el método que los encuentra en vez de descubrirlos en producción.</a:t>
            </a:r>
            <a:endParaRPr lang="en-US" sz="1200" dirty="0"/>
          </a:p>
        </p:txBody>
      </p:sp>
      <p:sp>
        <p:nvSpPr>
          <p:cNvPr id="56" name="Text 54"/>
          <p:cNvSpPr txBox="1"/>
          <p:nvPr/>
        </p:nvSpPr>
        <p:spPr>
          <a:xfrm>
            <a:off x="685800" y="6583680"/>
            <a:ext cx="6400800" cy="237744"/>
          </a:xfrm>
          <a:prstGeom prst="rect">
            <a:avLst/>
          </a:prstGeom>
          <a:noFill/>
          <a:ln/>
        </p:spPr>
        <p:txBody>
          <a:bodyPr wrap="square" lIns="0" tIns="0" rIns="0" bIns="0" rtlCol="0" anchor="ctr"/>
          <a:lstStyle/>
          <a:p>
            <a:pPr indent="0" marL="0">
              <a:buNone/>
            </a:pPr>
            <a:r>
              <a:rPr lang="en-US" sz="800" dirty="0">
                <a:solidFill>
                  <a:srgbClr val="707C86"/>
                </a:solidFill>
                <a:latin typeface="Courier New" pitchFamily="34" charset="0"/>
                <a:ea typeface="Courier New" pitchFamily="34" charset="-122"/>
                <a:cs typeface="Courier New" pitchFamily="34" charset="-120"/>
              </a:rPr>
              <a:t>AREM · Módulo 9 · Evaluación de Riesgos Arquitectónicos</a:t>
            </a:r>
            <a:endParaRPr lang="en-US" sz="800" dirty="0"/>
          </a:p>
        </p:txBody>
      </p:sp>
      <p:sp>
        <p:nvSpPr>
          <p:cNvPr id="57" name="Text 55"/>
          <p:cNvSpPr txBox="1"/>
          <p:nvPr/>
        </p:nvSpPr>
        <p:spPr>
          <a:xfrm>
            <a:off x="10881360" y="6583680"/>
            <a:ext cx="621792" cy="237744"/>
          </a:xfrm>
          <a:prstGeom prst="rect">
            <a:avLst/>
          </a:prstGeom>
          <a:noFill/>
          <a:ln/>
        </p:spPr>
        <p:txBody>
          <a:bodyPr wrap="square" lIns="0" tIns="0" rIns="0" bIns="0" rtlCol="0" anchor="ctr"/>
          <a:lstStyle/>
          <a:p>
            <a:pPr algn="r" indent="0" marL="0">
              <a:buNone/>
            </a:pPr>
            <a:r>
              <a:rPr lang="en-US" sz="800" dirty="0">
                <a:solidFill>
                  <a:srgbClr val="707C86"/>
                </a:solidFill>
                <a:latin typeface="Courier New" pitchFamily="34" charset="0"/>
                <a:ea typeface="Courier New" pitchFamily="34" charset="-122"/>
                <a:cs typeface="Courier New" pitchFamily="34" charset="-120"/>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4ED"/>
        </a:solidFill>
      </p:bgPr>
    </p:bg>
    <p:spTree>
      <p:nvGrpSpPr>
        <p:cNvPr id="1" name=""/>
        <p:cNvGrpSpPr/>
        <p:nvPr/>
      </p:nvGrpSpPr>
      <p:grpSpPr>
        <a:xfrm>
          <a:off x="0" y="0"/>
          <a:ext cx="0" cy="0"/>
          <a:chOff x="0" y="0"/>
          <a:chExt cx="0" cy="0"/>
        </a:xfrm>
      </p:grpSpPr>
      <p:sp>
        <p:nvSpPr>
          <p:cNvPr id="2" name="Shape 0"/>
          <p:cNvSpPr/>
          <p:nvPr/>
        </p:nvSpPr>
        <p:spPr>
          <a:xfrm>
            <a:off x="384048" y="310896"/>
            <a:ext cx="11420856" cy="10973"/>
          </a:xfrm>
          <a:prstGeom prst="rect">
            <a:avLst/>
          </a:prstGeom>
          <a:solidFill>
            <a:srgbClr val="C6C4B8"/>
          </a:solidFill>
          <a:ln w="12700">
            <a:solidFill>
              <a:srgbClr val="C6C4B8"/>
            </a:solidFill>
            <a:prstDash val="solid"/>
          </a:ln>
        </p:spPr>
      </p:sp>
      <p:sp>
        <p:nvSpPr>
          <p:cNvPr id="3" name="Shape 1"/>
          <p:cNvSpPr/>
          <p:nvPr/>
        </p:nvSpPr>
        <p:spPr>
          <a:xfrm>
            <a:off x="384048" y="6510528"/>
            <a:ext cx="11420856" cy="10973"/>
          </a:xfrm>
          <a:prstGeom prst="rect">
            <a:avLst/>
          </a:prstGeom>
          <a:solidFill>
            <a:srgbClr val="C6C4B8"/>
          </a:solidFill>
          <a:ln w="12700">
            <a:solidFill>
              <a:srgbClr val="C6C4B8"/>
            </a:solidFill>
            <a:prstDash val="solid"/>
          </a:ln>
        </p:spPr>
      </p:sp>
      <p:sp>
        <p:nvSpPr>
          <p:cNvPr id="4" name="Shape 2"/>
          <p:cNvSpPr/>
          <p:nvPr/>
        </p:nvSpPr>
        <p:spPr>
          <a:xfrm>
            <a:off x="384048" y="310896"/>
            <a:ext cx="10973" cy="6208776"/>
          </a:xfrm>
          <a:prstGeom prst="rect">
            <a:avLst/>
          </a:prstGeom>
          <a:solidFill>
            <a:srgbClr val="C6C4B8"/>
          </a:solidFill>
          <a:ln w="12700">
            <a:solidFill>
              <a:srgbClr val="C6C4B8"/>
            </a:solidFill>
            <a:prstDash val="solid"/>
          </a:ln>
        </p:spPr>
      </p:sp>
      <p:sp>
        <p:nvSpPr>
          <p:cNvPr id="5" name="Shape 3"/>
          <p:cNvSpPr/>
          <p:nvPr/>
        </p:nvSpPr>
        <p:spPr>
          <a:xfrm>
            <a:off x="11795760" y="310896"/>
            <a:ext cx="10973" cy="6208776"/>
          </a:xfrm>
          <a:prstGeom prst="rect">
            <a:avLst/>
          </a:prstGeom>
          <a:solidFill>
            <a:srgbClr val="C6C4B8"/>
          </a:solidFill>
          <a:ln w="12700">
            <a:solidFill>
              <a:srgbClr val="C6C4B8"/>
            </a:solidFill>
            <a:prstDash val="solid"/>
          </a:ln>
        </p:spPr>
      </p:sp>
      <p:sp>
        <p:nvSpPr>
          <p:cNvPr id="6" name="Shape 4"/>
          <p:cNvSpPr/>
          <p:nvPr/>
        </p:nvSpPr>
        <p:spPr>
          <a:xfrm>
            <a:off x="283464" y="306324"/>
            <a:ext cx="201168" cy="9144"/>
          </a:xfrm>
          <a:prstGeom prst="rect">
            <a:avLst/>
          </a:prstGeom>
          <a:solidFill>
            <a:srgbClr val="5A7189"/>
          </a:solidFill>
          <a:ln w="12700">
            <a:solidFill>
              <a:srgbClr val="5A7189"/>
            </a:solidFill>
            <a:prstDash val="solid"/>
          </a:ln>
        </p:spPr>
      </p:sp>
      <p:sp>
        <p:nvSpPr>
          <p:cNvPr id="7" name="Shape 5"/>
          <p:cNvSpPr/>
          <p:nvPr/>
        </p:nvSpPr>
        <p:spPr>
          <a:xfrm>
            <a:off x="379476" y="210312"/>
            <a:ext cx="9144" cy="201168"/>
          </a:xfrm>
          <a:prstGeom prst="rect">
            <a:avLst/>
          </a:prstGeom>
          <a:solidFill>
            <a:srgbClr val="5A7189"/>
          </a:solidFill>
          <a:ln w="12700">
            <a:solidFill>
              <a:srgbClr val="5A7189"/>
            </a:solidFill>
            <a:prstDash val="solid"/>
          </a:ln>
        </p:spPr>
      </p:sp>
      <p:sp>
        <p:nvSpPr>
          <p:cNvPr id="8" name="Shape 6"/>
          <p:cNvSpPr/>
          <p:nvPr/>
        </p:nvSpPr>
        <p:spPr>
          <a:xfrm>
            <a:off x="11695176" y="306324"/>
            <a:ext cx="201168" cy="9144"/>
          </a:xfrm>
          <a:prstGeom prst="rect">
            <a:avLst/>
          </a:prstGeom>
          <a:solidFill>
            <a:srgbClr val="5A7189"/>
          </a:solidFill>
          <a:ln w="12700">
            <a:solidFill>
              <a:srgbClr val="5A7189"/>
            </a:solidFill>
            <a:prstDash val="solid"/>
          </a:ln>
        </p:spPr>
      </p:sp>
      <p:sp>
        <p:nvSpPr>
          <p:cNvPr id="9" name="Shape 7"/>
          <p:cNvSpPr/>
          <p:nvPr/>
        </p:nvSpPr>
        <p:spPr>
          <a:xfrm>
            <a:off x="11791188" y="210312"/>
            <a:ext cx="9144" cy="201168"/>
          </a:xfrm>
          <a:prstGeom prst="rect">
            <a:avLst/>
          </a:prstGeom>
          <a:solidFill>
            <a:srgbClr val="5A7189"/>
          </a:solidFill>
          <a:ln w="12700">
            <a:solidFill>
              <a:srgbClr val="5A7189"/>
            </a:solidFill>
            <a:prstDash val="solid"/>
          </a:ln>
        </p:spPr>
      </p:sp>
      <p:sp>
        <p:nvSpPr>
          <p:cNvPr id="10" name="Shape 8"/>
          <p:cNvSpPr/>
          <p:nvPr/>
        </p:nvSpPr>
        <p:spPr>
          <a:xfrm>
            <a:off x="283464" y="6505956"/>
            <a:ext cx="201168" cy="9144"/>
          </a:xfrm>
          <a:prstGeom prst="rect">
            <a:avLst/>
          </a:prstGeom>
          <a:solidFill>
            <a:srgbClr val="5A7189"/>
          </a:solidFill>
          <a:ln w="12700">
            <a:solidFill>
              <a:srgbClr val="5A7189"/>
            </a:solidFill>
            <a:prstDash val="solid"/>
          </a:ln>
        </p:spPr>
      </p:sp>
      <p:sp>
        <p:nvSpPr>
          <p:cNvPr id="11" name="Shape 9"/>
          <p:cNvSpPr/>
          <p:nvPr/>
        </p:nvSpPr>
        <p:spPr>
          <a:xfrm>
            <a:off x="379476" y="6409944"/>
            <a:ext cx="9144" cy="201168"/>
          </a:xfrm>
          <a:prstGeom prst="rect">
            <a:avLst/>
          </a:prstGeom>
          <a:solidFill>
            <a:srgbClr val="5A7189"/>
          </a:solidFill>
          <a:ln w="12700">
            <a:solidFill>
              <a:srgbClr val="5A7189"/>
            </a:solidFill>
            <a:prstDash val="solid"/>
          </a:ln>
        </p:spPr>
      </p:sp>
      <p:sp>
        <p:nvSpPr>
          <p:cNvPr id="12" name="Shape 10"/>
          <p:cNvSpPr/>
          <p:nvPr/>
        </p:nvSpPr>
        <p:spPr>
          <a:xfrm>
            <a:off x="11695176" y="6505956"/>
            <a:ext cx="201168" cy="9144"/>
          </a:xfrm>
          <a:prstGeom prst="rect">
            <a:avLst/>
          </a:prstGeom>
          <a:solidFill>
            <a:srgbClr val="5A7189"/>
          </a:solidFill>
          <a:ln w="12700">
            <a:solidFill>
              <a:srgbClr val="5A7189"/>
            </a:solidFill>
            <a:prstDash val="solid"/>
          </a:ln>
        </p:spPr>
      </p:sp>
      <p:sp>
        <p:nvSpPr>
          <p:cNvPr id="13" name="Shape 11"/>
          <p:cNvSpPr/>
          <p:nvPr/>
        </p:nvSpPr>
        <p:spPr>
          <a:xfrm>
            <a:off x="11791188" y="6409944"/>
            <a:ext cx="9144" cy="201168"/>
          </a:xfrm>
          <a:prstGeom prst="rect">
            <a:avLst/>
          </a:prstGeom>
          <a:solidFill>
            <a:srgbClr val="5A7189"/>
          </a:solidFill>
          <a:ln w="12700">
            <a:solidFill>
              <a:srgbClr val="5A7189"/>
            </a:solidFill>
            <a:prstDash val="solid"/>
          </a:ln>
        </p:spPr>
      </p:sp>
      <p:sp>
        <p:nvSpPr>
          <p:cNvPr id="14" name="Text 12"/>
          <p:cNvSpPr txBox="1"/>
          <p:nvPr/>
        </p:nvSpPr>
        <p:spPr>
          <a:xfrm>
            <a:off x="685800" y="566928"/>
            <a:ext cx="7315200" cy="237744"/>
          </a:xfrm>
          <a:prstGeom prst="rect">
            <a:avLst/>
          </a:prstGeom>
          <a:noFill/>
          <a:ln/>
        </p:spPr>
        <p:txBody>
          <a:bodyPr wrap="square" lIns="0" tIns="0" rIns="0" bIns="0" rtlCol="0" anchor="ctr"/>
          <a:lstStyle/>
          <a:p>
            <a:pPr indent="0" marL="0">
              <a:buNone/>
            </a:pPr>
            <a:r>
              <a:rPr lang="en-US" sz="1000" spc="100" kern="0" dirty="0">
                <a:solidFill>
                  <a:srgbClr val="B85C2E"/>
                </a:solidFill>
                <a:latin typeface="Courier New" pitchFamily="34" charset="0"/>
                <a:ea typeface="Courier New" pitchFamily="34" charset="-122"/>
                <a:cs typeface="Courier New" pitchFamily="34" charset="-120"/>
              </a:rPr>
              <a:t>08 · TÉCNICA COLABORATIVA</a:t>
            </a:r>
            <a:endParaRPr lang="en-US" sz="1000" dirty="0"/>
          </a:p>
        </p:txBody>
      </p:sp>
      <p:sp>
        <p:nvSpPr>
          <p:cNvPr id="15" name="Text 13"/>
          <p:cNvSpPr txBox="1"/>
          <p:nvPr/>
        </p:nvSpPr>
        <p:spPr>
          <a:xfrm>
            <a:off x="685800" y="822960"/>
            <a:ext cx="10820095" cy="566928"/>
          </a:xfrm>
          <a:prstGeom prst="rect">
            <a:avLst/>
          </a:prstGeom>
          <a:noFill/>
          <a:ln/>
        </p:spPr>
        <p:txBody>
          <a:bodyPr wrap="square" lIns="0" tIns="0" rIns="0" bIns="0" rtlCol="0" anchor="ctr"/>
          <a:lstStyle/>
          <a:p>
            <a:pPr indent="0" marL="0">
              <a:buNone/>
            </a:pPr>
            <a:r>
              <a:rPr lang="en-US" sz="3000" b="1" dirty="0">
                <a:solidFill>
                  <a:srgbClr val="16273F"/>
                </a:solidFill>
                <a:latin typeface="Arial" pitchFamily="34" charset="0"/>
                <a:ea typeface="Arial" pitchFamily="34" charset="-122"/>
                <a:cs typeface="Arial" pitchFamily="34" charset="-120"/>
              </a:rPr>
              <a:t>Risk Storming sobre los diagramas C4</a:t>
            </a:r>
            <a:endParaRPr lang="en-US" sz="3000" dirty="0"/>
          </a:p>
        </p:txBody>
      </p:sp>
      <p:sp>
        <p:nvSpPr>
          <p:cNvPr id="16" name="Text 14"/>
          <p:cNvSpPr txBox="1"/>
          <p:nvPr/>
        </p:nvSpPr>
        <p:spPr>
          <a:xfrm>
            <a:off x="685800" y="1389888"/>
            <a:ext cx="10820095" cy="310896"/>
          </a:xfrm>
          <a:prstGeom prst="rect">
            <a:avLst/>
          </a:prstGeom>
          <a:noFill/>
          <a:ln/>
        </p:spPr>
        <p:txBody>
          <a:bodyPr wrap="square" lIns="0" tIns="0" rIns="0" bIns="0" rtlCol="0" anchor="ctr"/>
          <a:lstStyle/>
          <a:p>
            <a:pPr indent="0" marL="0">
              <a:buNone/>
            </a:pPr>
            <a:r>
              <a:rPr lang="en-US" sz="1350" dirty="0">
                <a:solidFill>
                  <a:srgbClr val="707C86"/>
                </a:solidFill>
                <a:latin typeface="Calibri" pitchFamily="34" charset="0"/>
                <a:ea typeface="Calibri" pitchFamily="34" charset="-122"/>
                <a:cs typeface="Calibri" pitchFamily="34" charset="-120"/>
              </a:rPr>
              <a:t>Simon Brown · el mismo autor del modelo C4 del Módulo 4</a:t>
            </a:r>
            <a:endParaRPr lang="en-US" sz="1350" dirty="0"/>
          </a:p>
        </p:txBody>
      </p:sp>
      <p:sp>
        <p:nvSpPr>
          <p:cNvPr id="17" name="Shape 15"/>
          <p:cNvSpPr/>
          <p:nvPr/>
        </p:nvSpPr>
        <p:spPr>
          <a:xfrm>
            <a:off x="685800" y="1920240"/>
            <a:ext cx="6766560" cy="3794760"/>
          </a:xfrm>
          <a:prstGeom prst="rect">
            <a:avLst/>
          </a:prstGeom>
          <a:solidFill>
            <a:srgbClr val="FFFFFF"/>
          </a:solidFill>
          <a:ln w="12700">
            <a:solidFill>
              <a:srgbClr val="C6C4B8"/>
            </a:solidFill>
            <a:prstDash val="solid"/>
          </a:ln>
        </p:spPr>
      </p:sp>
      <p:sp>
        <p:nvSpPr>
          <p:cNvPr id="18" name="Text 16"/>
          <p:cNvSpPr txBox="1"/>
          <p:nvPr/>
        </p:nvSpPr>
        <p:spPr>
          <a:xfrm>
            <a:off x="960120" y="2121408"/>
            <a:ext cx="3657600" cy="219456"/>
          </a:xfrm>
          <a:prstGeom prst="rect">
            <a:avLst/>
          </a:prstGeom>
          <a:noFill/>
          <a:ln/>
        </p:spPr>
        <p:txBody>
          <a:bodyPr wrap="square" lIns="0" tIns="0" rIns="0" bIns="0" rtlCol="0" anchor="ctr"/>
          <a:lstStyle/>
          <a:p>
            <a:pPr indent="0" marL="0">
              <a:buNone/>
            </a:pPr>
            <a:r>
              <a:rPr lang="en-US" sz="850" spc="50" kern="0" dirty="0">
                <a:solidFill>
                  <a:srgbClr val="B85C2E"/>
                </a:solidFill>
                <a:latin typeface="Courier New" pitchFamily="34" charset="0"/>
                <a:ea typeface="Courier New" pitchFamily="34" charset="-122"/>
                <a:cs typeface="Courier New" pitchFamily="34" charset="-120"/>
              </a:rPr>
              <a:t>CÓMO SE HACE</a:t>
            </a:r>
            <a:endParaRPr lang="en-US" sz="850" dirty="0"/>
          </a:p>
        </p:txBody>
      </p:sp>
      <p:sp>
        <p:nvSpPr>
          <p:cNvPr id="19" name="Text 17"/>
          <p:cNvSpPr txBox="1"/>
          <p:nvPr/>
        </p:nvSpPr>
        <p:spPr>
          <a:xfrm>
            <a:off x="960120" y="2450592"/>
            <a:ext cx="320040" cy="274320"/>
          </a:xfrm>
          <a:prstGeom prst="rect">
            <a:avLst/>
          </a:prstGeom>
          <a:noFill/>
          <a:ln/>
        </p:spPr>
        <p:txBody>
          <a:bodyPr wrap="square" lIns="0" tIns="0" rIns="0" bIns="0" rtlCol="0" anchor="ctr"/>
          <a:lstStyle/>
          <a:p>
            <a:pPr indent="0" marL="0">
              <a:buNone/>
            </a:pPr>
            <a:r>
              <a:rPr lang="en-US" sz="1300" b="1" dirty="0">
                <a:solidFill>
                  <a:srgbClr val="B85C2E"/>
                </a:solidFill>
                <a:latin typeface="Courier New" pitchFamily="34" charset="0"/>
                <a:ea typeface="Courier New" pitchFamily="34" charset="-122"/>
                <a:cs typeface="Courier New" pitchFamily="34" charset="-120"/>
              </a:rPr>
              <a:t>1</a:t>
            </a:r>
            <a:endParaRPr lang="en-US" sz="1300" dirty="0"/>
          </a:p>
        </p:txBody>
      </p:sp>
      <p:sp>
        <p:nvSpPr>
          <p:cNvPr id="20" name="Text 18"/>
          <p:cNvSpPr txBox="1"/>
          <p:nvPr/>
        </p:nvSpPr>
        <p:spPr>
          <a:xfrm>
            <a:off x="1371600" y="2450592"/>
            <a:ext cx="5852160" cy="274320"/>
          </a:xfrm>
          <a:prstGeom prst="rect">
            <a:avLst/>
          </a:prstGeom>
          <a:noFill/>
          <a:ln/>
        </p:spPr>
        <p:txBody>
          <a:bodyPr wrap="square" lIns="0" tIns="0" rIns="0" bIns="0" rtlCol="0" anchor="ctr"/>
          <a:lstStyle/>
          <a:p>
            <a:pPr indent="0" marL="0">
              <a:buNone/>
            </a:pPr>
            <a:r>
              <a:rPr lang="en-US" sz="1350" b="1" dirty="0">
                <a:solidFill>
                  <a:srgbClr val="16273F"/>
                </a:solidFill>
                <a:latin typeface="Calibri" pitchFamily="34" charset="0"/>
                <a:ea typeface="Calibri" pitchFamily="34" charset="-122"/>
                <a:cs typeface="Calibri" pitchFamily="34" charset="-120"/>
              </a:rPr>
              <a:t>Se imprime el diagrama</a:t>
            </a:r>
            <a:endParaRPr lang="en-US" sz="1350" dirty="0"/>
          </a:p>
        </p:txBody>
      </p:sp>
      <p:sp>
        <p:nvSpPr>
          <p:cNvPr id="21" name="Text 19"/>
          <p:cNvSpPr txBox="1"/>
          <p:nvPr/>
        </p:nvSpPr>
        <p:spPr>
          <a:xfrm>
            <a:off x="1371600" y="2743200"/>
            <a:ext cx="5852160" cy="502920"/>
          </a:xfrm>
          <a:prstGeom prst="rect">
            <a:avLst/>
          </a:prstGeom>
          <a:noFill/>
          <a:ln/>
        </p:spPr>
        <p:txBody>
          <a:bodyPr wrap="square" lIns="0" tIns="0" rIns="0" bIns="0" rtlCol="0" anchor="ctr"/>
          <a:lstStyle/>
          <a:p>
            <a:pPr indent="0" marL="0">
              <a:lnSpc>
                <a:spcPts val="1600"/>
              </a:lnSpc>
              <a:buNone/>
            </a:pPr>
            <a:r>
              <a:rPr lang="en-US" sz="1200" dirty="0">
                <a:solidFill>
                  <a:srgbClr val="1F2A36"/>
                </a:solidFill>
                <a:latin typeface="Calibri" pitchFamily="34" charset="0"/>
                <a:ea typeface="Calibri" pitchFamily="34" charset="-122"/>
                <a:cs typeface="Calibri" pitchFamily="34" charset="-120"/>
              </a:rPr>
              <a:t>Se usa el C1 o el C2 del sistema; el mismo que ya construyeron en el Taller 3.</a:t>
            </a:r>
            <a:endParaRPr lang="en-US" sz="1200" dirty="0"/>
          </a:p>
        </p:txBody>
      </p:sp>
      <p:sp>
        <p:nvSpPr>
          <p:cNvPr id="22" name="Text 20"/>
          <p:cNvSpPr txBox="1"/>
          <p:nvPr/>
        </p:nvSpPr>
        <p:spPr>
          <a:xfrm>
            <a:off x="960120" y="3319272"/>
            <a:ext cx="320040" cy="274320"/>
          </a:xfrm>
          <a:prstGeom prst="rect">
            <a:avLst/>
          </a:prstGeom>
          <a:noFill/>
          <a:ln/>
        </p:spPr>
        <p:txBody>
          <a:bodyPr wrap="square" lIns="0" tIns="0" rIns="0" bIns="0" rtlCol="0" anchor="ctr"/>
          <a:lstStyle/>
          <a:p>
            <a:pPr indent="0" marL="0">
              <a:buNone/>
            </a:pPr>
            <a:r>
              <a:rPr lang="en-US" sz="1300" b="1" dirty="0">
                <a:solidFill>
                  <a:srgbClr val="B85C2E"/>
                </a:solidFill>
                <a:latin typeface="Courier New" pitchFamily="34" charset="0"/>
                <a:ea typeface="Courier New" pitchFamily="34" charset="-122"/>
                <a:cs typeface="Courier New" pitchFamily="34" charset="-120"/>
              </a:rPr>
              <a:t>2</a:t>
            </a:r>
            <a:endParaRPr lang="en-US" sz="1300" dirty="0"/>
          </a:p>
        </p:txBody>
      </p:sp>
      <p:sp>
        <p:nvSpPr>
          <p:cNvPr id="23" name="Text 21"/>
          <p:cNvSpPr txBox="1"/>
          <p:nvPr/>
        </p:nvSpPr>
        <p:spPr>
          <a:xfrm>
            <a:off x="1371600" y="3319272"/>
            <a:ext cx="5852160" cy="274320"/>
          </a:xfrm>
          <a:prstGeom prst="rect">
            <a:avLst/>
          </a:prstGeom>
          <a:noFill/>
          <a:ln/>
        </p:spPr>
        <p:txBody>
          <a:bodyPr wrap="square" lIns="0" tIns="0" rIns="0" bIns="0" rtlCol="0" anchor="ctr"/>
          <a:lstStyle/>
          <a:p>
            <a:pPr indent="0" marL="0">
              <a:buNone/>
            </a:pPr>
            <a:r>
              <a:rPr lang="en-US" sz="1350" b="1" dirty="0">
                <a:solidFill>
                  <a:srgbClr val="16273F"/>
                </a:solidFill>
                <a:latin typeface="Calibri" pitchFamily="34" charset="0"/>
                <a:ea typeface="Calibri" pitchFamily="34" charset="-122"/>
                <a:cs typeface="Calibri" pitchFamily="34" charset="-120"/>
              </a:rPr>
              <a:t>Cada quien marca en silencio</a:t>
            </a:r>
            <a:endParaRPr lang="en-US" sz="1350" dirty="0"/>
          </a:p>
        </p:txBody>
      </p:sp>
      <p:sp>
        <p:nvSpPr>
          <p:cNvPr id="24" name="Text 22"/>
          <p:cNvSpPr txBox="1"/>
          <p:nvPr/>
        </p:nvSpPr>
        <p:spPr>
          <a:xfrm>
            <a:off x="1371600" y="3611880"/>
            <a:ext cx="5852160" cy="502920"/>
          </a:xfrm>
          <a:prstGeom prst="rect">
            <a:avLst/>
          </a:prstGeom>
          <a:noFill/>
          <a:ln/>
        </p:spPr>
        <p:txBody>
          <a:bodyPr wrap="square" lIns="0" tIns="0" rIns="0" bIns="0" rtlCol="0" anchor="ctr"/>
          <a:lstStyle/>
          <a:p>
            <a:pPr indent="0" marL="0">
              <a:lnSpc>
                <a:spcPts val="1600"/>
              </a:lnSpc>
              <a:buNone/>
            </a:pPr>
            <a:r>
              <a:rPr lang="en-US" sz="1200" dirty="0">
                <a:solidFill>
                  <a:srgbClr val="1F2A36"/>
                </a:solidFill>
                <a:latin typeface="Calibri" pitchFamily="34" charset="0"/>
                <a:ea typeface="Calibri" pitchFamily="34" charset="-122"/>
                <a:cs typeface="Calibri" pitchFamily="34" charset="-120"/>
              </a:rPr>
              <a:t>Sin hablar, cada participante pone un punto de color sobre los elementos que considera riesgosos: alto, medio o bajo.</a:t>
            </a:r>
            <a:endParaRPr lang="en-US" sz="1200" dirty="0"/>
          </a:p>
        </p:txBody>
      </p:sp>
      <p:sp>
        <p:nvSpPr>
          <p:cNvPr id="25" name="Text 23"/>
          <p:cNvSpPr txBox="1"/>
          <p:nvPr/>
        </p:nvSpPr>
        <p:spPr>
          <a:xfrm>
            <a:off x="960120" y="4187952"/>
            <a:ext cx="320040" cy="274320"/>
          </a:xfrm>
          <a:prstGeom prst="rect">
            <a:avLst/>
          </a:prstGeom>
          <a:noFill/>
          <a:ln/>
        </p:spPr>
        <p:txBody>
          <a:bodyPr wrap="square" lIns="0" tIns="0" rIns="0" bIns="0" rtlCol="0" anchor="ctr"/>
          <a:lstStyle/>
          <a:p>
            <a:pPr indent="0" marL="0">
              <a:buNone/>
            </a:pPr>
            <a:r>
              <a:rPr lang="en-US" sz="1300" b="1" dirty="0">
                <a:solidFill>
                  <a:srgbClr val="B85C2E"/>
                </a:solidFill>
                <a:latin typeface="Courier New" pitchFamily="34" charset="0"/>
                <a:ea typeface="Courier New" pitchFamily="34" charset="-122"/>
                <a:cs typeface="Courier New" pitchFamily="34" charset="-120"/>
              </a:rPr>
              <a:t>3</a:t>
            </a:r>
            <a:endParaRPr lang="en-US" sz="1300" dirty="0"/>
          </a:p>
        </p:txBody>
      </p:sp>
      <p:sp>
        <p:nvSpPr>
          <p:cNvPr id="26" name="Text 24"/>
          <p:cNvSpPr txBox="1"/>
          <p:nvPr/>
        </p:nvSpPr>
        <p:spPr>
          <a:xfrm>
            <a:off x="1371600" y="4187952"/>
            <a:ext cx="5852160" cy="274320"/>
          </a:xfrm>
          <a:prstGeom prst="rect">
            <a:avLst/>
          </a:prstGeom>
          <a:noFill/>
          <a:ln/>
        </p:spPr>
        <p:txBody>
          <a:bodyPr wrap="square" lIns="0" tIns="0" rIns="0" bIns="0" rtlCol="0" anchor="ctr"/>
          <a:lstStyle/>
          <a:p>
            <a:pPr indent="0" marL="0">
              <a:buNone/>
            </a:pPr>
            <a:r>
              <a:rPr lang="en-US" sz="1350" b="1" dirty="0">
                <a:solidFill>
                  <a:srgbClr val="16273F"/>
                </a:solidFill>
                <a:latin typeface="Calibri" pitchFamily="34" charset="0"/>
                <a:ea typeface="Calibri" pitchFamily="34" charset="-122"/>
                <a:cs typeface="Calibri" pitchFamily="34" charset="-120"/>
              </a:rPr>
              <a:t>Se consolida y se compara</a:t>
            </a:r>
            <a:endParaRPr lang="en-US" sz="1350" dirty="0"/>
          </a:p>
        </p:txBody>
      </p:sp>
      <p:sp>
        <p:nvSpPr>
          <p:cNvPr id="27" name="Text 25"/>
          <p:cNvSpPr txBox="1"/>
          <p:nvPr/>
        </p:nvSpPr>
        <p:spPr>
          <a:xfrm>
            <a:off x="1371600" y="4480560"/>
            <a:ext cx="5852160" cy="502920"/>
          </a:xfrm>
          <a:prstGeom prst="rect">
            <a:avLst/>
          </a:prstGeom>
          <a:noFill/>
          <a:ln/>
        </p:spPr>
        <p:txBody>
          <a:bodyPr wrap="square" lIns="0" tIns="0" rIns="0" bIns="0" rtlCol="0" anchor="ctr"/>
          <a:lstStyle/>
          <a:p>
            <a:pPr indent="0" marL="0">
              <a:lnSpc>
                <a:spcPts val="1600"/>
              </a:lnSpc>
              <a:buNone/>
            </a:pPr>
            <a:r>
              <a:rPr lang="en-US" sz="1200" dirty="0">
                <a:solidFill>
                  <a:srgbClr val="1F2A36"/>
                </a:solidFill>
                <a:latin typeface="Calibri" pitchFamily="34" charset="0"/>
                <a:ea typeface="Calibri" pitchFamily="34" charset="-122"/>
                <a:cs typeface="Calibri" pitchFamily="34" charset="-120"/>
              </a:rPr>
              <a:t>Los elementos con más puntos, o donde el equipo no coincide, son los que importan.</a:t>
            </a:r>
            <a:endParaRPr lang="en-US" sz="1200" dirty="0"/>
          </a:p>
        </p:txBody>
      </p:sp>
      <p:sp>
        <p:nvSpPr>
          <p:cNvPr id="28" name="Text 26"/>
          <p:cNvSpPr txBox="1"/>
          <p:nvPr/>
        </p:nvSpPr>
        <p:spPr>
          <a:xfrm>
            <a:off x="960120" y="5056632"/>
            <a:ext cx="320040" cy="274320"/>
          </a:xfrm>
          <a:prstGeom prst="rect">
            <a:avLst/>
          </a:prstGeom>
          <a:noFill/>
          <a:ln/>
        </p:spPr>
        <p:txBody>
          <a:bodyPr wrap="square" lIns="0" tIns="0" rIns="0" bIns="0" rtlCol="0" anchor="ctr"/>
          <a:lstStyle/>
          <a:p>
            <a:pPr indent="0" marL="0">
              <a:buNone/>
            </a:pPr>
            <a:r>
              <a:rPr lang="en-US" sz="1300" b="1" dirty="0">
                <a:solidFill>
                  <a:srgbClr val="B85C2E"/>
                </a:solidFill>
                <a:latin typeface="Courier New" pitchFamily="34" charset="0"/>
                <a:ea typeface="Courier New" pitchFamily="34" charset="-122"/>
                <a:cs typeface="Courier New" pitchFamily="34" charset="-120"/>
              </a:rPr>
              <a:t>4</a:t>
            </a:r>
            <a:endParaRPr lang="en-US" sz="1300" dirty="0"/>
          </a:p>
        </p:txBody>
      </p:sp>
      <p:sp>
        <p:nvSpPr>
          <p:cNvPr id="29" name="Text 27"/>
          <p:cNvSpPr txBox="1"/>
          <p:nvPr/>
        </p:nvSpPr>
        <p:spPr>
          <a:xfrm>
            <a:off x="1371600" y="5056632"/>
            <a:ext cx="5852160" cy="274320"/>
          </a:xfrm>
          <a:prstGeom prst="rect">
            <a:avLst/>
          </a:prstGeom>
          <a:noFill/>
          <a:ln/>
        </p:spPr>
        <p:txBody>
          <a:bodyPr wrap="square" lIns="0" tIns="0" rIns="0" bIns="0" rtlCol="0" anchor="ctr"/>
          <a:lstStyle/>
          <a:p>
            <a:pPr indent="0" marL="0">
              <a:buNone/>
            </a:pPr>
            <a:r>
              <a:rPr lang="en-US" sz="1350" b="1" dirty="0">
                <a:solidFill>
                  <a:srgbClr val="16273F"/>
                </a:solidFill>
                <a:latin typeface="Calibri" pitchFamily="34" charset="0"/>
                <a:ea typeface="Calibri" pitchFamily="34" charset="-122"/>
                <a:cs typeface="Calibri" pitchFamily="34" charset="-120"/>
              </a:rPr>
              <a:t>Se prioriza y se mitiga</a:t>
            </a:r>
            <a:endParaRPr lang="en-US" sz="1350" dirty="0"/>
          </a:p>
        </p:txBody>
      </p:sp>
      <p:sp>
        <p:nvSpPr>
          <p:cNvPr id="30" name="Text 28"/>
          <p:cNvSpPr txBox="1"/>
          <p:nvPr/>
        </p:nvSpPr>
        <p:spPr>
          <a:xfrm>
            <a:off x="1371600" y="5349240"/>
            <a:ext cx="5852160" cy="502920"/>
          </a:xfrm>
          <a:prstGeom prst="rect">
            <a:avLst/>
          </a:prstGeom>
          <a:noFill/>
          <a:ln/>
        </p:spPr>
        <p:txBody>
          <a:bodyPr wrap="square" lIns="0" tIns="0" rIns="0" bIns="0" rtlCol="0" anchor="ctr"/>
          <a:lstStyle/>
          <a:p>
            <a:pPr indent="0" marL="0">
              <a:lnSpc>
                <a:spcPts val="1600"/>
              </a:lnSpc>
              <a:buNone/>
            </a:pPr>
            <a:r>
              <a:rPr lang="en-US" sz="1200" dirty="0">
                <a:solidFill>
                  <a:srgbClr val="1F2A36"/>
                </a:solidFill>
                <a:latin typeface="Calibri" pitchFamily="34" charset="0"/>
                <a:ea typeface="Calibri" pitchFamily="34" charset="-122"/>
                <a:cs typeface="Calibri" pitchFamily="34" charset="-120"/>
              </a:rPr>
              <a:t>Solo entonces se discute: qué se hace con los elementos que quedaron marcados.</a:t>
            </a:r>
            <a:endParaRPr lang="en-US" sz="1200" dirty="0"/>
          </a:p>
        </p:txBody>
      </p:sp>
      <p:sp>
        <p:nvSpPr>
          <p:cNvPr id="31" name="Shape 29"/>
          <p:cNvSpPr/>
          <p:nvPr/>
        </p:nvSpPr>
        <p:spPr>
          <a:xfrm>
            <a:off x="7680960" y="1920240"/>
            <a:ext cx="3822192" cy="1783080"/>
          </a:xfrm>
          <a:prstGeom prst="rect">
            <a:avLst/>
          </a:prstGeom>
          <a:solidFill>
            <a:srgbClr val="16273F"/>
          </a:solidFill>
          <a:ln w="12700">
            <a:solidFill>
              <a:srgbClr val="16273F"/>
            </a:solidFill>
            <a:prstDash val="solid"/>
          </a:ln>
        </p:spPr>
      </p:sp>
      <p:sp>
        <p:nvSpPr>
          <p:cNvPr id="32" name="Text 30"/>
          <p:cNvSpPr txBox="1"/>
          <p:nvPr/>
        </p:nvSpPr>
        <p:spPr>
          <a:xfrm>
            <a:off x="7909560" y="2121408"/>
            <a:ext cx="3291840" cy="219456"/>
          </a:xfrm>
          <a:prstGeom prst="rect">
            <a:avLst/>
          </a:prstGeom>
          <a:noFill/>
          <a:ln/>
        </p:spPr>
        <p:txBody>
          <a:bodyPr wrap="square" lIns="0" tIns="0" rIns="0" bIns="0" rtlCol="0" anchor="ctr"/>
          <a:lstStyle/>
          <a:p>
            <a:pPr indent="0" marL="0">
              <a:buNone/>
            </a:pPr>
            <a:r>
              <a:rPr lang="en-US" sz="850" spc="50" kern="0" dirty="0">
                <a:solidFill>
                  <a:srgbClr val="E8A66B"/>
                </a:solidFill>
                <a:latin typeface="Courier New" pitchFamily="34" charset="0"/>
                <a:ea typeface="Courier New" pitchFamily="34" charset="-122"/>
                <a:cs typeface="Courier New" pitchFamily="34" charset="-120"/>
              </a:rPr>
              <a:t>POR QUÉ EN SILENCIO</a:t>
            </a:r>
            <a:endParaRPr lang="en-US" sz="850" dirty="0"/>
          </a:p>
        </p:txBody>
      </p:sp>
      <p:sp>
        <p:nvSpPr>
          <p:cNvPr id="33" name="Text 31"/>
          <p:cNvSpPr txBox="1"/>
          <p:nvPr/>
        </p:nvSpPr>
        <p:spPr>
          <a:xfrm>
            <a:off x="7909560" y="2450592"/>
            <a:ext cx="3383280" cy="1143000"/>
          </a:xfrm>
          <a:prstGeom prst="rect">
            <a:avLst/>
          </a:prstGeom>
          <a:noFill/>
          <a:ln/>
        </p:spPr>
        <p:txBody>
          <a:bodyPr wrap="square" lIns="0" tIns="0" rIns="0" bIns="0" rtlCol="0" anchor="ctr"/>
          <a:lstStyle/>
          <a:p>
            <a:pPr indent="0" marL="0">
              <a:lnSpc>
                <a:spcPts val="1700"/>
              </a:lnSpc>
              <a:buNone/>
            </a:pPr>
            <a:r>
              <a:rPr lang="en-US" sz="1200" dirty="0">
                <a:solidFill>
                  <a:srgbClr val="FFFFFF"/>
                </a:solidFill>
                <a:latin typeface="Calibri" pitchFamily="34" charset="0"/>
                <a:ea typeface="Calibri" pitchFamily="34" charset="-122"/>
                <a:cs typeface="Calibri" pitchFamily="34" charset="-120"/>
              </a:rPr>
              <a:t>Si se discute antes de marcar, la primera opinión contagia al resto y desaparecen los puntos de vista minoritarios, que suelen ser los que detectan el riesgo real.</a:t>
            </a:r>
            <a:endParaRPr lang="en-US" sz="1200" dirty="0"/>
          </a:p>
        </p:txBody>
      </p:sp>
      <p:sp>
        <p:nvSpPr>
          <p:cNvPr id="34" name="Shape 32"/>
          <p:cNvSpPr/>
          <p:nvPr/>
        </p:nvSpPr>
        <p:spPr>
          <a:xfrm>
            <a:off x="7680960" y="3886200"/>
            <a:ext cx="3822192" cy="1828800"/>
          </a:xfrm>
          <a:prstGeom prst="rect">
            <a:avLst/>
          </a:prstGeom>
          <a:solidFill>
            <a:srgbClr val="FFFFFF"/>
          </a:solidFill>
          <a:ln w="15875">
            <a:solidFill>
              <a:srgbClr val="1E7A52"/>
            </a:solidFill>
            <a:prstDash val="solid"/>
          </a:ln>
        </p:spPr>
      </p:sp>
      <p:sp>
        <p:nvSpPr>
          <p:cNvPr id="35" name="Text 33"/>
          <p:cNvSpPr txBox="1"/>
          <p:nvPr/>
        </p:nvSpPr>
        <p:spPr>
          <a:xfrm>
            <a:off x="7909560" y="4087368"/>
            <a:ext cx="3291840" cy="219456"/>
          </a:xfrm>
          <a:prstGeom prst="rect">
            <a:avLst/>
          </a:prstGeom>
          <a:noFill/>
          <a:ln/>
        </p:spPr>
        <p:txBody>
          <a:bodyPr wrap="square" lIns="0" tIns="0" rIns="0" bIns="0" rtlCol="0" anchor="ctr"/>
          <a:lstStyle/>
          <a:p>
            <a:pPr indent="0" marL="0">
              <a:buNone/>
            </a:pPr>
            <a:r>
              <a:rPr lang="en-US" sz="850" spc="50" kern="0" dirty="0">
                <a:solidFill>
                  <a:srgbClr val="1E7A52"/>
                </a:solidFill>
                <a:latin typeface="Courier New" pitchFamily="34" charset="0"/>
                <a:ea typeface="Courier New" pitchFamily="34" charset="-122"/>
                <a:cs typeface="Courier New" pitchFamily="34" charset="-120"/>
              </a:rPr>
              <a:t>CONEXIÓN CON EL MÓDULO 4</a:t>
            </a:r>
            <a:endParaRPr lang="en-US" sz="850" dirty="0"/>
          </a:p>
        </p:txBody>
      </p:sp>
      <p:sp>
        <p:nvSpPr>
          <p:cNvPr id="36" name="Text 34"/>
          <p:cNvSpPr txBox="1"/>
          <p:nvPr/>
        </p:nvSpPr>
        <p:spPr>
          <a:xfrm>
            <a:off x="7909560" y="4416552"/>
            <a:ext cx="3383280" cy="1188720"/>
          </a:xfrm>
          <a:prstGeom prst="rect">
            <a:avLst/>
          </a:prstGeom>
          <a:noFill/>
          <a:ln/>
        </p:spPr>
        <p:txBody>
          <a:bodyPr wrap="square" lIns="0" tIns="0" rIns="0" bIns="0" rtlCol="0" anchor="ctr"/>
          <a:lstStyle/>
          <a:p>
            <a:pPr indent="0" marL="0">
              <a:lnSpc>
                <a:spcPts val="1700"/>
              </a:lnSpc>
              <a:buNone/>
            </a:pPr>
            <a:r>
              <a:rPr lang="en-US" sz="1200" dirty="0">
                <a:solidFill>
                  <a:srgbClr val="1F2A36"/>
                </a:solidFill>
                <a:latin typeface="Calibri" pitchFamily="34" charset="0"/>
                <a:ea typeface="Calibri" pitchFamily="34" charset="-122"/>
                <a:cs typeface="Calibri" pitchFamily="34" charset="-120"/>
              </a:rPr>
              <a:t>Aquí se cierra el círculo: el diagrama de contenedores que hicieron para documentar el sistema es ahora la superficie sobre la que se analiza el riesgo. Ese es el motivo real para mantenerlo actualizado.</a:t>
            </a:r>
            <a:endParaRPr lang="en-US" sz="1200" dirty="0"/>
          </a:p>
        </p:txBody>
      </p:sp>
      <p:sp>
        <p:nvSpPr>
          <p:cNvPr id="37" name="Text 35"/>
          <p:cNvSpPr txBox="1"/>
          <p:nvPr/>
        </p:nvSpPr>
        <p:spPr>
          <a:xfrm>
            <a:off x="685800" y="6583680"/>
            <a:ext cx="6400800" cy="237744"/>
          </a:xfrm>
          <a:prstGeom prst="rect">
            <a:avLst/>
          </a:prstGeom>
          <a:noFill/>
          <a:ln/>
        </p:spPr>
        <p:txBody>
          <a:bodyPr wrap="square" lIns="0" tIns="0" rIns="0" bIns="0" rtlCol="0" anchor="ctr"/>
          <a:lstStyle/>
          <a:p>
            <a:pPr indent="0" marL="0">
              <a:buNone/>
            </a:pPr>
            <a:r>
              <a:rPr lang="en-US" sz="800" dirty="0">
                <a:solidFill>
                  <a:srgbClr val="707C86"/>
                </a:solidFill>
                <a:latin typeface="Courier New" pitchFamily="34" charset="0"/>
                <a:ea typeface="Courier New" pitchFamily="34" charset="-122"/>
                <a:cs typeface="Courier New" pitchFamily="34" charset="-120"/>
              </a:rPr>
              <a:t>AREM · Módulo 9 · Evaluación de Riesgos Arquitectónicos</a:t>
            </a:r>
            <a:endParaRPr lang="en-US" sz="800" dirty="0"/>
          </a:p>
        </p:txBody>
      </p:sp>
      <p:sp>
        <p:nvSpPr>
          <p:cNvPr id="38" name="Text 36"/>
          <p:cNvSpPr txBox="1"/>
          <p:nvPr/>
        </p:nvSpPr>
        <p:spPr>
          <a:xfrm>
            <a:off x="10881360" y="6583680"/>
            <a:ext cx="621792" cy="237744"/>
          </a:xfrm>
          <a:prstGeom prst="rect">
            <a:avLst/>
          </a:prstGeom>
          <a:noFill/>
          <a:ln/>
        </p:spPr>
        <p:txBody>
          <a:bodyPr wrap="square" lIns="0" tIns="0" rIns="0" bIns="0" rtlCol="0" anchor="ctr"/>
          <a:lstStyle/>
          <a:p>
            <a:pPr algn="r" indent="0" marL="0">
              <a:buNone/>
            </a:pPr>
            <a:r>
              <a:rPr lang="en-US" sz="800" dirty="0">
                <a:solidFill>
                  <a:srgbClr val="707C86"/>
                </a:solidFill>
                <a:latin typeface="Courier New" pitchFamily="34" charset="0"/>
                <a:ea typeface="Courier New" pitchFamily="34" charset="-122"/>
                <a:cs typeface="Courier New" pitchFamily="34" charset="-120"/>
              </a:rPr>
              <a:t>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4ED"/>
        </a:solidFill>
      </p:bgPr>
    </p:bg>
    <p:spTree>
      <p:nvGrpSpPr>
        <p:cNvPr id="1" name=""/>
        <p:cNvGrpSpPr/>
        <p:nvPr/>
      </p:nvGrpSpPr>
      <p:grpSpPr>
        <a:xfrm>
          <a:off x="0" y="0"/>
          <a:ext cx="0" cy="0"/>
          <a:chOff x="0" y="0"/>
          <a:chExt cx="0" cy="0"/>
        </a:xfrm>
      </p:grpSpPr>
      <p:sp>
        <p:nvSpPr>
          <p:cNvPr id="2" name="Shape 0"/>
          <p:cNvSpPr/>
          <p:nvPr/>
        </p:nvSpPr>
        <p:spPr>
          <a:xfrm>
            <a:off x="384048" y="310896"/>
            <a:ext cx="11420856" cy="10973"/>
          </a:xfrm>
          <a:prstGeom prst="rect">
            <a:avLst/>
          </a:prstGeom>
          <a:solidFill>
            <a:srgbClr val="C6C4B8"/>
          </a:solidFill>
          <a:ln w="12700">
            <a:solidFill>
              <a:srgbClr val="C6C4B8"/>
            </a:solidFill>
            <a:prstDash val="solid"/>
          </a:ln>
        </p:spPr>
      </p:sp>
      <p:sp>
        <p:nvSpPr>
          <p:cNvPr id="3" name="Shape 1"/>
          <p:cNvSpPr/>
          <p:nvPr/>
        </p:nvSpPr>
        <p:spPr>
          <a:xfrm>
            <a:off x="384048" y="6510528"/>
            <a:ext cx="11420856" cy="10973"/>
          </a:xfrm>
          <a:prstGeom prst="rect">
            <a:avLst/>
          </a:prstGeom>
          <a:solidFill>
            <a:srgbClr val="C6C4B8"/>
          </a:solidFill>
          <a:ln w="12700">
            <a:solidFill>
              <a:srgbClr val="C6C4B8"/>
            </a:solidFill>
            <a:prstDash val="solid"/>
          </a:ln>
        </p:spPr>
      </p:sp>
      <p:sp>
        <p:nvSpPr>
          <p:cNvPr id="4" name="Shape 2"/>
          <p:cNvSpPr/>
          <p:nvPr/>
        </p:nvSpPr>
        <p:spPr>
          <a:xfrm>
            <a:off x="384048" y="310896"/>
            <a:ext cx="10973" cy="6208776"/>
          </a:xfrm>
          <a:prstGeom prst="rect">
            <a:avLst/>
          </a:prstGeom>
          <a:solidFill>
            <a:srgbClr val="C6C4B8"/>
          </a:solidFill>
          <a:ln w="12700">
            <a:solidFill>
              <a:srgbClr val="C6C4B8"/>
            </a:solidFill>
            <a:prstDash val="solid"/>
          </a:ln>
        </p:spPr>
      </p:sp>
      <p:sp>
        <p:nvSpPr>
          <p:cNvPr id="5" name="Shape 3"/>
          <p:cNvSpPr/>
          <p:nvPr/>
        </p:nvSpPr>
        <p:spPr>
          <a:xfrm>
            <a:off x="11795760" y="310896"/>
            <a:ext cx="10973" cy="6208776"/>
          </a:xfrm>
          <a:prstGeom prst="rect">
            <a:avLst/>
          </a:prstGeom>
          <a:solidFill>
            <a:srgbClr val="C6C4B8"/>
          </a:solidFill>
          <a:ln w="12700">
            <a:solidFill>
              <a:srgbClr val="C6C4B8"/>
            </a:solidFill>
            <a:prstDash val="solid"/>
          </a:ln>
        </p:spPr>
      </p:sp>
      <p:sp>
        <p:nvSpPr>
          <p:cNvPr id="6" name="Shape 4"/>
          <p:cNvSpPr/>
          <p:nvPr/>
        </p:nvSpPr>
        <p:spPr>
          <a:xfrm>
            <a:off x="283464" y="306324"/>
            <a:ext cx="201168" cy="9144"/>
          </a:xfrm>
          <a:prstGeom prst="rect">
            <a:avLst/>
          </a:prstGeom>
          <a:solidFill>
            <a:srgbClr val="5A7189"/>
          </a:solidFill>
          <a:ln w="12700">
            <a:solidFill>
              <a:srgbClr val="5A7189"/>
            </a:solidFill>
            <a:prstDash val="solid"/>
          </a:ln>
        </p:spPr>
      </p:sp>
      <p:sp>
        <p:nvSpPr>
          <p:cNvPr id="7" name="Shape 5"/>
          <p:cNvSpPr/>
          <p:nvPr/>
        </p:nvSpPr>
        <p:spPr>
          <a:xfrm>
            <a:off x="379476" y="210312"/>
            <a:ext cx="9144" cy="201168"/>
          </a:xfrm>
          <a:prstGeom prst="rect">
            <a:avLst/>
          </a:prstGeom>
          <a:solidFill>
            <a:srgbClr val="5A7189"/>
          </a:solidFill>
          <a:ln w="12700">
            <a:solidFill>
              <a:srgbClr val="5A7189"/>
            </a:solidFill>
            <a:prstDash val="solid"/>
          </a:ln>
        </p:spPr>
      </p:sp>
      <p:sp>
        <p:nvSpPr>
          <p:cNvPr id="8" name="Shape 6"/>
          <p:cNvSpPr/>
          <p:nvPr/>
        </p:nvSpPr>
        <p:spPr>
          <a:xfrm>
            <a:off x="11695176" y="306324"/>
            <a:ext cx="201168" cy="9144"/>
          </a:xfrm>
          <a:prstGeom prst="rect">
            <a:avLst/>
          </a:prstGeom>
          <a:solidFill>
            <a:srgbClr val="5A7189"/>
          </a:solidFill>
          <a:ln w="12700">
            <a:solidFill>
              <a:srgbClr val="5A7189"/>
            </a:solidFill>
            <a:prstDash val="solid"/>
          </a:ln>
        </p:spPr>
      </p:sp>
      <p:sp>
        <p:nvSpPr>
          <p:cNvPr id="9" name="Shape 7"/>
          <p:cNvSpPr/>
          <p:nvPr/>
        </p:nvSpPr>
        <p:spPr>
          <a:xfrm>
            <a:off x="11791188" y="210312"/>
            <a:ext cx="9144" cy="201168"/>
          </a:xfrm>
          <a:prstGeom prst="rect">
            <a:avLst/>
          </a:prstGeom>
          <a:solidFill>
            <a:srgbClr val="5A7189"/>
          </a:solidFill>
          <a:ln w="12700">
            <a:solidFill>
              <a:srgbClr val="5A7189"/>
            </a:solidFill>
            <a:prstDash val="solid"/>
          </a:ln>
        </p:spPr>
      </p:sp>
      <p:sp>
        <p:nvSpPr>
          <p:cNvPr id="10" name="Shape 8"/>
          <p:cNvSpPr/>
          <p:nvPr/>
        </p:nvSpPr>
        <p:spPr>
          <a:xfrm>
            <a:off x="283464" y="6505956"/>
            <a:ext cx="201168" cy="9144"/>
          </a:xfrm>
          <a:prstGeom prst="rect">
            <a:avLst/>
          </a:prstGeom>
          <a:solidFill>
            <a:srgbClr val="5A7189"/>
          </a:solidFill>
          <a:ln w="12700">
            <a:solidFill>
              <a:srgbClr val="5A7189"/>
            </a:solidFill>
            <a:prstDash val="solid"/>
          </a:ln>
        </p:spPr>
      </p:sp>
      <p:sp>
        <p:nvSpPr>
          <p:cNvPr id="11" name="Shape 9"/>
          <p:cNvSpPr/>
          <p:nvPr/>
        </p:nvSpPr>
        <p:spPr>
          <a:xfrm>
            <a:off x="379476" y="6409944"/>
            <a:ext cx="9144" cy="201168"/>
          </a:xfrm>
          <a:prstGeom prst="rect">
            <a:avLst/>
          </a:prstGeom>
          <a:solidFill>
            <a:srgbClr val="5A7189"/>
          </a:solidFill>
          <a:ln w="12700">
            <a:solidFill>
              <a:srgbClr val="5A7189"/>
            </a:solidFill>
            <a:prstDash val="solid"/>
          </a:ln>
        </p:spPr>
      </p:sp>
      <p:sp>
        <p:nvSpPr>
          <p:cNvPr id="12" name="Shape 10"/>
          <p:cNvSpPr/>
          <p:nvPr/>
        </p:nvSpPr>
        <p:spPr>
          <a:xfrm>
            <a:off x="11695176" y="6505956"/>
            <a:ext cx="201168" cy="9144"/>
          </a:xfrm>
          <a:prstGeom prst="rect">
            <a:avLst/>
          </a:prstGeom>
          <a:solidFill>
            <a:srgbClr val="5A7189"/>
          </a:solidFill>
          <a:ln w="12700">
            <a:solidFill>
              <a:srgbClr val="5A7189"/>
            </a:solidFill>
            <a:prstDash val="solid"/>
          </a:ln>
        </p:spPr>
      </p:sp>
      <p:sp>
        <p:nvSpPr>
          <p:cNvPr id="13" name="Shape 11"/>
          <p:cNvSpPr/>
          <p:nvPr/>
        </p:nvSpPr>
        <p:spPr>
          <a:xfrm>
            <a:off x="11791188" y="6409944"/>
            <a:ext cx="9144" cy="201168"/>
          </a:xfrm>
          <a:prstGeom prst="rect">
            <a:avLst/>
          </a:prstGeom>
          <a:solidFill>
            <a:srgbClr val="5A7189"/>
          </a:solidFill>
          <a:ln w="12700">
            <a:solidFill>
              <a:srgbClr val="5A7189"/>
            </a:solidFill>
            <a:prstDash val="solid"/>
          </a:ln>
        </p:spPr>
      </p:sp>
      <p:sp>
        <p:nvSpPr>
          <p:cNvPr id="14" name="Text 12"/>
          <p:cNvSpPr txBox="1"/>
          <p:nvPr/>
        </p:nvSpPr>
        <p:spPr>
          <a:xfrm>
            <a:off x="685800" y="566928"/>
            <a:ext cx="7315200" cy="237744"/>
          </a:xfrm>
          <a:prstGeom prst="rect">
            <a:avLst/>
          </a:prstGeom>
          <a:noFill/>
          <a:ln/>
        </p:spPr>
        <p:txBody>
          <a:bodyPr wrap="square" lIns="0" tIns="0" rIns="0" bIns="0" rtlCol="0" anchor="ctr"/>
          <a:lstStyle/>
          <a:p>
            <a:pPr indent="0" marL="0">
              <a:buNone/>
            </a:pPr>
            <a:r>
              <a:rPr lang="en-US" sz="1000" spc="100" kern="0" dirty="0">
                <a:solidFill>
                  <a:srgbClr val="B85C2E"/>
                </a:solidFill>
                <a:latin typeface="Courier New" pitchFamily="34" charset="0"/>
                <a:ea typeface="Courier New" pitchFamily="34" charset="-122"/>
                <a:cs typeface="Courier New" pitchFamily="34" charset="-120"/>
              </a:rPr>
              <a:t>09 · PRIORIZACIÓN</a:t>
            </a:r>
            <a:endParaRPr lang="en-US" sz="1000" dirty="0"/>
          </a:p>
        </p:txBody>
      </p:sp>
      <p:sp>
        <p:nvSpPr>
          <p:cNvPr id="15" name="Text 13"/>
          <p:cNvSpPr txBox="1"/>
          <p:nvPr/>
        </p:nvSpPr>
        <p:spPr>
          <a:xfrm>
            <a:off x="685800" y="822960"/>
            <a:ext cx="10820095" cy="566928"/>
          </a:xfrm>
          <a:prstGeom prst="rect">
            <a:avLst/>
          </a:prstGeom>
          <a:noFill/>
          <a:ln/>
        </p:spPr>
        <p:txBody>
          <a:bodyPr wrap="square" lIns="0" tIns="0" rIns="0" bIns="0" rtlCol="0" anchor="ctr"/>
          <a:lstStyle/>
          <a:p>
            <a:pPr indent="0" marL="0">
              <a:buNone/>
            </a:pPr>
            <a:r>
              <a:rPr lang="en-US" sz="3000" b="1" dirty="0">
                <a:solidFill>
                  <a:srgbClr val="16273F"/>
                </a:solidFill>
                <a:latin typeface="Arial" pitchFamily="34" charset="0"/>
                <a:ea typeface="Arial" pitchFamily="34" charset="-122"/>
                <a:cs typeface="Arial" pitchFamily="34" charset="-120"/>
              </a:rPr>
              <a:t>Matriz de impacto y probabilidad</a:t>
            </a:r>
            <a:endParaRPr lang="en-US" sz="3000" dirty="0"/>
          </a:p>
        </p:txBody>
      </p:sp>
      <p:sp>
        <p:nvSpPr>
          <p:cNvPr id="16" name="Text 14"/>
          <p:cNvSpPr txBox="1"/>
          <p:nvPr/>
        </p:nvSpPr>
        <p:spPr>
          <a:xfrm>
            <a:off x="685800" y="1389888"/>
            <a:ext cx="10820095" cy="310896"/>
          </a:xfrm>
          <a:prstGeom prst="rect">
            <a:avLst/>
          </a:prstGeom>
          <a:noFill/>
          <a:ln/>
        </p:spPr>
        <p:txBody>
          <a:bodyPr wrap="square" lIns="0" tIns="0" rIns="0" bIns="0" rtlCol="0" anchor="ctr"/>
          <a:lstStyle/>
          <a:p>
            <a:pPr indent="0" marL="0">
              <a:buNone/>
            </a:pPr>
            <a:r>
              <a:rPr lang="en-US" sz="1350" dirty="0">
                <a:solidFill>
                  <a:srgbClr val="707C86"/>
                </a:solidFill>
                <a:latin typeface="Calibri" pitchFamily="34" charset="0"/>
                <a:ea typeface="Calibri" pitchFamily="34" charset="-122"/>
                <a:cs typeface="Calibri" pitchFamily="34" charset="-120"/>
              </a:rPr>
              <a:t>Impacto en el eje vertical, probabilidad en el horizontal</a:t>
            </a:r>
            <a:endParaRPr lang="en-US" sz="1350" dirty="0"/>
          </a:p>
        </p:txBody>
      </p:sp>
      <p:sp>
        <p:nvSpPr>
          <p:cNvPr id="17" name="Shape 15"/>
          <p:cNvSpPr/>
          <p:nvPr/>
        </p:nvSpPr>
        <p:spPr>
          <a:xfrm>
            <a:off x="1965960" y="2148840"/>
            <a:ext cx="3703320" cy="1783080"/>
          </a:xfrm>
          <a:prstGeom prst="rect">
            <a:avLst/>
          </a:prstGeom>
          <a:solidFill>
            <a:srgbClr val="D8863F"/>
          </a:solidFill>
          <a:ln w="25400">
            <a:solidFill>
              <a:srgbClr val="FFFFFF"/>
            </a:solidFill>
            <a:prstDash val="solid"/>
          </a:ln>
        </p:spPr>
      </p:sp>
      <p:sp>
        <p:nvSpPr>
          <p:cNvPr id="18" name="Text 16"/>
          <p:cNvSpPr txBox="1"/>
          <p:nvPr/>
        </p:nvSpPr>
        <p:spPr>
          <a:xfrm>
            <a:off x="2194560" y="2313432"/>
            <a:ext cx="3246120" cy="274320"/>
          </a:xfrm>
          <a:prstGeom prst="rect">
            <a:avLst/>
          </a:prstGeom>
          <a:noFill/>
          <a:ln/>
        </p:spPr>
        <p:txBody>
          <a:bodyPr wrap="square" lIns="0" tIns="0" rIns="0" bIns="0" rtlCol="0" anchor="ctr"/>
          <a:lstStyle/>
          <a:p>
            <a:pPr indent="0" marL="0">
              <a:buNone/>
            </a:pPr>
            <a:r>
              <a:rPr lang="en-US" sz="1100" b="1" spc="100" kern="0" dirty="0">
                <a:solidFill>
                  <a:srgbClr val="FFFFFF"/>
                </a:solidFill>
                <a:latin typeface="Courier New" pitchFamily="34" charset="0"/>
                <a:ea typeface="Courier New" pitchFamily="34" charset="-122"/>
                <a:cs typeface="Courier New" pitchFamily="34" charset="-120"/>
              </a:rPr>
              <a:t>CRÍTICO CONTINGENTE</a:t>
            </a:r>
            <a:endParaRPr lang="en-US" sz="1100" dirty="0"/>
          </a:p>
        </p:txBody>
      </p:sp>
      <p:sp>
        <p:nvSpPr>
          <p:cNvPr id="19" name="Text 17"/>
          <p:cNvSpPr txBox="1"/>
          <p:nvPr/>
        </p:nvSpPr>
        <p:spPr>
          <a:xfrm>
            <a:off x="2194560" y="2606040"/>
            <a:ext cx="3246120" cy="256032"/>
          </a:xfrm>
          <a:prstGeom prst="rect">
            <a:avLst/>
          </a:prstGeom>
          <a:noFill/>
          <a:ln/>
        </p:spPr>
        <p:txBody>
          <a:bodyPr wrap="square" lIns="0" tIns="0" rIns="0" bIns="0" rtlCol="0" anchor="ctr"/>
          <a:lstStyle/>
          <a:p>
            <a:pPr indent="0" marL="0">
              <a:buNone/>
            </a:pPr>
            <a:r>
              <a:rPr lang="en-US" sz="1100" dirty="0">
                <a:solidFill>
                  <a:srgbClr val="F2EFE8"/>
                </a:solidFill>
                <a:latin typeface="Calibri" pitchFamily="34" charset="0"/>
                <a:ea typeface="Calibri" pitchFamily="34" charset="-122"/>
                <a:cs typeface="Calibri" pitchFamily="34" charset="-120"/>
              </a:rPr>
              <a:t>Alto impacto · baja probabilidad</a:t>
            </a:r>
            <a:endParaRPr lang="en-US" sz="1100" dirty="0"/>
          </a:p>
        </p:txBody>
      </p:sp>
      <p:sp>
        <p:nvSpPr>
          <p:cNvPr id="20" name="Text 18"/>
          <p:cNvSpPr txBox="1"/>
          <p:nvPr/>
        </p:nvSpPr>
        <p:spPr>
          <a:xfrm>
            <a:off x="2194560" y="2926080"/>
            <a:ext cx="3246120" cy="502920"/>
          </a:xfrm>
          <a:prstGeom prst="rect">
            <a:avLst/>
          </a:prstGeom>
          <a:noFill/>
          <a:ln/>
        </p:spPr>
        <p:txBody>
          <a:bodyPr wrap="square" lIns="0" tIns="0" rIns="0" bIns="0" rtlCol="0" anchor="ctr"/>
          <a:lstStyle/>
          <a:p>
            <a:pPr indent="0" marL="0">
              <a:lnSpc>
                <a:spcPts val="1500"/>
              </a:lnSpc>
              <a:buNone/>
            </a:pPr>
            <a:r>
              <a:rPr lang="en-US" sz="1150" b="1" dirty="0">
                <a:solidFill>
                  <a:srgbClr val="FFFFFF"/>
                </a:solidFill>
                <a:latin typeface="Calibri" pitchFamily="34" charset="0"/>
                <a:ea typeface="Calibri" pitchFamily="34" charset="-122"/>
                <a:cs typeface="Calibri" pitchFamily="34" charset="-120"/>
              </a:rPr>
              <a:t>Ejemplo: </a:t>
            </a:r>
            <a:pPr indent="0" marL="0">
              <a:lnSpc>
                <a:spcPts val="1500"/>
              </a:lnSpc>
              <a:buNone/>
            </a:pPr>
            <a:r>
              <a:rPr lang="en-US" sz="1150" dirty="0">
                <a:solidFill>
                  <a:srgbClr val="FFFFFF"/>
                </a:solidFill>
                <a:latin typeface="Calibri" pitchFamily="34" charset="0"/>
                <a:ea typeface="Calibri" pitchFamily="34" charset="-122"/>
                <a:cs typeface="Calibri" pitchFamily="34" charset="-120"/>
              </a:rPr>
              <a:t>Incumplimiento normativo</a:t>
            </a:r>
            <a:endParaRPr lang="en-US" sz="1150" dirty="0"/>
          </a:p>
        </p:txBody>
      </p:sp>
      <p:sp>
        <p:nvSpPr>
          <p:cNvPr id="21" name="Text 19"/>
          <p:cNvSpPr txBox="1"/>
          <p:nvPr/>
        </p:nvSpPr>
        <p:spPr>
          <a:xfrm>
            <a:off x="2194560" y="3474720"/>
            <a:ext cx="324612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Plan de contingencia documentado</a:t>
            </a:r>
            <a:endParaRPr lang="en-US" sz="1150" dirty="0"/>
          </a:p>
        </p:txBody>
      </p:sp>
      <p:sp>
        <p:nvSpPr>
          <p:cNvPr id="22" name="Shape 20"/>
          <p:cNvSpPr/>
          <p:nvPr/>
        </p:nvSpPr>
        <p:spPr>
          <a:xfrm>
            <a:off x="5669280" y="2148840"/>
            <a:ext cx="3703320" cy="1783080"/>
          </a:xfrm>
          <a:prstGeom prst="rect">
            <a:avLst/>
          </a:prstGeom>
          <a:solidFill>
            <a:srgbClr val="B5432E"/>
          </a:solidFill>
          <a:ln w="25400">
            <a:solidFill>
              <a:srgbClr val="FFFFFF"/>
            </a:solidFill>
            <a:prstDash val="solid"/>
          </a:ln>
        </p:spPr>
      </p:sp>
      <p:sp>
        <p:nvSpPr>
          <p:cNvPr id="23" name="Text 21"/>
          <p:cNvSpPr txBox="1"/>
          <p:nvPr/>
        </p:nvSpPr>
        <p:spPr>
          <a:xfrm>
            <a:off x="5897880" y="2313432"/>
            <a:ext cx="3246120" cy="274320"/>
          </a:xfrm>
          <a:prstGeom prst="rect">
            <a:avLst/>
          </a:prstGeom>
          <a:noFill/>
          <a:ln/>
        </p:spPr>
        <p:txBody>
          <a:bodyPr wrap="square" lIns="0" tIns="0" rIns="0" bIns="0" rtlCol="0" anchor="ctr"/>
          <a:lstStyle/>
          <a:p>
            <a:pPr indent="0" marL="0">
              <a:buNone/>
            </a:pPr>
            <a:r>
              <a:rPr lang="en-US" sz="1100" b="1" spc="100" kern="0" dirty="0">
                <a:solidFill>
                  <a:srgbClr val="FFFFFF"/>
                </a:solidFill>
                <a:latin typeface="Courier New" pitchFamily="34" charset="0"/>
                <a:ea typeface="Courier New" pitchFamily="34" charset="-122"/>
                <a:cs typeface="Courier New" pitchFamily="34" charset="-120"/>
              </a:rPr>
              <a:t>CRÍTICO</a:t>
            </a:r>
            <a:endParaRPr lang="en-US" sz="1100" dirty="0"/>
          </a:p>
        </p:txBody>
      </p:sp>
      <p:sp>
        <p:nvSpPr>
          <p:cNvPr id="24" name="Text 22"/>
          <p:cNvSpPr txBox="1"/>
          <p:nvPr/>
        </p:nvSpPr>
        <p:spPr>
          <a:xfrm>
            <a:off x="5897880" y="2606040"/>
            <a:ext cx="3246120" cy="256032"/>
          </a:xfrm>
          <a:prstGeom prst="rect">
            <a:avLst/>
          </a:prstGeom>
          <a:noFill/>
          <a:ln/>
        </p:spPr>
        <p:txBody>
          <a:bodyPr wrap="square" lIns="0" tIns="0" rIns="0" bIns="0" rtlCol="0" anchor="ctr"/>
          <a:lstStyle/>
          <a:p>
            <a:pPr indent="0" marL="0">
              <a:buNone/>
            </a:pPr>
            <a:r>
              <a:rPr lang="en-US" sz="1100" dirty="0">
                <a:solidFill>
                  <a:srgbClr val="F2EFE8"/>
                </a:solidFill>
                <a:latin typeface="Calibri" pitchFamily="34" charset="0"/>
                <a:ea typeface="Calibri" pitchFamily="34" charset="-122"/>
                <a:cs typeface="Calibri" pitchFamily="34" charset="-120"/>
              </a:rPr>
              <a:t>Alto impacto · alta probabilidad</a:t>
            </a:r>
            <a:endParaRPr lang="en-US" sz="1100" dirty="0"/>
          </a:p>
        </p:txBody>
      </p:sp>
      <p:sp>
        <p:nvSpPr>
          <p:cNvPr id="25" name="Text 23"/>
          <p:cNvSpPr txBox="1"/>
          <p:nvPr/>
        </p:nvSpPr>
        <p:spPr>
          <a:xfrm>
            <a:off x="5897880" y="2926080"/>
            <a:ext cx="3246120" cy="502920"/>
          </a:xfrm>
          <a:prstGeom prst="rect">
            <a:avLst/>
          </a:prstGeom>
          <a:noFill/>
          <a:ln/>
        </p:spPr>
        <p:txBody>
          <a:bodyPr wrap="square" lIns="0" tIns="0" rIns="0" bIns="0" rtlCol="0" anchor="ctr"/>
          <a:lstStyle/>
          <a:p>
            <a:pPr indent="0" marL="0">
              <a:lnSpc>
                <a:spcPts val="1500"/>
              </a:lnSpc>
              <a:buNone/>
            </a:pPr>
            <a:r>
              <a:rPr lang="en-US" sz="1150" b="1" dirty="0">
                <a:solidFill>
                  <a:srgbClr val="FFFFFF"/>
                </a:solidFill>
                <a:latin typeface="Calibri" pitchFamily="34" charset="0"/>
                <a:ea typeface="Calibri" pitchFamily="34" charset="-122"/>
                <a:cs typeface="Calibri" pitchFamily="34" charset="-120"/>
              </a:rPr>
              <a:t>Ejemplo: </a:t>
            </a:r>
            <a:pPr indent="0" marL="0">
              <a:lnSpc>
                <a:spcPts val="1500"/>
              </a:lnSpc>
              <a:buNone/>
            </a:pPr>
            <a:r>
              <a:rPr lang="en-US" sz="1150" dirty="0">
                <a:solidFill>
                  <a:srgbClr val="FFFFFF"/>
                </a:solidFill>
                <a:latin typeface="Calibri" pitchFamily="34" charset="0"/>
                <a:ea typeface="Calibri" pitchFamily="34" charset="-122"/>
                <a:cs typeface="Calibri" pitchFamily="34" charset="-120"/>
              </a:rPr>
              <a:t>Vulnerabilidad de seguridad conocida</a:t>
            </a:r>
            <a:endParaRPr lang="en-US" sz="1150" dirty="0"/>
          </a:p>
        </p:txBody>
      </p:sp>
      <p:sp>
        <p:nvSpPr>
          <p:cNvPr id="26" name="Text 24"/>
          <p:cNvSpPr txBox="1"/>
          <p:nvPr/>
        </p:nvSpPr>
        <p:spPr>
          <a:xfrm>
            <a:off x="5897880" y="3474720"/>
            <a:ext cx="324612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Atender de inmediato</a:t>
            </a:r>
            <a:endParaRPr lang="en-US" sz="1150" dirty="0"/>
          </a:p>
        </p:txBody>
      </p:sp>
      <p:sp>
        <p:nvSpPr>
          <p:cNvPr id="27" name="Shape 25"/>
          <p:cNvSpPr/>
          <p:nvPr/>
        </p:nvSpPr>
        <p:spPr>
          <a:xfrm>
            <a:off x="1965960" y="3931920"/>
            <a:ext cx="3703320" cy="1783080"/>
          </a:xfrm>
          <a:prstGeom prst="rect">
            <a:avLst/>
          </a:prstGeom>
          <a:solidFill>
            <a:srgbClr val="7C8B96"/>
          </a:solidFill>
          <a:ln w="25400">
            <a:solidFill>
              <a:srgbClr val="FFFFFF"/>
            </a:solidFill>
            <a:prstDash val="solid"/>
          </a:ln>
        </p:spPr>
      </p:sp>
      <p:sp>
        <p:nvSpPr>
          <p:cNvPr id="28" name="Text 26"/>
          <p:cNvSpPr txBox="1"/>
          <p:nvPr/>
        </p:nvSpPr>
        <p:spPr>
          <a:xfrm>
            <a:off x="2194560" y="4096512"/>
            <a:ext cx="3246120" cy="274320"/>
          </a:xfrm>
          <a:prstGeom prst="rect">
            <a:avLst/>
          </a:prstGeom>
          <a:noFill/>
          <a:ln/>
        </p:spPr>
        <p:txBody>
          <a:bodyPr wrap="square" lIns="0" tIns="0" rIns="0" bIns="0" rtlCol="0" anchor="ctr"/>
          <a:lstStyle/>
          <a:p>
            <a:pPr indent="0" marL="0">
              <a:buNone/>
            </a:pPr>
            <a:r>
              <a:rPr lang="en-US" sz="1100" b="1" spc="100" kern="0" dirty="0">
                <a:solidFill>
                  <a:srgbClr val="FFFFFF"/>
                </a:solidFill>
                <a:latin typeface="Courier New" pitchFamily="34" charset="0"/>
                <a:ea typeface="Courier New" pitchFamily="34" charset="-122"/>
                <a:cs typeface="Courier New" pitchFamily="34" charset="-120"/>
              </a:rPr>
              <a:t>BAJO</a:t>
            </a:r>
            <a:endParaRPr lang="en-US" sz="1100" dirty="0"/>
          </a:p>
        </p:txBody>
      </p:sp>
      <p:sp>
        <p:nvSpPr>
          <p:cNvPr id="29" name="Text 27"/>
          <p:cNvSpPr txBox="1"/>
          <p:nvPr/>
        </p:nvSpPr>
        <p:spPr>
          <a:xfrm>
            <a:off x="2194560" y="4389120"/>
            <a:ext cx="3246120" cy="256032"/>
          </a:xfrm>
          <a:prstGeom prst="rect">
            <a:avLst/>
          </a:prstGeom>
          <a:noFill/>
          <a:ln/>
        </p:spPr>
        <p:txBody>
          <a:bodyPr wrap="square" lIns="0" tIns="0" rIns="0" bIns="0" rtlCol="0" anchor="ctr"/>
          <a:lstStyle/>
          <a:p>
            <a:pPr indent="0" marL="0">
              <a:buNone/>
            </a:pPr>
            <a:r>
              <a:rPr lang="en-US" sz="1100" dirty="0">
                <a:solidFill>
                  <a:srgbClr val="F2EFE8"/>
                </a:solidFill>
                <a:latin typeface="Calibri" pitchFamily="34" charset="0"/>
                <a:ea typeface="Calibri" pitchFamily="34" charset="-122"/>
                <a:cs typeface="Calibri" pitchFamily="34" charset="-120"/>
              </a:rPr>
              <a:t>Bajo impacto · baja probabilidad</a:t>
            </a:r>
            <a:endParaRPr lang="en-US" sz="1100" dirty="0"/>
          </a:p>
        </p:txBody>
      </p:sp>
      <p:sp>
        <p:nvSpPr>
          <p:cNvPr id="30" name="Text 28"/>
          <p:cNvSpPr txBox="1"/>
          <p:nvPr/>
        </p:nvSpPr>
        <p:spPr>
          <a:xfrm>
            <a:off x="2194560" y="4709160"/>
            <a:ext cx="3246120" cy="502920"/>
          </a:xfrm>
          <a:prstGeom prst="rect">
            <a:avLst/>
          </a:prstGeom>
          <a:noFill/>
          <a:ln/>
        </p:spPr>
        <p:txBody>
          <a:bodyPr wrap="square" lIns="0" tIns="0" rIns="0" bIns="0" rtlCol="0" anchor="ctr"/>
          <a:lstStyle/>
          <a:p>
            <a:pPr indent="0" marL="0">
              <a:lnSpc>
                <a:spcPts val="1500"/>
              </a:lnSpc>
              <a:buNone/>
            </a:pPr>
            <a:r>
              <a:rPr lang="en-US" sz="1150" b="1" dirty="0">
                <a:solidFill>
                  <a:srgbClr val="FFFFFF"/>
                </a:solidFill>
                <a:latin typeface="Calibri" pitchFamily="34" charset="0"/>
                <a:ea typeface="Calibri" pitchFamily="34" charset="-122"/>
                <a:cs typeface="Calibri" pitchFamily="34" charset="-120"/>
              </a:rPr>
              <a:t>Ejemplo: </a:t>
            </a:r>
            <a:pPr indent="0" marL="0">
              <a:lnSpc>
                <a:spcPts val="1500"/>
              </a:lnSpc>
              <a:buNone/>
            </a:pPr>
            <a:r>
              <a:rPr lang="en-US" sz="1150" dirty="0">
                <a:solidFill>
                  <a:srgbClr val="FFFFFF"/>
                </a:solidFill>
                <a:latin typeface="Calibri" pitchFamily="34" charset="0"/>
                <a:ea typeface="Calibri" pitchFamily="34" charset="-122"/>
                <a:cs typeface="Calibri" pitchFamily="34" charset="-120"/>
              </a:rPr>
              <a:t>Mantenimiento menor</a:t>
            </a:r>
            <a:endParaRPr lang="en-US" sz="1150" dirty="0"/>
          </a:p>
        </p:txBody>
      </p:sp>
      <p:sp>
        <p:nvSpPr>
          <p:cNvPr id="31" name="Text 29"/>
          <p:cNvSpPr txBox="1"/>
          <p:nvPr/>
        </p:nvSpPr>
        <p:spPr>
          <a:xfrm>
            <a:off x="2194560" y="5257800"/>
            <a:ext cx="324612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Aceptar y monitorear</a:t>
            </a:r>
            <a:endParaRPr lang="en-US" sz="1150" dirty="0"/>
          </a:p>
        </p:txBody>
      </p:sp>
      <p:sp>
        <p:nvSpPr>
          <p:cNvPr id="32" name="Shape 30"/>
          <p:cNvSpPr/>
          <p:nvPr/>
        </p:nvSpPr>
        <p:spPr>
          <a:xfrm>
            <a:off x="5669280" y="3931920"/>
            <a:ext cx="3703320" cy="1783080"/>
          </a:xfrm>
          <a:prstGeom prst="rect">
            <a:avLst/>
          </a:prstGeom>
          <a:solidFill>
            <a:srgbClr val="C9A227"/>
          </a:solidFill>
          <a:ln w="25400">
            <a:solidFill>
              <a:srgbClr val="FFFFFF"/>
            </a:solidFill>
            <a:prstDash val="solid"/>
          </a:ln>
        </p:spPr>
      </p:sp>
      <p:sp>
        <p:nvSpPr>
          <p:cNvPr id="33" name="Text 31"/>
          <p:cNvSpPr txBox="1"/>
          <p:nvPr/>
        </p:nvSpPr>
        <p:spPr>
          <a:xfrm>
            <a:off x="5897880" y="4096512"/>
            <a:ext cx="3246120" cy="274320"/>
          </a:xfrm>
          <a:prstGeom prst="rect">
            <a:avLst/>
          </a:prstGeom>
          <a:noFill/>
          <a:ln/>
        </p:spPr>
        <p:txBody>
          <a:bodyPr wrap="square" lIns="0" tIns="0" rIns="0" bIns="0" rtlCol="0" anchor="ctr"/>
          <a:lstStyle/>
          <a:p>
            <a:pPr indent="0" marL="0">
              <a:buNone/>
            </a:pPr>
            <a:r>
              <a:rPr lang="en-US" sz="1100" b="1" spc="100" kern="0" dirty="0">
                <a:solidFill>
                  <a:srgbClr val="FFFFFF"/>
                </a:solidFill>
                <a:latin typeface="Courier New" pitchFamily="34" charset="0"/>
                <a:ea typeface="Courier New" pitchFamily="34" charset="-122"/>
                <a:cs typeface="Courier New" pitchFamily="34" charset="-120"/>
              </a:rPr>
              <a:t>MODERADO</a:t>
            </a:r>
            <a:endParaRPr lang="en-US" sz="1100" dirty="0"/>
          </a:p>
        </p:txBody>
      </p:sp>
      <p:sp>
        <p:nvSpPr>
          <p:cNvPr id="34" name="Text 32"/>
          <p:cNvSpPr txBox="1"/>
          <p:nvPr/>
        </p:nvSpPr>
        <p:spPr>
          <a:xfrm>
            <a:off x="5897880" y="4389120"/>
            <a:ext cx="3246120" cy="256032"/>
          </a:xfrm>
          <a:prstGeom prst="rect">
            <a:avLst/>
          </a:prstGeom>
          <a:noFill/>
          <a:ln/>
        </p:spPr>
        <p:txBody>
          <a:bodyPr wrap="square" lIns="0" tIns="0" rIns="0" bIns="0" rtlCol="0" anchor="ctr"/>
          <a:lstStyle/>
          <a:p>
            <a:pPr indent="0" marL="0">
              <a:buNone/>
            </a:pPr>
            <a:r>
              <a:rPr lang="en-US" sz="1100" dirty="0">
                <a:solidFill>
                  <a:srgbClr val="F2EFE8"/>
                </a:solidFill>
                <a:latin typeface="Calibri" pitchFamily="34" charset="0"/>
                <a:ea typeface="Calibri" pitchFamily="34" charset="-122"/>
                <a:cs typeface="Calibri" pitchFamily="34" charset="-120"/>
              </a:rPr>
              <a:t>Bajo impacto · alta probabilidad</a:t>
            </a:r>
            <a:endParaRPr lang="en-US" sz="1100" dirty="0"/>
          </a:p>
        </p:txBody>
      </p:sp>
      <p:sp>
        <p:nvSpPr>
          <p:cNvPr id="35" name="Text 33"/>
          <p:cNvSpPr txBox="1"/>
          <p:nvPr/>
        </p:nvSpPr>
        <p:spPr>
          <a:xfrm>
            <a:off x="5897880" y="4709160"/>
            <a:ext cx="3246120" cy="502920"/>
          </a:xfrm>
          <a:prstGeom prst="rect">
            <a:avLst/>
          </a:prstGeom>
          <a:noFill/>
          <a:ln/>
        </p:spPr>
        <p:txBody>
          <a:bodyPr wrap="square" lIns="0" tIns="0" rIns="0" bIns="0" rtlCol="0" anchor="ctr"/>
          <a:lstStyle/>
          <a:p>
            <a:pPr indent="0" marL="0">
              <a:lnSpc>
                <a:spcPts val="1500"/>
              </a:lnSpc>
              <a:buNone/>
            </a:pPr>
            <a:r>
              <a:rPr lang="en-US" sz="1150" b="1" dirty="0">
                <a:solidFill>
                  <a:srgbClr val="FFFFFF"/>
                </a:solidFill>
                <a:latin typeface="Calibri" pitchFamily="34" charset="0"/>
                <a:ea typeface="Calibri" pitchFamily="34" charset="-122"/>
                <a:cs typeface="Calibri" pitchFamily="34" charset="-120"/>
              </a:rPr>
              <a:t>Ejemplo: </a:t>
            </a:r>
            <a:pPr indent="0" marL="0">
              <a:lnSpc>
                <a:spcPts val="1500"/>
              </a:lnSpc>
              <a:buNone/>
            </a:pPr>
            <a:r>
              <a:rPr lang="en-US" sz="1150" dirty="0">
                <a:solidFill>
                  <a:srgbClr val="FFFFFF"/>
                </a:solidFill>
                <a:latin typeface="Calibri" pitchFamily="34" charset="0"/>
                <a:ea typeface="Calibri" pitchFamily="34" charset="-122"/>
                <a:cs typeface="Calibri" pitchFamily="34" charset="-120"/>
              </a:rPr>
              <a:t>Degradación de rendimiento en hora pico</a:t>
            </a:r>
            <a:endParaRPr lang="en-US" sz="1150" dirty="0"/>
          </a:p>
        </p:txBody>
      </p:sp>
      <p:sp>
        <p:nvSpPr>
          <p:cNvPr id="36" name="Text 34"/>
          <p:cNvSpPr txBox="1"/>
          <p:nvPr/>
        </p:nvSpPr>
        <p:spPr>
          <a:xfrm>
            <a:off x="5897880" y="5257800"/>
            <a:ext cx="324612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Gestionar con controles</a:t>
            </a:r>
            <a:endParaRPr lang="en-US" sz="1150" dirty="0"/>
          </a:p>
        </p:txBody>
      </p:sp>
      <p:sp>
        <p:nvSpPr>
          <p:cNvPr id="37" name="Text 35"/>
          <p:cNvSpPr txBox="1"/>
          <p:nvPr/>
        </p:nvSpPr>
        <p:spPr>
          <a:xfrm>
            <a:off x="960120" y="3200400"/>
            <a:ext cx="914400" cy="274320"/>
          </a:xfrm>
          <a:prstGeom prst="rect">
            <a:avLst/>
          </a:prstGeom>
          <a:noFill/>
          <a:ln/>
        </p:spPr>
        <p:txBody>
          <a:bodyPr wrap="square" lIns="0" tIns="0" rIns="0" bIns="0" rtlCol="0" anchor="ctr"/>
          <a:lstStyle/>
          <a:p>
            <a:pPr algn="r" indent="0" marL="0">
              <a:buNone/>
            </a:pPr>
            <a:r>
              <a:rPr lang="en-US" sz="1000" spc="100" kern="0" dirty="0">
                <a:solidFill>
                  <a:srgbClr val="16273F"/>
                </a:solidFill>
                <a:latin typeface="Courier New" pitchFamily="34" charset="0"/>
                <a:ea typeface="Courier New" pitchFamily="34" charset="-122"/>
                <a:cs typeface="Courier New" pitchFamily="34" charset="-120"/>
              </a:rPr>
              <a:t>IMPACTO</a:t>
            </a:r>
            <a:endParaRPr lang="en-US" sz="1000" dirty="0"/>
          </a:p>
        </p:txBody>
      </p:sp>
      <p:sp>
        <p:nvSpPr>
          <p:cNvPr id="38" name="Text 36"/>
          <p:cNvSpPr txBox="1"/>
          <p:nvPr/>
        </p:nvSpPr>
        <p:spPr>
          <a:xfrm>
            <a:off x="1234440" y="2194560"/>
            <a:ext cx="640080" cy="219456"/>
          </a:xfrm>
          <a:prstGeom prst="rect">
            <a:avLst/>
          </a:prstGeom>
          <a:noFill/>
          <a:ln/>
        </p:spPr>
        <p:txBody>
          <a:bodyPr wrap="square" lIns="0" tIns="0" rIns="0" bIns="0" rtlCol="0" anchor="ctr"/>
          <a:lstStyle/>
          <a:p>
            <a:pPr algn="r" indent="0" marL="0">
              <a:buNone/>
            </a:pPr>
            <a:r>
              <a:rPr lang="en-US" sz="900" dirty="0">
                <a:solidFill>
                  <a:srgbClr val="707C86"/>
                </a:solidFill>
                <a:latin typeface="Courier New" pitchFamily="34" charset="0"/>
                <a:ea typeface="Courier New" pitchFamily="34" charset="-122"/>
                <a:cs typeface="Courier New" pitchFamily="34" charset="-120"/>
              </a:rPr>
              <a:t>alto</a:t>
            </a:r>
            <a:endParaRPr lang="en-US" sz="900" dirty="0"/>
          </a:p>
        </p:txBody>
      </p:sp>
      <p:sp>
        <p:nvSpPr>
          <p:cNvPr id="39" name="Text 37"/>
          <p:cNvSpPr txBox="1"/>
          <p:nvPr/>
        </p:nvSpPr>
        <p:spPr>
          <a:xfrm>
            <a:off x="1234440" y="5440680"/>
            <a:ext cx="640080" cy="219456"/>
          </a:xfrm>
          <a:prstGeom prst="rect">
            <a:avLst/>
          </a:prstGeom>
          <a:noFill/>
          <a:ln/>
        </p:spPr>
        <p:txBody>
          <a:bodyPr wrap="square" lIns="0" tIns="0" rIns="0" bIns="0" rtlCol="0" anchor="ctr"/>
          <a:lstStyle/>
          <a:p>
            <a:pPr algn="r" indent="0" marL="0">
              <a:buNone/>
            </a:pPr>
            <a:r>
              <a:rPr lang="en-US" sz="900" dirty="0">
                <a:solidFill>
                  <a:srgbClr val="707C86"/>
                </a:solidFill>
                <a:latin typeface="Courier New" pitchFamily="34" charset="0"/>
                <a:ea typeface="Courier New" pitchFamily="34" charset="-122"/>
                <a:cs typeface="Courier New" pitchFamily="34" charset="-120"/>
              </a:rPr>
              <a:t>bajo</a:t>
            </a:r>
            <a:endParaRPr lang="en-US" sz="900" dirty="0"/>
          </a:p>
        </p:txBody>
      </p:sp>
      <p:sp>
        <p:nvSpPr>
          <p:cNvPr id="40" name="Text 38"/>
          <p:cNvSpPr txBox="1"/>
          <p:nvPr/>
        </p:nvSpPr>
        <p:spPr>
          <a:xfrm>
            <a:off x="4206240" y="5852160"/>
            <a:ext cx="2743200" cy="274320"/>
          </a:xfrm>
          <a:prstGeom prst="rect">
            <a:avLst/>
          </a:prstGeom>
          <a:noFill/>
          <a:ln/>
        </p:spPr>
        <p:txBody>
          <a:bodyPr wrap="square" lIns="0" tIns="0" rIns="0" bIns="0" rtlCol="0" anchor="ctr"/>
          <a:lstStyle/>
          <a:p>
            <a:pPr algn="ctr" indent="0" marL="0">
              <a:buNone/>
            </a:pPr>
            <a:r>
              <a:rPr lang="en-US" sz="1000" spc="100" kern="0" dirty="0">
                <a:solidFill>
                  <a:srgbClr val="16273F"/>
                </a:solidFill>
                <a:latin typeface="Courier New" pitchFamily="34" charset="0"/>
                <a:ea typeface="Courier New" pitchFamily="34" charset="-122"/>
                <a:cs typeface="Courier New" pitchFamily="34" charset="-120"/>
              </a:rPr>
              <a:t>PROBABILIDAD</a:t>
            </a:r>
            <a:endParaRPr lang="en-US" sz="1000" dirty="0"/>
          </a:p>
        </p:txBody>
      </p:sp>
      <p:sp>
        <p:nvSpPr>
          <p:cNvPr id="41" name="Text 39"/>
          <p:cNvSpPr txBox="1"/>
          <p:nvPr/>
        </p:nvSpPr>
        <p:spPr>
          <a:xfrm>
            <a:off x="1965960" y="5852160"/>
            <a:ext cx="731520" cy="219456"/>
          </a:xfrm>
          <a:prstGeom prst="rect">
            <a:avLst/>
          </a:prstGeom>
          <a:noFill/>
          <a:ln/>
        </p:spPr>
        <p:txBody>
          <a:bodyPr wrap="square" lIns="0" tIns="0" rIns="0" bIns="0" rtlCol="0" anchor="ctr"/>
          <a:lstStyle/>
          <a:p>
            <a:pPr indent="0" marL="0">
              <a:buNone/>
            </a:pPr>
            <a:r>
              <a:rPr lang="en-US" sz="900" dirty="0">
                <a:solidFill>
                  <a:srgbClr val="707C86"/>
                </a:solidFill>
                <a:latin typeface="Courier New" pitchFamily="34" charset="0"/>
                <a:ea typeface="Courier New" pitchFamily="34" charset="-122"/>
                <a:cs typeface="Courier New" pitchFamily="34" charset="-120"/>
              </a:rPr>
              <a:t>baja</a:t>
            </a:r>
            <a:endParaRPr lang="en-US" sz="900" dirty="0"/>
          </a:p>
        </p:txBody>
      </p:sp>
      <p:sp>
        <p:nvSpPr>
          <p:cNvPr id="42" name="Text 40"/>
          <p:cNvSpPr txBox="1"/>
          <p:nvPr/>
        </p:nvSpPr>
        <p:spPr>
          <a:xfrm>
            <a:off x="8595360" y="5852160"/>
            <a:ext cx="731520" cy="219456"/>
          </a:xfrm>
          <a:prstGeom prst="rect">
            <a:avLst/>
          </a:prstGeom>
          <a:noFill/>
          <a:ln/>
        </p:spPr>
        <p:txBody>
          <a:bodyPr wrap="square" lIns="0" tIns="0" rIns="0" bIns="0" rtlCol="0" anchor="ctr"/>
          <a:lstStyle/>
          <a:p>
            <a:pPr algn="r" indent="0" marL="0">
              <a:buNone/>
            </a:pPr>
            <a:r>
              <a:rPr lang="en-US" sz="900" dirty="0">
                <a:solidFill>
                  <a:srgbClr val="707C86"/>
                </a:solidFill>
                <a:latin typeface="Courier New" pitchFamily="34" charset="0"/>
                <a:ea typeface="Courier New" pitchFamily="34" charset="-122"/>
                <a:cs typeface="Courier New" pitchFamily="34" charset="-120"/>
              </a:rPr>
              <a:t>alta</a:t>
            </a:r>
            <a:endParaRPr lang="en-US" sz="900" dirty="0"/>
          </a:p>
        </p:txBody>
      </p:sp>
      <p:sp>
        <p:nvSpPr>
          <p:cNvPr id="43" name="Shape 41"/>
          <p:cNvSpPr/>
          <p:nvPr/>
        </p:nvSpPr>
        <p:spPr>
          <a:xfrm>
            <a:off x="9646920" y="2148840"/>
            <a:ext cx="1856232" cy="3566160"/>
          </a:xfrm>
          <a:prstGeom prst="rect">
            <a:avLst/>
          </a:prstGeom>
          <a:solidFill>
            <a:srgbClr val="EFEDE3"/>
          </a:solidFill>
          <a:ln w="12700">
            <a:solidFill>
              <a:srgbClr val="C6C4B8"/>
            </a:solidFill>
            <a:prstDash val="solid"/>
          </a:ln>
        </p:spPr>
      </p:sp>
      <p:sp>
        <p:nvSpPr>
          <p:cNvPr id="44" name="Text 42"/>
          <p:cNvSpPr txBox="1"/>
          <p:nvPr/>
        </p:nvSpPr>
        <p:spPr>
          <a:xfrm>
            <a:off x="9829800" y="2331720"/>
            <a:ext cx="1645920" cy="219456"/>
          </a:xfrm>
          <a:prstGeom prst="rect">
            <a:avLst/>
          </a:prstGeom>
          <a:noFill/>
          <a:ln/>
        </p:spPr>
        <p:txBody>
          <a:bodyPr wrap="square" lIns="0" tIns="0" rIns="0" bIns="0" rtlCol="0" anchor="ctr"/>
          <a:lstStyle/>
          <a:p>
            <a:pPr indent="0" marL="0">
              <a:buNone/>
            </a:pPr>
            <a:r>
              <a:rPr lang="en-US" sz="850" spc="50" kern="0" dirty="0">
                <a:solidFill>
                  <a:srgbClr val="B85C2E"/>
                </a:solidFill>
                <a:latin typeface="Courier New" pitchFamily="34" charset="0"/>
                <a:ea typeface="Courier New" pitchFamily="34" charset="-122"/>
                <a:cs typeface="Courier New" pitchFamily="34" charset="-120"/>
              </a:rPr>
              <a:t>REGLA</a:t>
            </a:r>
            <a:endParaRPr lang="en-US" sz="850" dirty="0"/>
          </a:p>
        </p:txBody>
      </p:sp>
      <p:sp>
        <p:nvSpPr>
          <p:cNvPr id="45" name="Text 43"/>
          <p:cNvSpPr txBox="1"/>
          <p:nvPr/>
        </p:nvSpPr>
        <p:spPr>
          <a:xfrm>
            <a:off x="9829800" y="2651760"/>
            <a:ext cx="1508760" cy="2011680"/>
          </a:xfrm>
          <a:prstGeom prst="rect">
            <a:avLst/>
          </a:prstGeom>
          <a:noFill/>
          <a:ln/>
        </p:spPr>
        <p:txBody>
          <a:bodyPr wrap="square" lIns="0" tIns="0" rIns="0" bIns="0" rtlCol="0" anchor="ctr"/>
          <a:lstStyle/>
          <a:p>
            <a:pPr indent="0" marL="0">
              <a:lnSpc>
                <a:spcPts val="1500"/>
              </a:lnSpc>
              <a:buNone/>
            </a:pPr>
            <a:r>
              <a:rPr lang="en-US" sz="1100" dirty="0">
                <a:solidFill>
                  <a:srgbClr val="1F2A36"/>
                </a:solidFill>
                <a:latin typeface="Calibri" pitchFamily="34" charset="0"/>
                <a:ea typeface="Calibri" pitchFamily="34" charset="-122"/>
                <a:cs typeface="Calibri" pitchFamily="34" charset="-120"/>
              </a:rPr>
              <a:t>Un riesgo de alto impacto y baja probabilidad no se ignora: se le prepara un plan de contingencia. Lo que se acepta es lo que cae abajo a la izquierda.</a:t>
            </a:r>
            <a:endParaRPr lang="en-US" sz="1100" dirty="0"/>
          </a:p>
        </p:txBody>
      </p:sp>
      <p:sp>
        <p:nvSpPr>
          <p:cNvPr id="46" name="Text 44"/>
          <p:cNvSpPr txBox="1"/>
          <p:nvPr/>
        </p:nvSpPr>
        <p:spPr>
          <a:xfrm>
            <a:off x="685800" y="6583680"/>
            <a:ext cx="6400800" cy="237744"/>
          </a:xfrm>
          <a:prstGeom prst="rect">
            <a:avLst/>
          </a:prstGeom>
          <a:noFill/>
          <a:ln/>
        </p:spPr>
        <p:txBody>
          <a:bodyPr wrap="square" lIns="0" tIns="0" rIns="0" bIns="0" rtlCol="0" anchor="ctr"/>
          <a:lstStyle/>
          <a:p>
            <a:pPr indent="0" marL="0">
              <a:buNone/>
            </a:pPr>
            <a:r>
              <a:rPr lang="en-US" sz="800" dirty="0">
                <a:solidFill>
                  <a:srgbClr val="707C86"/>
                </a:solidFill>
                <a:latin typeface="Courier New" pitchFamily="34" charset="0"/>
                <a:ea typeface="Courier New" pitchFamily="34" charset="-122"/>
                <a:cs typeface="Courier New" pitchFamily="34" charset="-120"/>
              </a:rPr>
              <a:t>AREM · Módulo 9 · Evaluación de Riesgos Arquitectónicos</a:t>
            </a:r>
            <a:endParaRPr lang="en-US" sz="800" dirty="0"/>
          </a:p>
        </p:txBody>
      </p:sp>
      <p:sp>
        <p:nvSpPr>
          <p:cNvPr id="47" name="Text 45"/>
          <p:cNvSpPr txBox="1"/>
          <p:nvPr/>
        </p:nvSpPr>
        <p:spPr>
          <a:xfrm>
            <a:off x="10881360" y="6583680"/>
            <a:ext cx="621792" cy="237744"/>
          </a:xfrm>
          <a:prstGeom prst="rect">
            <a:avLst/>
          </a:prstGeom>
          <a:noFill/>
          <a:ln/>
        </p:spPr>
        <p:txBody>
          <a:bodyPr wrap="square" lIns="0" tIns="0" rIns="0" bIns="0" rtlCol="0" anchor="ctr"/>
          <a:lstStyle/>
          <a:p>
            <a:pPr algn="r" indent="0" marL="0">
              <a:buNone/>
            </a:pPr>
            <a:r>
              <a:rPr lang="en-US" sz="800" dirty="0">
                <a:solidFill>
                  <a:srgbClr val="707C86"/>
                </a:solidFill>
                <a:latin typeface="Courier New" pitchFamily="34" charset="0"/>
                <a:ea typeface="Courier New" pitchFamily="34" charset="-122"/>
                <a:cs typeface="Courier New"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4ED"/>
        </a:solidFill>
      </p:bgPr>
    </p:bg>
    <p:spTree>
      <p:nvGrpSpPr>
        <p:cNvPr id="1" name=""/>
        <p:cNvGrpSpPr/>
        <p:nvPr/>
      </p:nvGrpSpPr>
      <p:grpSpPr>
        <a:xfrm>
          <a:off x="0" y="0"/>
          <a:ext cx="0" cy="0"/>
          <a:chOff x="0" y="0"/>
          <a:chExt cx="0" cy="0"/>
        </a:xfrm>
      </p:grpSpPr>
      <p:sp>
        <p:nvSpPr>
          <p:cNvPr id="2" name="Shape 0"/>
          <p:cNvSpPr/>
          <p:nvPr/>
        </p:nvSpPr>
        <p:spPr>
          <a:xfrm>
            <a:off x="384048" y="310896"/>
            <a:ext cx="11420856" cy="10973"/>
          </a:xfrm>
          <a:prstGeom prst="rect">
            <a:avLst/>
          </a:prstGeom>
          <a:solidFill>
            <a:srgbClr val="C6C4B8"/>
          </a:solidFill>
          <a:ln w="12700">
            <a:solidFill>
              <a:srgbClr val="C6C4B8"/>
            </a:solidFill>
            <a:prstDash val="solid"/>
          </a:ln>
        </p:spPr>
      </p:sp>
      <p:sp>
        <p:nvSpPr>
          <p:cNvPr id="3" name="Shape 1"/>
          <p:cNvSpPr/>
          <p:nvPr/>
        </p:nvSpPr>
        <p:spPr>
          <a:xfrm>
            <a:off x="384048" y="6510528"/>
            <a:ext cx="11420856" cy="10973"/>
          </a:xfrm>
          <a:prstGeom prst="rect">
            <a:avLst/>
          </a:prstGeom>
          <a:solidFill>
            <a:srgbClr val="C6C4B8"/>
          </a:solidFill>
          <a:ln w="12700">
            <a:solidFill>
              <a:srgbClr val="C6C4B8"/>
            </a:solidFill>
            <a:prstDash val="solid"/>
          </a:ln>
        </p:spPr>
      </p:sp>
      <p:sp>
        <p:nvSpPr>
          <p:cNvPr id="4" name="Shape 2"/>
          <p:cNvSpPr/>
          <p:nvPr/>
        </p:nvSpPr>
        <p:spPr>
          <a:xfrm>
            <a:off x="384048" y="310896"/>
            <a:ext cx="10973" cy="6208776"/>
          </a:xfrm>
          <a:prstGeom prst="rect">
            <a:avLst/>
          </a:prstGeom>
          <a:solidFill>
            <a:srgbClr val="C6C4B8"/>
          </a:solidFill>
          <a:ln w="12700">
            <a:solidFill>
              <a:srgbClr val="C6C4B8"/>
            </a:solidFill>
            <a:prstDash val="solid"/>
          </a:ln>
        </p:spPr>
      </p:sp>
      <p:sp>
        <p:nvSpPr>
          <p:cNvPr id="5" name="Shape 3"/>
          <p:cNvSpPr/>
          <p:nvPr/>
        </p:nvSpPr>
        <p:spPr>
          <a:xfrm>
            <a:off x="11795760" y="310896"/>
            <a:ext cx="10973" cy="6208776"/>
          </a:xfrm>
          <a:prstGeom prst="rect">
            <a:avLst/>
          </a:prstGeom>
          <a:solidFill>
            <a:srgbClr val="C6C4B8"/>
          </a:solidFill>
          <a:ln w="12700">
            <a:solidFill>
              <a:srgbClr val="C6C4B8"/>
            </a:solidFill>
            <a:prstDash val="solid"/>
          </a:ln>
        </p:spPr>
      </p:sp>
      <p:sp>
        <p:nvSpPr>
          <p:cNvPr id="6" name="Shape 4"/>
          <p:cNvSpPr/>
          <p:nvPr/>
        </p:nvSpPr>
        <p:spPr>
          <a:xfrm>
            <a:off x="283464" y="306324"/>
            <a:ext cx="201168" cy="9144"/>
          </a:xfrm>
          <a:prstGeom prst="rect">
            <a:avLst/>
          </a:prstGeom>
          <a:solidFill>
            <a:srgbClr val="5A7189"/>
          </a:solidFill>
          <a:ln w="12700">
            <a:solidFill>
              <a:srgbClr val="5A7189"/>
            </a:solidFill>
            <a:prstDash val="solid"/>
          </a:ln>
        </p:spPr>
      </p:sp>
      <p:sp>
        <p:nvSpPr>
          <p:cNvPr id="7" name="Shape 5"/>
          <p:cNvSpPr/>
          <p:nvPr/>
        </p:nvSpPr>
        <p:spPr>
          <a:xfrm>
            <a:off x="379476" y="210312"/>
            <a:ext cx="9144" cy="201168"/>
          </a:xfrm>
          <a:prstGeom prst="rect">
            <a:avLst/>
          </a:prstGeom>
          <a:solidFill>
            <a:srgbClr val="5A7189"/>
          </a:solidFill>
          <a:ln w="12700">
            <a:solidFill>
              <a:srgbClr val="5A7189"/>
            </a:solidFill>
            <a:prstDash val="solid"/>
          </a:ln>
        </p:spPr>
      </p:sp>
      <p:sp>
        <p:nvSpPr>
          <p:cNvPr id="8" name="Shape 6"/>
          <p:cNvSpPr/>
          <p:nvPr/>
        </p:nvSpPr>
        <p:spPr>
          <a:xfrm>
            <a:off x="11695176" y="306324"/>
            <a:ext cx="201168" cy="9144"/>
          </a:xfrm>
          <a:prstGeom prst="rect">
            <a:avLst/>
          </a:prstGeom>
          <a:solidFill>
            <a:srgbClr val="5A7189"/>
          </a:solidFill>
          <a:ln w="12700">
            <a:solidFill>
              <a:srgbClr val="5A7189"/>
            </a:solidFill>
            <a:prstDash val="solid"/>
          </a:ln>
        </p:spPr>
      </p:sp>
      <p:sp>
        <p:nvSpPr>
          <p:cNvPr id="9" name="Shape 7"/>
          <p:cNvSpPr/>
          <p:nvPr/>
        </p:nvSpPr>
        <p:spPr>
          <a:xfrm>
            <a:off x="11791188" y="210312"/>
            <a:ext cx="9144" cy="201168"/>
          </a:xfrm>
          <a:prstGeom prst="rect">
            <a:avLst/>
          </a:prstGeom>
          <a:solidFill>
            <a:srgbClr val="5A7189"/>
          </a:solidFill>
          <a:ln w="12700">
            <a:solidFill>
              <a:srgbClr val="5A7189"/>
            </a:solidFill>
            <a:prstDash val="solid"/>
          </a:ln>
        </p:spPr>
      </p:sp>
      <p:sp>
        <p:nvSpPr>
          <p:cNvPr id="10" name="Shape 8"/>
          <p:cNvSpPr/>
          <p:nvPr/>
        </p:nvSpPr>
        <p:spPr>
          <a:xfrm>
            <a:off x="283464" y="6505956"/>
            <a:ext cx="201168" cy="9144"/>
          </a:xfrm>
          <a:prstGeom prst="rect">
            <a:avLst/>
          </a:prstGeom>
          <a:solidFill>
            <a:srgbClr val="5A7189"/>
          </a:solidFill>
          <a:ln w="12700">
            <a:solidFill>
              <a:srgbClr val="5A7189"/>
            </a:solidFill>
            <a:prstDash val="solid"/>
          </a:ln>
        </p:spPr>
      </p:sp>
      <p:sp>
        <p:nvSpPr>
          <p:cNvPr id="11" name="Shape 9"/>
          <p:cNvSpPr/>
          <p:nvPr/>
        </p:nvSpPr>
        <p:spPr>
          <a:xfrm>
            <a:off x="379476" y="6409944"/>
            <a:ext cx="9144" cy="201168"/>
          </a:xfrm>
          <a:prstGeom prst="rect">
            <a:avLst/>
          </a:prstGeom>
          <a:solidFill>
            <a:srgbClr val="5A7189"/>
          </a:solidFill>
          <a:ln w="12700">
            <a:solidFill>
              <a:srgbClr val="5A7189"/>
            </a:solidFill>
            <a:prstDash val="solid"/>
          </a:ln>
        </p:spPr>
      </p:sp>
      <p:sp>
        <p:nvSpPr>
          <p:cNvPr id="12" name="Shape 10"/>
          <p:cNvSpPr/>
          <p:nvPr/>
        </p:nvSpPr>
        <p:spPr>
          <a:xfrm>
            <a:off x="11695176" y="6505956"/>
            <a:ext cx="201168" cy="9144"/>
          </a:xfrm>
          <a:prstGeom prst="rect">
            <a:avLst/>
          </a:prstGeom>
          <a:solidFill>
            <a:srgbClr val="5A7189"/>
          </a:solidFill>
          <a:ln w="12700">
            <a:solidFill>
              <a:srgbClr val="5A7189"/>
            </a:solidFill>
            <a:prstDash val="solid"/>
          </a:ln>
        </p:spPr>
      </p:sp>
      <p:sp>
        <p:nvSpPr>
          <p:cNvPr id="13" name="Shape 11"/>
          <p:cNvSpPr/>
          <p:nvPr/>
        </p:nvSpPr>
        <p:spPr>
          <a:xfrm>
            <a:off x="11791188" y="6409944"/>
            <a:ext cx="9144" cy="201168"/>
          </a:xfrm>
          <a:prstGeom prst="rect">
            <a:avLst/>
          </a:prstGeom>
          <a:solidFill>
            <a:srgbClr val="5A7189"/>
          </a:solidFill>
          <a:ln w="12700">
            <a:solidFill>
              <a:srgbClr val="5A7189"/>
            </a:solidFill>
            <a:prstDash val="solid"/>
          </a:ln>
        </p:spPr>
      </p:sp>
      <p:sp>
        <p:nvSpPr>
          <p:cNvPr id="14" name="Text 12"/>
          <p:cNvSpPr txBox="1"/>
          <p:nvPr/>
        </p:nvSpPr>
        <p:spPr>
          <a:xfrm>
            <a:off x="685800" y="566928"/>
            <a:ext cx="7315200" cy="237744"/>
          </a:xfrm>
          <a:prstGeom prst="rect">
            <a:avLst/>
          </a:prstGeom>
          <a:noFill/>
          <a:ln/>
        </p:spPr>
        <p:txBody>
          <a:bodyPr wrap="square" lIns="0" tIns="0" rIns="0" bIns="0" rtlCol="0" anchor="ctr"/>
          <a:lstStyle/>
          <a:p>
            <a:pPr indent="0" marL="0">
              <a:buNone/>
            </a:pPr>
            <a:r>
              <a:rPr lang="en-US" sz="1000" spc="100" kern="0" dirty="0">
                <a:solidFill>
                  <a:srgbClr val="B85C2E"/>
                </a:solidFill>
                <a:latin typeface="Courier New" pitchFamily="34" charset="0"/>
                <a:ea typeface="Courier New" pitchFamily="34" charset="-122"/>
                <a:cs typeface="Courier New" pitchFamily="34" charset="-120"/>
              </a:rPr>
              <a:t>10 · MITIGACIÓN</a:t>
            </a:r>
            <a:endParaRPr lang="en-US" sz="1000" dirty="0"/>
          </a:p>
        </p:txBody>
      </p:sp>
      <p:sp>
        <p:nvSpPr>
          <p:cNvPr id="15" name="Text 13"/>
          <p:cNvSpPr txBox="1"/>
          <p:nvPr/>
        </p:nvSpPr>
        <p:spPr>
          <a:xfrm>
            <a:off x="685800" y="822960"/>
            <a:ext cx="10820095" cy="566928"/>
          </a:xfrm>
          <a:prstGeom prst="rect">
            <a:avLst/>
          </a:prstGeom>
          <a:noFill/>
          <a:ln/>
        </p:spPr>
        <p:txBody>
          <a:bodyPr wrap="square" lIns="0" tIns="0" rIns="0" bIns="0" rtlCol="0" anchor="ctr"/>
          <a:lstStyle/>
          <a:p>
            <a:pPr indent="0" marL="0">
              <a:buNone/>
            </a:pPr>
            <a:r>
              <a:rPr lang="en-US" sz="3000" b="1" dirty="0">
                <a:solidFill>
                  <a:srgbClr val="16273F"/>
                </a:solidFill>
                <a:latin typeface="Arial" pitchFamily="34" charset="0"/>
                <a:ea typeface="Arial" pitchFamily="34" charset="-122"/>
                <a:cs typeface="Arial" pitchFamily="34" charset="-120"/>
              </a:rPr>
              <a:t>El espectro de respuesta</a:t>
            </a:r>
            <a:endParaRPr lang="en-US" sz="3000" dirty="0"/>
          </a:p>
        </p:txBody>
      </p:sp>
      <p:sp>
        <p:nvSpPr>
          <p:cNvPr id="16" name="Text 14"/>
          <p:cNvSpPr txBox="1"/>
          <p:nvPr/>
        </p:nvSpPr>
        <p:spPr>
          <a:xfrm>
            <a:off x="685800" y="1389888"/>
            <a:ext cx="10820095" cy="310896"/>
          </a:xfrm>
          <a:prstGeom prst="rect">
            <a:avLst/>
          </a:prstGeom>
          <a:noFill/>
          <a:ln/>
        </p:spPr>
        <p:txBody>
          <a:bodyPr wrap="square" lIns="0" tIns="0" rIns="0" bIns="0" rtlCol="0" anchor="ctr"/>
          <a:lstStyle/>
          <a:p>
            <a:pPr indent="0" marL="0">
              <a:buNone/>
            </a:pPr>
            <a:r>
              <a:rPr lang="en-US" sz="1350" dirty="0">
                <a:solidFill>
                  <a:srgbClr val="707C86"/>
                </a:solidFill>
                <a:latin typeface="Calibri" pitchFamily="34" charset="0"/>
                <a:ea typeface="Calibri" pitchFamily="34" charset="-122"/>
                <a:cs typeface="Calibri" pitchFamily="34" charset="-120"/>
              </a:rPr>
              <a:t>De la acción más agresiva a la más pasiva</a:t>
            </a:r>
            <a:endParaRPr lang="en-US" sz="1350" dirty="0"/>
          </a:p>
        </p:txBody>
      </p:sp>
      <p:sp>
        <p:nvSpPr>
          <p:cNvPr id="17" name="Shape 15"/>
          <p:cNvSpPr/>
          <p:nvPr/>
        </p:nvSpPr>
        <p:spPr>
          <a:xfrm>
            <a:off x="685800" y="2084832"/>
            <a:ext cx="10820095" cy="45720"/>
          </a:xfrm>
          <a:prstGeom prst="rect">
            <a:avLst/>
          </a:prstGeom>
          <a:solidFill>
            <a:srgbClr val="5A7189"/>
          </a:solidFill>
          <a:ln w="12700">
            <a:solidFill>
              <a:srgbClr val="5A7189"/>
            </a:solidFill>
            <a:prstDash val="solid"/>
          </a:ln>
        </p:spPr>
      </p:sp>
      <p:sp>
        <p:nvSpPr>
          <p:cNvPr id="18" name="Text 16"/>
          <p:cNvSpPr txBox="1"/>
          <p:nvPr/>
        </p:nvSpPr>
        <p:spPr>
          <a:xfrm>
            <a:off x="685800" y="1828800"/>
            <a:ext cx="2743200" cy="219456"/>
          </a:xfrm>
          <a:prstGeom prst="rect">
            <a:avLst/>
          </a:prstGeom>
          <a:noFill/>
          <a:ln/>
        </p:spPr>
        <p:txBody>
          <a:bodyPr wrap="square" lIns="0" tIns="0" rIns="0" bIns="0" rtlCol="0" anchor="ctr"/>
          <a:lstStyle/>
          <a:p>
            <a:pPr indent="0" marL="0">
              <a:buNone/>
            </a:pPr>
            <a:r>
              <a:rPr lang="en-US" sz="900" spc="100" kern="0" dirty="0">
                <a:solidFill>
                  <a:srgbClr val="B85C2E"/>
                </a:solidFill>
                <a:latin typeface="Courier New" pitchFamily="34" charset="0"/>
                <a:ea typeface="Courier New" pitchFamily="34" charset="-122"/>
                <a:cs typeface="Courier New" pitchFamily="34" charset="-120"/>
              </a:rPr>
              <a:t>ACCIÓN AGRESIVA</a:t>
            </a:r>
            <a:endParaRPr lang="en-US" sz="900" dirty="0"/>
          </a:p>
        </p:txBody>
      </p:sp>
      <p:sp>
        <p:nvSpPr>
          <p:cNvPr id="19" name="Text 17"/>
          <p:cNvSpPr txBox="1"/>
          <p:nvPr/>
        </p:nvSpPr>
        <p:spPr>
          <a:xfrm>
            <a:off x="8778240" y="1828800"/>
            <a:ext cx="2743200" cy="219456"/>
          </a:xfrm>
          <a:prstGeom prst="rect">
            <a:avLst/>
          </a:prstGeom>
          <a:noFill/>
          <a:ln/>
        </p:spPr>
        <p:txBody>
          <a:bodyPr wrap="square" lIns="0" tIns="0" rIns="0" bIns="0" rtlCol="0" anchor="ctr"/>
          <a:lstStyle/>
          <a:p>
            <a:pPr algn="r" indent="0" marL="0">
              <a:buNone/>
            </a:pPr>
            <a:r>
              <a:rPr lang="en-US" sz="900" spc="100" kern="0" dirty="0">
                <a:solidFill>
                  <a:srgbClr val="1E7A52"/>
                </a:solidFill>
                <a:latin typeface="Courier New" pitchFamily="34" charset="0"/>
                <a:ea typeface="Courier New" pitchFamily="34" charset="-122"/>
                <a:cs typeface="Courier New" pitchFamily="34" charset="-120"/>
              </a:rPr>
              <a:t>ACCIÓN PASIVA</a:t>
            </a:r>
            <a:endParaRPr lang="en-US" sz="900" dirty="0"/>
          </a:p>
        </p:txBody>
      </p:sp>
      <p:sp>
        <p:nvSpPr>
          <p:cNvPr id="20" name="Shape 18"/>
          <p:cNvSpPr/>
          <p:nvPr/>
        </p:nvSpPr>
        <p:spPr>
          <a:xfrm>
            <a:off x="1737360" y="1993392"/>
            <a:ext cx="237744" cy="237744"/>
          </a:xfrm>
          <a:prstGeom prst="ellipse">
            <a:avLst/>
          </a:prstGeom>
          <a:solidFill>
            <a:srgbClr val="B85C2E"/>
          </a:solidFill>
          <a:ln w="19050">
            <a:solidFill>
              <a:srgbClr val="FFFFFF"/>
            </a:solidFill>
            <a:prstDash val="solid"/>
          </a:ln>
        </p:spPr>
      </p:sp>
      <p:sp>
        <p:nvSpPr>
          <p:cNvPr id="21" name="Shape 19"/>
          <p:cNvSpPr/>
          <p:nvPr/>
        </p:nvSpPr>
        <p:spPr>
          <a:xfrm>
            <a:off x="685800" y="2514600"/>
            <a:ext cx="2560320" cy="3291840"/>
          </a:xfrm>
          <a:prstGeom prst="rect">
            <a:avLst/>
          </a:prstGeom>
          <a:solidFill>
            <a:srgbClr val="FFFFFF"/>
          </a:solidFill>
          <a:ln w="12700">
            <a:solidFill>
              <a:srgbClr val="C6C4B8"/>
            </a:solidFill>
            <a:prstDash val="solid"/>
          </a:ln>
        </p:spPr>
      </p:sp>
      <p:sp>
        <p:nvSpPr>
          <p:cNvPr id="22" name="Text 20"/>
          <p:cNvSpPr txBox="1"/>
          <p:nvPr/>
        </p:nvSpPr>
        <p:spPr>
          <a:xfrm>
            <a:off x="886968" y="2697480"/>
            <a:ext cx="2194560" cy="310896"/>
          </a:xfrm>
          <a:prstGeom prst="rect">
            <a:avLst/>
          </a:prstGeom>
          <a:noFill/>
          <a:ln/>
        </p:spPr>
        <p:txBody>
          <a:bodyPr wrap="square" lIns="0" tIns="0" rIns="0" bIns="0" rtlCol="0" anchor="ctr"/>
          <a:lstStyle/>
          <a:p>
            <a:pPr indent="0" marL="0">
              <a:buNone/>
            </a:pPr>
            <a:r>
              <a:rPr lang="en-US" sz="1500" b="1" dirty="0">
                <a:solidFill>
                  <a:srgbClr val="16273F"/>
                </a:solidFill>
                <a:latin typeface="Arial" pitchFamily="34" charset="0"/>
                <a:ea typeface="Arial" pitchFamily="34" charset="-122"/>
                <a:cs typeface="Arial" pitchFamily="34" charset="-120"/>
              </a:rPr>
              <a:t>1. Eliminación</a:t>
            </a:r>
            <a:endParaRPr lang="en-US" sz="1500" dirty="0"/>
          </a:p>
        </p:txBody>
      </p:sp>
      <p:sp>
        <p:nvSpPr>
          <p:cNvPr id="23" name="Text 21"/>
          <p:cNvSpPr txBox="1"/>
          <p:nvPr/>
        </p:nvSpPr>
        <p:spPr>
          <a:xfrm>
            <a:off x="886968" y="3035808"/>
            <a:ext cx="2194560" cy="219456"/>
          </a:xfrm>
          <a:prstGeom prst="rect">
            <a:avLst/>
          </a:prstGeom>
          <a:noFill/>
          <a:ln/>
        </p:spPr>
        <p:txBody>
          <a:bodyPr wrap="square" lIns="0" tIns="0" rIns="0" bIns="0" rtlCol="0" anchor="ctr"/>
          <a:lstStyle/>
          <a:p>
            <a:pPr indent="0" marL="0">
              <a:buNone/>
            </a:pPr>
            <a:r>
              <a:rPr lang="en-US" sz="850" spc="50" kern="0" dirty="0">
                <a:solidFill>
                  <a:srgbClr val="B85C2E"/>
                </a:solidFill>
                <a:latin typeface="Courier New" pitchFamily="34" charset="0"/>
                <a:ea typeface="Courier New" pitchFamily="34" charset="-122"/>
                <a:cs typeface="Courier New" pitchFamily="34" charset="-120"/>
              </a:rPr>
              <a:t>CAMBIO RADICAL</a:t>
            </a:r>
            <a:endParaRPr lang="en-US" sz="850" dirty="0"/>
          </a:p>
        </p:txBody>
      </p:sp>
      <p:sp>
        <p:nvSpPr>
          <p:cNvPr id="24" name="Text 22"/>
          <p:cNvSpPr txBox="1"/>
          <p:nvPr/>
        </p:nvSpPr>
        <p:spPr>
          <a:xfrm>
            <a:off x="886968" y="3364992"/>
            <a:ext cx="2194560" cy="1234440"/>
          </a:xfrm>
          <a:prstGeom prst="rect">
            <a:avLst/>
          </a:prstGeom>
          <a:noFill/>
          <a:ln/>
        </p:spPr>
        <p:txBody>
          <a:bodyPr wrap="square" lIns="0" tIns="0" rIns="0" bIns="0" rtlCol="0" anchor="ctr"/>
          <a:lstStyle/>
          <a:p>
            <a:pPr indent="0" marL="0">
              <a:lnSpc>
                <a:spcPts val="1600"/>
              </a:lnSpc>
              <a:buNone/>
            </a:pPr>
            <a:r>
              <a:rPr lang="en-US" sz="1200" dirty="0">
                <a:solidFill>
                  <a:srgbClr val="1F2A36"/>
                </a:solidFill>
                <a:latin typeface="Calibri" pitchFamily="34" charset="0"/>
                <a:ea typeface="Calibri" pitchFamily="34" charset="-122"/>
                <a:cs typeface="Calibri" pitchFamily="34" charset="-120"/>
              </a:rPr>
              <a:t>Erradica la fuente de la amenaza cambiando procesos o diseños fundamentales.</a:t>
            </a:r>
            <a:endParaRPr lang="en-US" sz="1200" dirty="0"/>
          </a:p>
        </p:txBody>
      </p:sp>
      <p:sp>
        <p:nvSpPr>
          <p:cNvPr id="25" name="Shape 23"/>
          <p:cNvSpPr/>
          <p:nvPr/>
        </p:nvSpPr>
        <p:spPr>
          <a:xfrm>
            <a:off x="886968" y="4645152"/>
            <a:ext cx="2194560" cy="1005840"/>
          </a:xfrm>
          <a:prstGeom prst="rect">
            <a:avLst/>
          </a:prstGeom>
          <a:solidFill>
            <a:srgbClr val="EFEDE3"/>
          </a:solidFill>
          <a:ln w="12700">
            <a:solidFill>
              <a:srgbClr val="EFEDE3"/>
            </a:solidFill>
            <a:prstDash val="solid"/>
          </a:ln>
        </p:spPr>
      </p:sp>
      <p:sp>
        <p:nvSpPr>
          <p:cNvPr id="26" name="Text 24"/>
          <p:cNvSpPr txBox="1"/>
          <p:nvPr/>
        </p:nvSpPr>
        <p:spPr>
          <a:xfrm>
            <a:off x="1005840" y="4645152"/>
            <a:ext cx="1965960" cy="1005840"/>
          </a:xfrm>
          <a:prstGeom prst="rect">
            <a:avLst/>
          </a:prstGeom>
          <a:noFill/>
          <a:ln/>
        </p:spPr>
        <p:txBody>
          <a:bodyPr wrap="square" lIns="0" tIns="0" rIns="0" bIns="0" rtlCol="0" anchor="ctr"/>
          <a:lstStyle/>
          <a:p>
            <a:pPr indent="0" marL="0">
              <a:lnSpc>
                <a:spcPts val="1500"/>
              </a:lnSpc>
              <a:buNone/>
            </a:pPr>
            <a:r>
              <a:rPr lang="en-US" sz="1100" i="1" dirty="0">
                <a:solidFill>
                  <a:srgbClr val="27405C"/>
                </a:solidFill>
                <a:latin typeface="Calibri" pitchFamily="34" charset="0"/>
                <a:ea typeface="Calibri" pitchFamily="34" charset="-122"/>
                <a:cs typeface="Calibri" pitchFamily="34" charset="-120"/>
              </a:rPr>
              <a:t>Retirar del sistema la integración que falla y resolver el caso por otra vía.</a:t>
            </a:r>
            <a:endParaRPr lang="en-US" sz="1100" dirty="0"/>
          </a:p>
        </p:txBody>
      </p:sp>
      <p:sp>
        <p:nvSpPr>
          <p:cNvPr id="27" name="Shape 25"/>
          <p:cNvSpPr/>
          <p:nvPr/>
        </p:nvSpPr>
        <p:spPr>
          <a:xfrm>
            <a:off x="4498848" y="1993392"/>
            <a:ext cx="237744" cy="237744"/>
          </a:xfrm>
          <a:prstGeom prst="ellipse">
            <a:avLst/>
          </a:prstGeom>
          <a:solidFill>
            <a:srgbClr val="C9773F"/>
          </a:solidFill>
          <a:ln w="19050">
            <a:solidFill>
              <a:srgbClr val="FFFFFF"/>
            </a:solidFill>
            <a:prstDash val="solid"/>
          </a:ln>
        </p:spPr>
      </p:sp>
      <p:sp>
        <p:nvSpPr>
          <p:cNvPr id="28" name="Shape 26"/>
          <p:cNvSpPr/>
          <p:nvPr/>
        </p:nvSpPr>
        <p:spPr>
          <a:xfrm>
            <a:off x="3447288" y="2514600"/>
            <a:ext cx="2560320" cy="3291840"/>
          </a:xfrm>
          <a:prstGeom prst="rect">
            <a:avLst/>
          </a:prstGeom>
          <a:solidFill>
            <a:srgbClr val="FFFFFF"/>
          </a:solidFill>
          <a:ln w="12700">
            <a:solidFill>
              <a:srgbClr val="C6C4B8"/>
            </a:solidFill>
            <a:prstDash val="solid"/>
          </a:ln>
        </p:spPr>
      </p:sp>
      <p:sp>
        <p:nvSpPr>
          <p:cNvPr id="29" name="Text 27"/>
          <p:cNvSpPr txBox="1"/>
          <p:nvPr/>
        </p:nvSpPr>
        <p:spPr>
          <a:xfrm>
            <a:off x="3648456" y="2697480"/>
            <a:ext cx="2194560" cy="310896"/>
          </a:xfrm>
          <a:prstGeom prst="rect">
            <a:avLst/>
          </a:prstGeom>
          <a:noFill/>
          <a:ln/>
        </p:spPr>
        <p:txBody>
          <a:bodyPr wrap="square" lIns="0" tIns="0" rIns="0" bIns="0" rtlCol="0" anchor="ctr"/>
          <a:lstStyle/>
          <a:p>
            <a:pPr indent="0" marL="0">
              <a:buNone/>
            </a:pPr>
            <a:r>
              <a:rPr lang="en-US" sz="1500" b="1" dirty="0">
                <a:solidFill>
                  <a:srgbClr val="16273F"/>
                </a:solidFill>
                <a:latin typeface="Arial" pitchFamily="34" charset="0"/>
                <a:ea typeface="Arial" pitchFamily="34" charset="-122"/>
                <a:cs typeface="Arial" pitchFamily="34" charset="-120"/>
              </a:rPr>
              <a:t>2. Reducción</a:t>
            </a:r>
            <a:endParaRPr lang="en-US" sz="1500" dirty="0"/>
          </a:p>
        </p:txBody>
      </p:sp>
      <p:sp>
        <p:nvSpPr>
          <p:cNvPr id="30" name="Text 28"/>
          <p:cNvSpPr txBox="1"/>
          <p:nvPr/>
        </p:nvSpPr>
        <p:spPr>
          <a:xfrm>
            <a:off x="3648456" y="3035808"/>
            <a:ext cx="2194560" cy="219456"/>
          </a:xfrm>
          <a:prstGeom prst="rect">
            <a:avLst/>
          </a:prstGeom>
          <a:noFill/>
          <a:ln/>
        </p:spPr>
        <p:txBody>
          <a:bodyPr wrap="square" lIns="0" tIns="0" rIns="0" bIns="0" rtlCol="0" anchor="ctr"/>
          <a:lstStyle/>
          <a:p>
            <a:pPr indent="0" marL="0">
              <a:buNone/>
            </a:pPr>
            <a:r>
              <a:rPr lang="en-US" sz="850" spc="50" kern="0" dirty="0">
                <a:solidFill>
                  <a:srgbClr val="C9773F"/>
                </a:solidFill>
                <a:latin typeface="Courier New" pitchFamily="34" charset="0"/>
                <a:ea typeface="Courier New" pitchFamily="34" charset="-122"/>
                <a:cs typeface="Courier New" pitchFamily="34" charset="-120"/>
              </a:rPr>
              <a:t>CONTROLES ACTIVOS</a:t>
            </a:r>
            <a:endParaRPr lang="en-US" sz="850" dirty="0"/>
          </a:p>
        </p:txBody>
      </p:sp>
      <p:sp>
        <p:nvSpPr>
          <p:cNvPr id="31" name="Text 29"/>
          <p:cNvSpPr txBox="1"/>
          <p:nvPr/>
        </p:nvSpPr>
        <p:spPr>
          <a:xfrm>
            <a:off x="3648456" y="3364992"/>
            <a:ext cx="2194560" cy="1234440"/>
          </a:xfrm>
          <a:prstGeom prst="rect">
            <a:avLst/>
          </a:prstGeom>
          <a:noFill/>
          <a:ln/>
        </p:spPr>
        <p:txBody>
          <a:bodyPr wrap="square" lIns="0" tIns="0" rIns="0" bIns="0" rtlCol="0" anchor="ctr"/>
          <a:lstStyle/>
          <a:p>
            <a:pPr indent="0" marL="0">
              <a:lnSpc>
                <a:spcPts val="1600"/>
              </a:lnSpc>
              <a:buNone/>
            </a:pPr>
            <a:r>
              <a:rPr lang="en-US" sz="1200" dirty="0">
                <a:solidFill>
                  <a:srgbClr val="1F2A36"/>
                </a:solidFill>
                <a:latin typeface="Calibri" pitchFamily="34" charset="0"/>
                <a:ea typeface="Calibri" pitchFamily="34" charset="-122"/>
                <a:cs typeface="Calibri" pitchFamily="34" charset="-120"/>
              </a:rPr>
              <a:t>Disminuye la probabilidad o el impacto mediante controles preventivos y detectivos.</a:t>
            </a:r>
            <a:endParaRPr lang="en-US" sz="1200" dirty="0"/>
          </a:p>
        </p:txBody>
      </p:sp>
      <p:sp>
        <p:nvSpPr>
          <p:cNvPr id="32" name="Shape 30"/>
          <p:cNvSpPr/>
          <p:nvPr/>
        </p:nvSpPr>
        <p:spPr>
          <a:xfrm>
            <a:off x="3648456" y="4645152"/>
            <a:ext cx="2194560" cy="1005840"/>
          </a:xfrm>
          <a:prstGeom prst="rect">
            <a:avLst/>
          </a:prstGeom>
          <a:solidFill>
            <a:srgbClr val="EFEDE3"/>
          </a:solidFill>
          <a:ln w="12700">
            <a:solidFill>
              <a:srgbClr val="EFEDE3"/>
            </a:solidFill>
            <a:prstDash val="solid"/>
          </a:ln>
        </p:spPr>
      </p:sp>
      <p:sp>
        <p:nvSpPr>
          <p:cNvPr id="33" name="Text 31"/>
          <p:cNvSpPr txBox="1"/>
          <p:nvPr/>
        </p:nvSpPr>
        <p:spPr>
          <a:xfrm>
            <a:off x="3767328" y="4645152"/>
            <a:ext cx="1965960" cy="1005840"/>
          </a:xfrm>
          <a:prstGeom prst="rect">
            <a:avLst/>
          </a:prstGeom>
          <a:noFill/>
          <a:ln/>
        </p:spPr>
        <p:txBody>
          <a:bodyPr wrap="square" lIns="0" tIns="0" rIns="0" bIns="0" rtlCol="0" anchor="ctr"/>
          <a:lstStyle/>
          <a:p>
            <a:pPr indent="0" marL="0">
              <a:lnSpc>
                <a:spcPts val="1500"/>
              </a:lnSpc>
              <a:buNone/>
            </a:pPr>
            <a:r>
              <a:rPr lang="en-US" sz="1100" i="1" dirty="0">
                <a:solidFill>
                  <a:srgbClr val="27405C"/>
                </a:solidFill>
                <a:latin typeface="Calibri" pitchFamily="34" charset="0"/>
                <a:ea typeface="Calibri" pitchFamily="34" charset="-122"/>
                <a:cs typeface="Calibri" pitchFamily="34" charset="-120"/>
              </a:rPr>
              <a:t>Rate limiting, reintentos con backoff, circuit breakers.</a:t>
            </a:r>
            <a:endParaRPr lang="en-US" sz="1100" dirty="0"/>
          </a:p>
        </p:txBody>
      </p:sp>
      <p:sp>
        <p:nvSpPr>
          <p:cNvPr id="34" name="Shape 32"/>
          <p:cNvSpPr/>
          <p:nvPr/>
        </p:nvSpPr>
        <p:spPr>
          <a:xfrm>
            <a:off x="7260336" y="1993392"/>
            <a:ext cx="237744" cy="237744"/>
          </a:xfrm>
          <a:prstGeom prst="ellipse">
            <a:avLst/>
          </a:prstGeom>
          <a:solidFill>
            <a:srgbClr val="5A7189"/>
          </a:solidFill>
          <a:ln w="19050">
            <a:solidFill>
              <a:srgbClr val="FFFFFF"/>
            </a:solidFill>
            <a:prstDash val="solid"/>
          </a:ln>
        </p:spPr>
      </p:sp>
      <p:sp>
        <p:nvSpPr>
          <p:cNvPr id="35" name="Shape 33"/>
          <p:cNvSpPr/>
          <p:nvPr/>
        </p:nvSpPr>
        <p:spPr>
          <a:xfrm>
            <a:off x="6208776" y="2514600"/>
            <a:ext cx="2560320" cy="3291840"/>
          </a:xfrm>
          <a:prstGeom prst="rect">
            <a:avLst/>
          </a:prstGeom>
          <a:solidFill>
            <a:srgbClr val="FFFFFF"/>
          </a:solidFill>
          <a:ln w="12700">
            <a:solidFill>
              <a:srgbClr val="C6C4B8"/>
            </a:solidFill>
            <a:prstDash val="solid"/>
          </a:ln>
        </p:spPr>
      </p:sp>
      <p:sp>
        <p:nvSpPr>
          <p:cNvPr id="36" name="Text 34"/>
          <p:cNvSpPr txBox="1"/>
          <p:nvPr/>
        </p:nvSpPr>
        <p:spPr>
          <a:xfrm>
            <a:off x="6409944" y="2697480"/>
            <a:ext cx="2194560" cy="310896"/>
          </a:xfrm>
          <a:prstGeom prst="rect">
            <a:avLst/>
          </a:prstGeom>
          <a:noFill/>
          <a:ln/>
        </p:spPr>
        <p:txBody>
          <a:bodyPr wrap="square" lIns="0" tIns="0" rIns="0" bIns="0" rtlCol="0" anchor="ctr"/>
          <a:lstStyle/>
          <a:p>
            <a:pPr indent="0" marL="0">
              <a:buNone/>
            </a:pPr>
            <a:r>
              <a:rPr lang="en-US" sz="1500" b="1" dirty="0">
                <a:solidFill>
                  <a:srgbClr val="16273F"/>
                </a:solidFill>
                <a:latin typeface="Arial" pitchFamily="34" charset="0"/>
                <a:ea typeface="Arial" pitchFamily="34" charset="-122"/>
                <a:cs typeface="Arial" pitchFamily="34" charset="-120"/>
              </a:rPr>
              <a:t>3. Transferencia</a:t>
            </a:r>
            <a:endParaRPr lang="en-US" sz="1500" dirty="0"/>
          </a:p>
        </p:txBody>
      </p:sp>
      <p:sp>
        <p:nvSpPr>
          <p:cNvPr id="37" name="Text 35"/>
          <p:cNvSpPr txBox="1"/>
          <p:nvPr/>
        </p:nvSpPr>
        <p:spPr>
          <a:xfrm>
            <a:off x="6409944" y="3035808"/>
            <a:ext cx="2194560" cy="219456"/>
          </a:xfrm>
          <a:prstGeom prst="rect">
            <a:avLst/>
          </a:prstGeom>
          <a:noFill/>
          <a:ln/>
        </p:spPr>
        <p:txBody>
          <a:bodyPr wrap="square" lIns="0" tIns="0" rIns="0" bIns="0" rtlCol="0" anchor="ctr"/>
          <a:lstStyle/>
          <a:p>
            <a:pPr indent="0" marL="0">
              <a:buNone/>
            </a:pPr>
            <a:r>
              <a:rPr lang="en-US" sz="850" spc="50" kern="0" dirty="0">
                <a:solidFill>
                  <a:srgbClr val="5A7189"/>
                </a:solidFill>
                <a:latin typeface="Courier New" pitchFamily="34" charset="0"/>
                <a:ea typeface="Courier New" pitchFamily="34" charset="-122"/>
                <a:cs typeface="Courier New" pitchFamily="34" charset="-120"/>
              </a:rPr>
              <a:t>DESPLAZAMIENTO</a:t>
            </a:r>
            <a:endParaRPr lang="en-US" sz="850" dirty="0"/>
          </a:p>
        </p:txBody>
      </p:sp>
      <p:sp>
        <p:nvSpPr>
          <p:cNvPr id="38" name="Text 36"/>
          <p:cNvSpPr txBox="1"/>
          <p:nvPr/>
        </p:nvSpPr>
        <p:spPr>
          <a:xfrm>
            <a:off x="6409944" y="3364992"/>
            <a:ext cx="2194560" cy="1234440"/>
          </a:xfrm>
          <a:prstGeom prst="rect">
            <a:avLst/>
          </a:prstGeom>
          <a:noFill/>
          <a:ln/>
        </p:spPr>
        <p:txBody>
          <a:bodyPr wrap="square" lIns="0" tIns="0" rIns="0" bIns="0" rtlCol="0" anchor="ctr"/>
          <a:lstStyle/>
          <a:p>
            <a:pPr indent="0" marL="0">
              <a:lnSpc>
                <a:spcPts val="1600"/>
              </a:lnSpc>
              <a:buNone/>
            </a:pPr>
            <a:r>
              <a:rPr lang="en-US" sz="1200" dirty="0">
                <a:solidFill>
                  <a:srgbClr val="1F2A36"/>
                </a:solidFill>
                <a:latin typeface="Calibri" pitchFamily="34" charset="0"/>
                <a:ea typeface="Calibri" pitchFamily="34" charset="-122"/>
                <a:cs typeface="Calibri" pitchFamily="34" charset="-120"/>
              </a:rPr>
              <a:t>Traslada la consecuencia financiera u operativa a un tercero.</a:t>
            </a:r>
            <a:endParaRPr lang="en-US" sz="1200" dirty="0"/>
          </a:p>
        </p:txBody>
      </p:sp>
      <p:sp>
        <p:nvSpPr>
          <p:cNvPr id="39" name="Shape 37"/>
          <p:cNvSpPr/>
          <p:nvPr/>
        </p:nvSpPr>
        <p:spPr>
          <a:xfrm>
            <a:off x="6409944" y="4645152"/>
            <a:ext cx="2194560" cy="1005840"/>
          </a:xfrm>
          <a:prstGeom prst="rect">
            <a:avLst/>
          </a:prstGeom>
          <a:solidFill>
            <a:srgbClr val="EFEDE3"/>
          </a:solidFill>
          <a:ln w="12700">
            <a:solidFill>
              <a:srgbClr val="EFEDE3"/>
            </a:solidFill>
            <a:prstDash val="solid"/>
          </a:ln>
        </p:spPr>
      </p:sp>
      <p:sp>
        <p:nvSpPr>
          <p:cNvPr id="40" name="Text 38"/>
          <p:cNvSpPr txBox="1"/>
          <p:nvPr/>
        </p:nvSpPr>
        <p:spPr>
          <a:xfrm>
            <a:off x="6528816" y="4645152"/>
            <a:ext cx="1965960" cy="1005840"/>
          </a:xfrm>
          <a:prstGeom prst="rect">
            <a:avLst/>
          </a:prstGeom>
          <a:noFill/>
          <a:ln/>
        </p:spPr>
        <p:txBody>
          <a:bodyPr wrap="square" lIns="0" tIns="0" rIns="0" bIns="0" rtlCol="0" anchor="ctr"/>
          <a:lstStyle/>
          <a:p>
            <a:pPr indent="0" marL="0">
              <a:lnSpc>
                <a:spcPts val="1500"/>
              </a:lnSpc>
              <a:buNone/>
            </a:pPr>
            <a:r>
              <a:rPr lang="en-US" sz="1100" i="1" dirty="0">
                <a:solidFill>
                  <a:srgbClr val="27405C"/>
                </a:solidFill>
                <a:latin typeface="Calibri" pitchFamily="34" charset="0"/>
                <a:ea typeface="Calibri" pitchFamily="34" charset="-122"/>
                <a:cs typeface="Calibri" pitchFamily="34" charset="-120"/>
              </a:rPr>
              <a:t>Contrato con SLA y penalidades, o póliza.</a:t>
            </a:r>
            <a:endParaRPr lang="en-US" sz="1100" dirty="0"/>
          </a:p>
        </p:txBody>
      </p:sp>
      <p:sp>
        <p:nvSpPr>
          <p:cNvPr id="41" name="Shape 39"/>
          <p:cNvSpPr/>
          <p:nvPr/>
        </p:nvSpPr>
        <p:spPr>
          <a:xfrm>
            <a:off x="10021824" y="1993392"/>
            <a:ext cx="237744" cy="237744"/>
          </a:xfrm>
          <a:prstGeom prst="ellipse">
            <a:avLst/>
          </a:prstGeom>
          <a:solidFill>
            <a:srgbClr val="1E7A52"/>
          </a:solidFill>
          <a:ln w="19050">
            <a:solidFill>
              <a:srgbClr val="FFFFFF"/>
            </a:solidFill>
            <a:prstDash val="solid"/>
          </a:ln>
        </p:spPr>
      </p:sp>
      <p:sp>
        <p:nvSpPr>
          <p:cNvPr id="42" name="Shape 40"/>
          <p:cNvSpPr/>
          <p:nvPr/>
        </p:nvSpPr>
        <p:spPr>
          <a:xfrm>
            <a:off x="8970264" y="2514600"/>
            <a:ext cx="2560320" cy="3291840"/>
          </a:xfrm>
          <a:prstGeom prst="rect">
            <a:avLst/>
          </a:prstGeom>
          <a:solidFill>
            <a:srgbClr val="FFFFFF"/>
          </a:solidFill>
          <a:ln w="12700">
            <a:solidFill>
              <a:srgbClr val="C6C4B8"/>
            </a:solidFill>
            <a:prstDash val="solid"/>
          </a:ln>
        </p:spPr>
      </p:sp>
      <p:sp>
        <p:nvSpPr>
          <p:cNvPr id="43" name="Text 41"/>
          <p:cNvSpPr txBox="1"/>
          <p:nvPr/>
        </p:nvSpPr>
        <p:spPr>
          <a:xfrm>
            <a:off x="9171432" y="2697480"/>
            <a:ext cx="2194560" cy="310896"/>
          </a:xfrm>
          <a:prstGeom prst="rect">
            <a:avLst/>
          </a:prstGeom>
          <a:noFill/>
          <a:ln/>
        </p:spPr>
        <p:txBody>
          <a:bodyPr wrap="square" lIns="0" tIns="0" rIns="0" bIns="0" rtlCol="0" anchor="ctr"/>
          <a:lstStyle/>
          <a:p>
            <a:pPr indent="0" marL="0">
              <a:buNone/>
            </a:pPr>
            <a:r>
              <a:rPr lang="en-US" sz="1500" b="1" dirty="0">
                <a:solidFill>
                  <a:srgbClr val="16273F"/>
                </a:solidFill>
                <a:latin typeface="Arial" pitchFamily="34" charset="0"/>
                <a:ea typeface="Arial" pitchFamily="34" charset="-122"/>
                <a:cs typeface="Arial" pitchFamily="34" charset="-120"/>
              </a:rPr>
              <a:t>4. Aceptación</a:t>
            </a:r>
            <a:endParaRPr lang="en-US" sz="1500" dirty="0"/>
          </a:p>
        </p:txBody>
      </p:sp>
      <p:sp>
        <p:nvSpPr>
          <p:cNvPr id="44" name="Text 42"/>
          <p:cNvSpPr txBox="1"/>
          <p:nvPr/>
        </p:nvSpPr>
        <p:spPr>
          <a:xfrm>
            <a:off x="9171432" y="3035808"/>
            <a:ext cx="2194560" cy="219456"/>
          </a:xfrm>
          <a:prstGeom prst="rect">
            <a:avLst/>
          </a:prstGeom>
          <a:noFill/>
          <a:ln/>
        </p:spPr>
        <p:txBody>
          <a:bodyPr wrap="square" lIns="0" tIns="0" rIns="0" bIns="0" rtlCol="0" anchor="ctr"/>
          <a:lstStyle/>
          <a:p>
            <a:pPr indent="0" marL="0">
              <a:buNone/>
            </a:pPr>
            <a:r>
              <a:rPr lang="en-US" sz="850" spc="50" kern="0" dirty="0">
                <a:solidFill>
                  <a:srgbClr val="1E7A52"/>
                </a:solidFill>
                <a:latin typeface="Courier New" pitchFamily="34" charset="0"/>
                <a:ea typeface="Courier New" pitchFamily="34" charset="-122"/>
                <a:cs typeface="Courier New" pitchFamily="34" charset="-120"/>
              </a:rPr>
              <a:t>ASUNCIÓN INFORMADA</a:t>
            </a:r>
            <a:endParaRPr lang="en-US" sz="850" dirty="0"/>
          </a:p>
        </p:txBody>
      </p:sp>
      <p:sp>
        <p:nvSpPr>
          <p:cNvPr id="45" name="Text 43"/>
          <p:cNvSpPr txBox="1"/>
          <p:nvPr/>
        </p:nvSpPr>
        <p:spPr>
          <a:xfrm>
            <a:off x="9171432" y="3364992"/>
            <a:ext cx="2194560" cy="1234440"/>
          </a:xfrm>
          <a:prstGeom prst="rect">
            <a:avLst/>
          </a:prstGeom>
          <a:noFill/>
          <a:ln/>
        </p:spPr>
        <p:txBody>
          <a:bodyPr wrap="square" lIns="0" tIns="0" rIns="0" bIns="0" rtlCol="0" anchor="ctr"/>
          <a:lstStyle/>
          <a:p>
            <a:pPr indent="0" marL="0">
              <a:lnSpc>
                <a:spcPts val="1600"/>
              </a:lnSpc>
              <a:buNone/>
            </a:pPr>
            <a:r>
              <a:rPr lang="en-US" sz="1200" dirty="0">
                <a:solidFill>
                  <a:srgbClr val="1F2A36"/>
                </a:solidFill>
                <a:latin typeface="Calibri" pitchFamily="34" charset="0"/>
                <a:ea typeface="Calibri" pitchFamily="34" charset="-122"/>
                <a:cs typeface="Calibri" pitchFamily="34" charset="-120"/>
              </a:rPr>
              <a:t>Se asume el riesgo cuando mitigar cuesta más que el daño esperado.</a:t>
            </a:r>
            <a:endParaRPr lang="en-US" sz="1200" dirty="0"/>
          </a:p>
        </p:txBody>
      </p:sp>
      <p:sp>
        <p:nvSpPr>
          <p:cNvPr id="46" name="Shape 44"/>
          <p:cNvSpPr/>
          <p:nvPr/>
        </p:nvSpPr>
        <p:spPr>
          <a:xfrm>
            <a:off x="9171432" y="4645152"/>
            <a:ext cx="2194560" cy="1005840"/>
          </a:xfrm>
          <a:prstGeom prst="rect">
            <a:avLst/>
          </a:prstGeom>
          <a:solidFill>
            <a:srgbClr val="EFEDE3"/>
          </a:solidFill>
          <a:ln w="12700">
            <a:solidFill>
              <a:srgbClr val="EFEDE3"/>
            </a:solidFill>
            <a:prstDash val="solid"/>
          </a:ln>
        </p:spPr>
      </p:sp>
      <p:sp>
        <p:nvSpPr>
          <p:cNvPr id="47" name="Text 45"/>
          <p:cNvSpPr txBox="1"/>
          <p:nvPr/>
        </p:nvSpPr>
        <p:spPr>
          <a:xfrm>
            <a:off x="9290304" y="4645152"/>
            <a:ext cx="1965960" cy="1005840"/>
          </a:xfrm>
          <a:prstGeom prst="rect">
            <a:avLst/>
          </a:prstGeom>
          <a:noFill/>
          <a:ln/>
        </p:spPr>
        <p:txBody>
          <a:bodyPr wrap="square" lIns="0" tIns="0" rIns="0" bIns="0" rtlCol="0" anchor="ctr"/>
          <a:lstStyle/>
          <a:p>
            <a:pPr indent="0" marL="0">
              <a:lnSpc>
                <a:spcPts val="1500"/>
              </a:lnSpc>
              <a:buNone/>
            </a:pPr>
            <a:r>
              <a:rPr lang="en-US" sz="1100" i="1" dirty="0">
                <a:solidFill>
                  <a:srgbClr val="27405C"/>
                </a:solidFill>
                <a:latin typeface="Calibri" pitchFamily="34" charset="0"/>
                <a:ea typeface="Calibri" pitchFamily="34" charset="-122"/>
                <a:cs typeface="Calibri" pitchFamily="34" charset="-120"/>
              </a:rPr>
              <a:t>Aceptar una degradación menor en un componente secundario.</a:t>
            </a:r>
            <a:endParaRPr lang="en-US" sz="1100" dirty="0"/>
          </a:p>
        </p:txBody>
      </p:sp>
      <p:sp>
        <p:nvSpPr>
          <p:cNvPr id="48" name="Text 46"/>
          <p:cNvSpPr txBox="1"/>
          <p:nvPr/>
        </p:nvSpPr>
        <p:spPr>
          <a:xfrm>
            <a:off x="685800" y="5989320"/>
            <a:ext cx="10820095" cy="320040"/>
          </a:xfrm>
          <a:prstGeom prst="rect">
            <a:avLst/>
          </a:prstGeom>
          <a:noFill/>
          <a:ln/>
        </p:spPr>
        <p:txBody>
          <a:bodyPr wrap="square" lIns="0" tIns="0" rIns="0" bIns="0" rtlCol="0" anchor="ctr"/>
          <a:lstStyle/>
          <a:p>
            <a:pPr algn="ctr" indent="0" marL="0">
              <a:buNone/>
            </a:pPr>
            <a:r>
              <a:rPr lang="en-US" sz="1250" i="1" dirty="0">
                <a:solidFill>
                  <a:srgbClr val="27405C"/>
                </a:solidFill>
                <a:latin typeface="Calibri" pitchFamily="34" charset="0"/>
                <a:ea typeface="Calibri" pitchFamily="34" charset="-122"/>
                <a:cs typeface="Calibri" pitchFamily="34" charset="-120"/>
              </a:rPr>
              <a:t>Aceptar es una decisión legítima, siempre que sea explícita y quede registrada. Aceptar sin decirlo es simplemente no haber mirado.</a:t>
            </a:r>
            <a:endParaRPr lang="en-US" sz="1250" dirty="0"/>
          </a:p>
        </p:txBody>
      </p:sp>
      <p:sp>
        <p:nvSpPr>
          <p:cNvPr id="49" name="Text 47"/>
          <p:cNvSpPr txBox="1"/>
          <p:nvPr/>
        </p:nvSpPr>
        <p:spPr>
          <a:xfrm>
            <a:off x="685800" y="6583680"/>
            <a:ext cx="6400800" cy="237744"/>
          </a:xfrm>
          <a:prstGeom prst="rect">
            <a:avLst/>
          </a:prstGeom>
          <a:noFill/>
          <a:ln/>
        </p:spPr>
        <p:txBody>
          <a:bodyPr wrap="square" lIns="0" tIns="0" rIns="0" bIns="0" rtlCol="0" anchor="ctr"/>
          <a:lstStyle/>
          <a:p>
            <a:pPr indent="0" marL="0">
              <a:buNone/>
            </a:pPr>
            <a:r>
              <a:rPr lang="en-US" sz="800" dirty="0">
                <a:solidFill>
                  <a:srgbClr val="707C86"/>
                </a:solidFill>
                <a:latin typeface="Courier New" pitchFamily="34" charset="0"/>
                <a:ea typeface="Courier New" pitchFamily="34" charset="-122"/>
                <a:cs typeface="Courier New" pitchFamily="34" charset="-120"/>
              </a:rPr>
              <a:t>AREM · Módulo 9 · Evaluación de Riesgos Arquitectónicos</a:t>
            </a:r>
            <a:endParaRPr lang="en-US" sz="800" dirty="0"/>
          </a:p>
        </p:txBody>
      </p:sp>
      <p:sp>
        <p:nvSpPr>
          <p:cNvPr id="50" name="Text 48"/>
          <p:cNvSpPr txBox="1"/>
          <p:nvPr/>
        </p:nvSpPr>
        <p:spPr>
          <a:xfrm>
            <a:off x="10881360" y="6583680"/>
            <a:ext cx="621792" cy="237744"/>
          </a:xfrm>
          <a:prstGeom prst="rect">
            <a:avLst/>
          </a:prstGeom>
          <a:noFill/>
          <a:ln/>
        </p:spPr>
        <p:txBody>
          <a:bodyPr wrap="square" lIns="0" tIns="0" rIns="0" bIns="0" rtlCol="0" anchor="ctr"/>
          <a:lstStyle/>
          <a:p>
            <a:pPr algn="r" indent="0" marL="0">
              <a:buNone/>
            </a:pPr>
            <a:r>
              <a:rPr lang="en-US" sz="800" dirty="0">
                <a:solidFill>
                  <a:srgbClr val="707C86"/>
                </a:solidFill>
                <a:latin typeface="Courier New" pitchFamily="34" charset="0"/>
                <a:ea typeface="Courier New" pitchFamily="34" charset="-122"/>
                <a:cs typeface="Courier New"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4ED"/>
        </a:solidFill>
      </p:bgPr>
    </p:bg>
    <p:spTree>
      <p:nvGrpSpPr>
        <p:cNvPr id="1" name=""/>
        <p:cNvGrpSpPr/>
        <p:nvPr/>
      </p:nvGrpSpPr>
      <p:grpSpPr>
        <a:xfrm>
          <a:off x="0" y="0"/>
          <a:ext cx="0" cy="0"/>
          <a:chOff x="0" y="0"/>
          <a:chExt cx="0" cy="0"/>
        </a:xfrm>
      </p:grpSpPr>
      <p:sp>
        <p:nvSpPr>
          <p:cNvPr id="2" name="Shape 0"/>
          <p:cNvSpPr/>
          <p:nvPr/>
        </p:nvSpPr>
        <p:spPr>
          <a:xfrm>
            <a:off x="384048" y="310896"/>
            <a:ext cx="11420856" cy="10973"/>
          </a:xfrm>
          <a:prstGeom prst="rect">
            <a:avLst/>
          </a:prstGeom>
          <a:solidFill>
            <a:srgbClr val="C6C4B8"/>
          </a:solidFill>
          <a:ln w="12700">
            <a:solidFill>
              <a:srgbClr val="C6C4B8"/>
            </a:solidFill>
            <a:prstDash val="solid"/>
          </a:ln>
        </p:spPr>
      </p:sp>
      <p:sp>
        <p:nvSpPr>
          <p:cNvPr id="3" name="Shape 1"/>
          <p:cNvSpPr/>
          <p:nvPr/>
        </p:nvSpPr>
        <p:spPr>
          <a:xfrm>
            <a:off x="384048" y="6510528"/>
            <a:ext cx="11420856" cy="10973"/>
          </a:xfrm>
          <a:prstGeom prst="rect">
            <a:avLst/>
          </a:prstGeom>
          <a:solidFill>
            <a:srgbClr val="C6C4B8"/>
          </a:solidFill>
          <a:ln w="12700">
            <a:solidFill>
              <a:srgbClr val="C6C4B8"/>
            </a:solidFill>
            <a:prstDash val="solid"/>
          </a:ln>
        </p:spPr>
      </p:sp>
      <p:sp>
        <p:nvSpPr>
          <p:cNvPr id="4" name="Shape 2"/>
          <p:cNvSpPr/>
          <p:nvPr/>
        </p:nvSpPr>
        <p:spPr>
          <a:xfrm>
            <a:off x="384048" y="310896"/>
            <a:ext cx="10973" cy="6208776"/>
          </a:xfrm>
          <a:prstGeom prst="rect">
            <a:avLst/>
          </a:prstGeom>
          <a:solidFill>
            <a:srgbClr val="C6C4B8"/>
          </a:solidFill>
          <a:ln w="12700">
            <a:solidFill>
              <a:srgbClr val="C6C4B8"/>
            </a:solidFill>
            <a:prstDash val="solid"/>
          </a:ln>
        </p:spPr>
      </p:sp>
      <p:sp>
        <p:nvSpPr>
          <p:cNvPr id="5" name="Shape 3"/>
          <p:cNvSpPr/>
          <p:nvPr/>
        </p:nvSpPr>
        <p:spPr>
          <a:xfrm>
            <a:off x="11795760" y="310896"/>
            <a:ext cx="10973" cy="6208776"/>
          </a:xfrm>
          <a:prstGeom prst="rect">
            <a:avLst/>
          </a:prstGeom>
          <a:solidFill>
            <a:srgbClr val="C6C4B8"/>
          </a:solidFill>
          <a:ln w="12700">
            <a:solidFill>
              <a:srgbClr val="C6C4B8"/>
            </a:solidFill>
            <a:prstDash val="solid"/>
          </a:ln>
        </p:spPr>
      </p:sp>
      <p:sp>
        <p:nvSpPr>
          <p:cNvPr id="6" name="Shape 4"/>
          <p:cNvSpPr/>
          <p:nvPr/>
        </p:nvSpPr>
        <p:spPr>
          <a:xfrm>
            <a:off x="283464" y="306324"/>
            <a:ext cx="201168" cy="9144"/>
          </a:xfrm>
          <a:prstGeom prst="rect">
            <a:avLst/>
          </a:prstGeom>
          <a:solidFill>
            <a:srgbClr val="5A7189"/>
          </a:solidFill>
          <a:ln w="12700">
            <a:solidFill>
              <a:srgbClr val="5A7189"/>
            </a:solidFill>
            <a:prstDash val="solid"/>
          </a:ln>
        </p:spPr>
      </p:sp>
      <p:sp>
        <p:nvSpPr>
          <p:cNvPr id="7" name="Shape 5"/>
          <p:cNvSpPr/>
          <p:nvPr/>
        </p:nvSpPr>
        <p:spPr>
          <a:xfrm>
            <a:off x="379476" y="210312"/>
            <a:ext cx="9144" cy="201168"/>
          </a:xfrm>
          <a:prstGeom prst="rect">
            <a:avLst/>
          </a:prstGeom>
          <a:solidFill>
            <a:srgbClr val="5A7189"/>
          </a:solidFill>
          <a:ln w="12700">
            <a:solidFill>
              <a:srgbClr val="5A7189"/>
            </a:solidFill>
            <a:prstDash val="solid"/>
          </a:ln>
        </p:spPr>
      </p:sp>
      <p:sp>
        <p:nvSpPr>
          <p:cNvPr id="8" name="Shape 6"/>
          <p:cNvSpPr/>
          <p:nvPr/>
        </p:nvSpPr>
        <p:spPr>
          <a:xfrm>
            <a:off x="11695176" y="306324"/>
            <a:ext cx="201168" cy="9144"/>
          </a:xfrm>
          <a:prstGeom prst="rect">
            <a:avLst/>
          </a:prstGeom>
          <a:solidFill>
            <a:srgbClr val="5A7189"/>
          </a:solidFill>
          <a:ln w="12700">
            <a:solidFill>
              <a:srgbClr val="5A7189"/>
            </a:solidFill>
            <a:prstDash val="solid"/>
          </a:ln>
        </p:spPr>
      </p:sp>
      <p:sp>
        <p:nvSpPr>
          <p:cNvPr id="9" name="Shape 7"/>
          <p:cNvSpPr/>
          <p:nvPr/>
        </p:nvSpPr>
        <p:spPr>
          <a:xfrm>
            <a:off x="11791188" y="210312"/>
            <a:ext cx="9144" cy="201168"/>
          </a:xfrm>
          <a:prstGeom prst="rect">
            <a:avLst/>
          </a:prstGeom>
          <a:solidFill>
            <a:srgbClr val="5A7189"/>
          </a:solidFill>
          <a:ln w="12700">
            <a:solidFill>
              <a:srgbClr val="5A7189"/>
            </a:solidFill>
            <a:prstDash val="solid"/>
          </a:ln>
        </p:spPr>
      </p:sp>
      <p:sp>
        <p:nvSpPr>
          <p:cNvPr id="10" name="Shape 8"/>
          <p:cNvSpPr/>
          <p:nvPr/>
        </p:nvSpPr>
        <p:spPr>
          <a:xfrm>
            <a:off x="283464" y="6505956"/>
            <a:ext cx="201168" cy="9144"/>
          </a:xfrm>
          <a:prstGeom prst="rect">
            <a:avLst/>
          </a:prstGeom>
          <a:solidFill>
            <a:srgbClr val="5A7189"/>
          </a:solidFill>
          <a:ln w="12700">
            <a:solidFill>
              <a:srgbClr val="5A7189"/>
            </a:solidFill>
            <a:prstDash val="solid"/>
          </a:ln>
        </p:spPr>
      </p:sp>
      <p:sp>
        <p:nvSpPr>
          <p:cNvPr id="11" name="Shape 9"/>
          <p:cNvSpPr/>
          <p:nvPr/>
        </p:nvSpPr>
        <p:spPr>
          <a:xfrm>
            <a:off x="379476" y="6409944"/>
            <a:ext cx="9144" cy="201168"/>
          </a:xfrm>
          <a:prstGeom prst="rect">
            <a:avLst/>
          </a:prstGeom>
          <a:solidFill>
            <a:srgbClr val="5A7189"/>
          </a:solidFill>
          <a:ln w="12700">
            <a:solidFill>
              <a:srgbClr val="5A7189"/>
            </a:solidFill>
            <a:prstDash val="solid"/>
          </a:ln>
        </p:spPr>
      </p:sp>
      <p:sp>
        <p:nvSpPr>
          <p:cNvPr id="12" name="Shape 10"/>
          <p:cNvSpPr/>
          <p:nvPr/>
        </p:nvSpPr>
        <p:spPr>
          <a:xfrm>
            <a:off x="11695176" y="6505956"/>
            <a:ext cx="201168" cy="9144"/>
          </a:xfrm>
          <a:prstGeom prst="rect">
            <a:avLst/>
          </a:prstGeom>
          <a:solidFill>
            <a:srgbClr val="5A7189"/>
          </a:solidFill>
          <a:ln w="12700">
            <a:solidFill>
              <a:srgbClr val="5A7189"/>
            </a:solidFill>
            <a:prstDash val="solid"/>
          </a:ln>
        </p:spPr>
      </p:sp>
      <p:sp>
        <p:nvSpPr>
          <p:cNvPr id="13" name="Shape 11"/>
          <p:cNvSpPr/>
          <p:nvPr/>
        </p:nvSpPr>
        <p:spPr>
          <a:xfrm>
            <a:off x="11791188" y="6409944"/>
            <a:ext cx="9144" cy="201168"/>
          </a:xfrm>
          <a:prstGeom prst="rect">
            <a:avLst/>
          </a:prstGeom>
          <a:solidFill>
            <a:srgbClr val="5A7189"/>
          </a:solidFill>
          <a:ln w="12700">
            <a:solidFill>
              <a:srgbClr val="5A7189"/>
            </a:solidFill>
            <a:prstDash val="solid"/>
          </a:ln>
        </p:spPr>
      </p:sp>
      <p:sp>
        <p:nvSpPr>
          <p:cNvPr id="14" name="Text 12"/>
          <p:cNvSpPr txBox="1"/>
          <p:nvPr/>
        </p:nvSpPr>
        <p:spPr>
          <a:xfrm>
            <a:off x="685800" y="566928"/>
            <a:ext cx="7315200" cy="237744"/>
          </a:xfrm>
          <a:prstGeom prst="rect">
            <a:avLst/>
          </a:prstGeom>
          <a:noFill/>
          <a:ln/>
        </p:spPr>
        <p:txBody>
          <a:bodyPr wrap="square" lIns="0" tIns="0" rIns="0" bIns="0" rtlCol="0" anchor="ctr"/>
          <a:lstStyle/>
          <a:p>
            <a:pPr indent="0" marL="0">
              <a:buNone/>
            </a:pPr>
            <a:r>
              <a:rPr lang="en-US" sz="1000" spc="100" kern="0" dirty="0">
                <a:solidFill>
                  <a:srgbClr val="B85C2E"/>
                </a:solidFill>
                <a:latin typeface="Courier New" pitchFamily="34" charset="0"/>
                <a:ea typeface="Courier New" pitchFamily="34" charset="-122"/>
                <a:cs typeface="Courier New" pitchFamily="34" charset="-120"/>
              </a:rPr>
              <a:t>11 · MECÁNICA DEL CONTROL</a:t>
            </a:r>
            <a:endParaRPr lang="en-US" sz="1000" dirty="0"/>
          </a:p>
        </p:txBody>
      </p:sp>
      <p:sp>
        <p:nvSpPr>
          <p:cNvPr id="15" name="Text 13"/>
          <p:cNvSpPr txBox="1"/>
          <p:nvPr/>
        </p:nvSpPr>
        <p:spPr>
          <a:xfrm>
            <a:off x="685800" y="822960"/>
            <a:ext cx="10820095" cy="566928"/>
          </a:xfrm>
          <a:prstGeom prst="rect">
            <a:avLst/>
          </a:prstGeom>
          <a:noFill/>
          <a:ln/>
        </p:spPr>
        <p:txBody>
          <a:bodyPr wrap="square" lIns="0" tIns="0" rIns="0" bIns="0" rtlCol="0" anchor="ctr"/>
          <a:lstStyle/>
          <a:p>
            <a:pPr indent="0" marL="0">
              <a:buNone/>
            </a:pPr>
            <a:r>
              <a:rPr lang="en-US" sz="3000" b="1" dirty="0">
                <a:solidFill>
                  <a:srgbClr val="16273F"/>
                </a:solidFill>
                <a:latin typeface="Arial" pitchFamily="34" charset="0"/>
                <a:ea typeface="Arial" pitchFamily="34" charset="-122"/>
                <a:cs typeface="Arial" pitchFamily="34" charset="-120"/>
              </a:rPr>
              <a:t>El modelo Bow-Tie</a:t>
            </a:r>
            <a:endParaRPr lang="en-US" sz="3000" dirty="0"/>
          </a:p>
        </p:txBody>
      </p:sp>
      <p:sp>
        <p:nvSpPr>
          <p:cNvPr id="16" name="Text 14"/>
          <p:cNvSpPr txBox="1"/>
          <p:nvPr/>
        </p:nvSpPr>
        <p:spPr>
          <a:xfrm>
            <a:off x="685800" y="1389888"/>
            <a:ext cx="10820095" cy="310896"/>
          </a:xfrm>
          <a:prstGeom prst="rect">
            <a:avLst/>
          </a:prstGeom>
          <a:noFill/>
          <a:ln/>
        </p:spPr>
        <p:txBody>
          <a:bodyPr wrap="square" lIns="0" tIns="0" rIns="0" bIns="0" rtlCol="0" anchor="ctr"/>
          <a:lstStyle/>
          <a:p>
            <a:pPr indent="0" marL="0">
              <a:buNone/>
            </a:pPr>
            <a:r>
              <a:rPr lang="en-US" sz="1350" dirty="0">
                <a:solidFill>
                  <a:srgbClr val="707C86"/>
                </a:solidFill>
                <a:latin typeface="Calibri" pitchFamily="34" charset="0"/>
                <a:ea typeface="Calibri" pitchFamily="34" charset="-122"/>
                <a:cs typeface="Calibri" pitchFamily="34" charset="-120"/>
              </a:rPr>
              <a:t>Dónde actúa cada control respecto al evento de riesgo</a:t>
            </a:r>
            <a:endParaRPr lang="en-US" sz="1350" dirty="0"/>
          </a:p>
        </p:txBody>
      </p:sp>
      <p:sp>
        <p:nvSpPr>
          <p:cNvPr id="17" name="Shape 15"/>
          <p:cNvSpPr/>
          <p:nvPr/>
        </p:nvSpPr>
        <p:spPr>
          <a:xfrm>
            <a:off x="5394960" y="3246120"/>
            <a:ext cx="1417320" cy="1417320"/>
          </a:xfrm>
          <a:prstGeom prst="ellipse">
            <a:avLst/>
          </a:prstGeom>
          <a:solidFill>
            <a:srgbClr val="B85C2E"/>
          </a:solidFill>
          <a:ln w="25400">
            <a:solidFill>
              <a:srgbClr val="FFFFFF"/>
            </a:solidFill>
            <a:prstDash val="solid"/>
          </a:ln>
        </p:spPr>
      </p:sp>
      <p:sp>
        <p:nvSpPr>
          <p:cNvPr id="18" name="Text 16"/>
          <p:cNvSpPr txBox="1"/>
          <p:nvPr/>
        </p:nvSpPr>
        <p:spPr>
          <a:xfrm>
            <a:off x="5394960" y="3246120"/>
            <a:ext cx="1417320" cy="1417320"/>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EVENTO</a:t>
            </a:r>
            <a:endParaRPr lang="en-US" sz="1000" dirty="0"/>
          </a:p>
          <a:p>
            <a:pPr algn="ctr" indent="0" marL="0">
              <a:buNone/>
            </a:pPr>
            <a:r>
              <a:rPr lang="en-US" sz="1000" b="1" dirty="0">
                <a:solidFill>
                  <a:srgbClr val="FFFFFF"/>
                </a:solidFill>
                <a:latin typeface="Courier New" pitchFamily="34" charset="0"/>
                <a:ea typeface="Courier New" pitchFamily="34" charset="-122"/>
                <a:cs typeface="Courier New" pitchFamily="34" charset="-120"/>
              </a:rPr>
              <a:t>DE RIESGO</a:t>
            </a:r>
            <a:endParaRPr lang="en-US" sz="1000" dirty="0"/>
          </a:p>
        </p:txBody>
      </p:sp>
      <p:sp>
        <p:nvSpPr>
          <p:cNvPr id="19" name="Shape 17"/>
          <p:cNvSpPr/>
          <p:nvPr/>
        </p:nvSpPr>
        <p:spPr>
          <a:xfrm>
            <a:off x="685800" y="3291840"/>
            <a:ext cx="2011680" cy="1325880"/>
          </a:xfrm>
          <a:prstGeom prst="rect">
            <a:avLst/>
          </a:prstGeom>
          <a:solidFill>
            <a:srgbClr val="FFFFFF"/>
          </a:solidFill>
          <a:ln w="12700">
            <a:solidFill>
              <a:srgbClr val="C6C4B8"/>
            </a:solidFill>
            <a:prstDash val="solid"/>
          </a:ln>
        </p:spPr>
      </p:sp>
      <p:sp>
        <p:nvSpPr>
          <p:cNvPr id="20" name="Text 18"/>
          <p:cNvSpPr txBox="1"/>
          <p:nvPr/>
        </p:nvSpPr>
        <p:spPr>
          <a:xfrm>
            <a:off x="868680" y="3456432"/>
            <a:ext cx="1645920" cy="256032"/>
          </a:xfrm>
          <a:prstGeom prst="rect">
            <a:avLst/>
          </a:prstGeom>
          <a:noFill/>
          <a:ln/>
        </p:spPr>
        <p:txBody>
          <a:bodyPr wrap="square" lIns="0" tIns="0" rIns="0" bIns="0" rtlCol="0" anchor="ctr"/>
          <a:lstStyle/>
          <a:p>
            <a:pPr indent="0" marL="0">
              <a:buNone/>
            </a:pPr>
            <a:r>
              <a:rPr lang="en-US" sz="1000" b="1" spc="100" kern="0" dirty="0">
                <a:solidFill>
                  <a:srgbClr val="16273F"/>
                </a:solidFill>
                <a:latin typeface="Courier New" pitchFamily="34" charset="0"/>
                <a:ea typeface="Courier New" pitchFamily="34" charset="-122"/>
                <a:cs typeface="Courier New" pitchFamily="34" charset="-120"/>
              </a:rPr>
              <a:t>CAUSAS</a:t>
            </a:r>
            <a:endParaRPr lang="en-US" sz="1000" dirty="0"/>
          </a:p>
        </p:txBody>
      </p:sp>
      <p:sp>
        <p:nvSpPr>
          <p:cNvPr id="21" name="Text 19"/>
          <p:cNvSpPr txBox="1"/>
          <p:nvPr/>
        </p:nvSpPr>
        <p:spPr>
          <a:xfrm>
            <a:off x="868680" y="3749040"/>
            <a:ext cx="1645920" cy="640080"/>
          </a:xfrm>
          <a:prstGeom prst="rect">
            <a:avLst/>
          </a:prstGeom>
          <a:noFill/>
          <a:ln/>
        </p:spPr>
        <p:txBody>
          <a:bodyPr wrap="square" lIns="0" tIns="0" rIns="0" bIns="0" rtlCol="0" anchor="ctr"/>
          <a:lstStyle/>
          <a:p>
            <a:pPr indent="0" marL="0">
              <a:lnSpc>
                <a:spcPts val="1500"/>
              </a:lnSpc>
              <a:buNone/>
            </a:pPr>
            <a:r>
              <a:rPr lang="en-US" sz="1150" dirty="0">
                <a:solidFill>
                  <a:srgbClr val="1F2A36"/>
                </a:solidFill>
                <a:latin typeface="Calibri" pitchFamily="34" charset="0"/>
                <a:ea typeface="Calibri" pitchFamily="34" charset="-122"/>
                <a:cs typeface="Calibri" pitchFamily="34" charset="-120"/>
              </a:rPr>
              <a:t>Las fuentes del riesgo estructural.</a:t>
            </a:r>
            <a:endParaRPr lang="en-US" sz="1150" dirty="0"/>
          </a:p>
        </p:txBody>
      </p:sp>
      <p:sp>
        <p:nvSpPr>
          <p:cNvPr id="22" name="Shape 20"/>
          <p:cNvSpPr/>
          <p:nvPr/>
        </p:nvSpPr>
        <p:spPr>
          <a:xfrm>
            <a:off x="9491472" y="3291840"/>
            <a:ext cx="2011680" cy="1325880"/>
          </a:xfrm>
          <a:prstGeom prst="rect">
            <a:avLst/>
          </a:prstGeom>
          <a:solidFill>
            <a:srgbClr val="FFFFFF"/>
          </a:solidFill>
          <a:ln w="12700">
            <a:solidFill>
              <a:srgbClr val="C6C4B8"/>
            </a:solidFill>
            <a:prstDash val="solid"/>
          </a:ln>
        </p:spPr>
      </p:sp>
      <p:sp>
        <p:nvSpPr>
          <p:cNvPr id="23" name="Text 21"/>
          <p:cNvSpPr txBox="1"/>
          <p:nvPr/>
        </p:nvSpPr>
        <p:spPr>
          <a:xfrm>
            <a:off x="9674352" y="3456432"/>
            <a:ext cx="1645920" cy="256032"/>
          </a:xfrm>
          <a:prstGeom prst="rect">
            <a:avLst/>
          </a:prstGeom>
          <a:noFill/>
          <a:ln/>
        </p:spPr>
        <p:txBody>
          <a:bodyPr wrap="square" lIns="0" tIns="0" rIns="0" bIns="0" rtlCol="0" anchor="ctr"/>
          <a:lstStyle/>
          <a:p>
            <a:pPr indent="0" marL="0">
              <a:buNone/>
            </a:pPr>
            <a:r>
              <a:rPr lang="en-US" sz="1000" b="1" spc="100" kern="0" dirty="0">
                <a:solidFill>
                  <a:srgbClr val="16273F"/>
                </a:solidFill>
                <a:latin typeface="Courier New" pitchFamily="34" charset="0"/>
                <a:ea typeface="Courier New" pitchFamily="34" charset="-122"/>
                <a:cs typeface="Courier New" pitchFamily="34" charset="-120"/>
              </a:rPr>
              <a:t>EFECTOS</a:t>
            </a:r>
            <a:endParaRPr lang="en-US" sz="1000" dirty="0"/>
          </a:p>
        </p:txBody>
      </p:sp>
      <p:sp>
        <p:nvSpPr>
          <p:cNvPr id="24" name="Text 22"/>
          <p:cNvSpPr txBox="1"/>
          <p:nvPr/>
        </p:nvSpPr>
        <p:spPr>
          <a:xfrm>
            <a:off x="9674352" y="3749040"/>
            <a:ext cx="1645920" cy="685800"/>
          </a:xfrm>
          <a:prstGeom prst="rect">
            <a:avLst/>
          </a:prstGeom>
          <a:noFill/>
          <a:ln/>
        </p:spPr>
        <p:txBody>
          <a:bodyPr wrap="square" lIns="0" tIns="0" rIns="0" bIns="0" rtlCol="0" anchor="ctr"/>
          <a:lstStyle/>
          <a:p>
            <a:pPr indent="0" marL="0">
              <a:lnSpc>
                <a:spcPts val="1500"/>
              </a:lnSpc>
              <a:buNone/>
            </a:pPr>
            <a:r>
              <a:rPr lang="en-US" sz="1150" dirty="0">
                <a:solidFill>
                  <a:srgbClr val="1F2A36"/>
                </a:solidFill>
                <a:latin typeface="Calibri" pitchFamily="34" charset="0"/>
                <a:ea typeface="Calibri" pitchFamily="34" charset="-122"/>
                <a:cs typeface="Calibri" pitchFamily="34" charset="-120"/>
              </a:rPr>
              <a:t>El impacto en rendimiento, seguridad o negocio.</a:t>
            </a:r>
            <a:endParaRPr lang="en-US" sz="1150" dirty="0"/>
          </a:p>
        </p:txBody>
      </p:sp>
      <p:sp>
        <p:nvSpPr>
          <p:cNvPr id="25" name="Shape 23"/>
          <p:cNvSpPr/>
          <p:nvPr/>
        </p:nvSpPr>
        <p:spPr>
          <a:xfrm>
            <a:off x="3154680" y="3017520"/>
            <a:ext cx="365760" cy="1874520"/>
          </a:xfrm>
          <a:prstGeom prst="rect">
            <a:avLst/>
          </a:prstGeom>
          <a:solidFill>
            <a:srgbClr val="D8863F"/>
          </a:solidFill>
          <a:ln w="19050">
            <a:solidFill>
              <a:srgbClr val="FFFFFF"/>
            </a:solidFill>
            <a:prstDash val="solid"/>
          </a:ln>
        </p:spPr>
      </p:sp>
      <p:sp>
        <p:nvSpPr>
          <p:cNvPr id="26" name="Shape 24"/>
          <p:cNvSpPr/>
          <p:nvPr/>
        </p:nvSpPr>
        <p:spPr>
          <a:xfrm>
            <a:off x="4023360" y="3017520"/>
            <a:ext cx="365760" cy="1874520"/>
          </a:xfrm>
          <a:prstGeom prst="rect">
            <a:avLst/>
          </a:prstGeom>
          <a:solidFill>
            <a:srgbClr val="D8863F"/>
          </a:solidFill>
          <a:ln w="19050">
            <a:solidFill>
              <a:srgbClr val="FFFFFF"/>
            </a:solidFill>
            <a:prstDash val="solid"/>
          </a:ln>
        </p:spPr>
      </p:sp>
      <p:sp>
        <p:nvSpPr>
          <p:cNvPr id="27" name="Shape 25"/>
          <p:cNvSpPr/>
          <p:nvPr/>
        </p:nvSpPr>
        <p:spPr>
          <a:xfrm>
            <a:off x="7680960" y="3017520"/>
            <a:ext cx="365760" cy="1874520"/>
          </a:xfrm>
          <a:prstGeom prst="rect">
            <a:avLst/>
          </a:prstGeom>
          <a:solidFill>
            <a:srgbClr val="1E7A52"/>
          </a:solidFill>
          <a:ln w="19050">
            <a:solidFill>
              <a:srgbClr val="FFFFFF"/>
            </a:solidFill>
            <a:prstDash val="solid"/>
          </a:ln>
        </p:spPr>
      </p:sp>
      <p:sp>
        <p:nvSpPr>
          <p:cNvPr id="28" name="Shape 26"/>
          <p:cNvSpPr/>
          <p:nvPr/>
        </p:nvSpPr>
        <p:spPr>
          <a:xfrm>
            <a:off x="8549640" y="3017520"/>
            <a:ext cx="365760" cy="1874520"/>
          </a:xfrm>
          <a:prstGeom prst="rect">
            <a:avLst/>
          </a:prstGeom>
          <a:solidFill>
            <a:srgbClr val="1E7A52"/>
          </a:solidFill>
          <a:ln w="19050">
            <a:solidFill>
              <a:srgbClr val="FFFFFF"/>
            </a:solidFill>
            <a:prstDash val="solid"/>
          </a:ln>
        </p:spPr>
      </p:sp>
      <p:sp>
        <p:nvSpPr>
          <p:cNvPr id="29" name="Shape 27"/>
          <p:cNvSpPr/>
          <p:nvPr/>
        </p:nvSpPr>
        <p:spPr>
          <a:xfrm>
            <a:off x="2743200" y="3950208"/>
            <a:ext cx="365760" cy="0"/>
          </a:xfrm>
          <a:prstGeom prst="line">
            <a:avLst/>
          </a:prstGeom>
          <a:noFill/>
          <a:ln w="15875">
            <a:solidFill>
              <a:srgbClr val="5A7189"/>
            </a:solidFill>
            <a:prstDash val="solid"/>
            <a:tailEnd type="triangle"/>
          </a:ln>
        </p:spPr>
      </p:sp>
      <p:sp>
        <p:nvSpPr>
          <p:cNvPr id="30" name="Shape 28"/>
          <p:cNvSpPr/>
          <p:nvPr/>
        </p:nvSpPr>
        <p:spPr>
          <a:xfrm>
            <a:off x="4572000" y="3950208"/>
            <a:ext cx="777240" cy="0"/>
          </a:xfrm>
          <a:prstGeom prst="line">
            <a:avLst/>
          </a:prstGeom>
          <a:noFill/>
          <a:ln w="15875">
            <a:solidFill>
              <a:srgbClr val="5A7189"/>
            </a:solidFill>
            <a:prstDash val="solid"/>
            <a:tailEnd type="triangle"/>
          </a:ln>
        </p:spPr>
      </p:sp>
      <p:sp>
        <p:nvSpPr>
          <p:cNvPr id="31" name="Shape 29"/>
          <p:cNvSpPr/>
          <p:nvPr/>
        </p:nvSpPr>
        <p:spPr>
          <a:xfrm>
            <a:off x="6858000" y="3950208"/>
            <a:ext cx="777240" cy="0"/>
          </a:xfrm>
          <a:prstGeom prst="line">
            <a:avLst/>
          </a:prstGeom>
          <a:noFill/>
          <a:ln w="15875">
            <a:solidFill>
              <a:srgbClr val="5A7189"/>
            </a:solidFill>
            <a:prstDash val="solid"/>
            <a:tailEnd type="triangle"/>
          </a:ln>
        </p:spPr>
      </p:sp>
      <p:sp>
        <p:nvSpPr>
          <p:cNvPr id="32" name="Shape 30"/>
          <p:cNvSpPr/>
          <p:nvPr/>
        </p:nvSpPr>
        <p:spPr>
          <a:xfrm>
            <a:off x="9006840" y="3950208"/>
            <a:ext cx="438912" cy="0"/>
          </a:xfrm>
          <a:prstGeom prst="line">
            <a:avLst/>
          </a:prstGeom>
          <a:noFill/>
          <a:ln w="15875">
            <a:solidFill>
              <a:srgbClr val="5A7189"/>
            </a:solidFill>
            <a:prstDash val="solid"/>
            <a:tailEnd type="triangle"/>
          </a:ln>
        </p:spPr>
      </p:sp>
      <p:sp>
        <p:nvSpPr>
          <p:cNvPr id="33" name="Shape 31"/>
          <p:cNvSpPr/>
          <p:nvPr/>
        </p:nvSpPr>
        <p:spPr>
          <a:xfrm>
            <a:off x="2697480" y="1965960"/>
            <a:ext cx="3108960" cy="896112"/>
          </a:xfrm>
          <a:prstGeom prst="rect">
            <a:avLst/>
          </a:prstGeom>
          <a:solidFill>
            <a:srgbClr val="FFFFFF"/>
          </a:solidFill>
          <a:ln w="15875">
            <a:solidFill>
              <a:srgbClr val="D8863F"/>
            </a:solidFill>
            <a:prstDash val="solid"/>
          </a:ln>
        </p:spPr>
      </p:sp>
      <p:sp>
        <p:nvSpPr>
          <p:cNvPr id="34" name="Text 32"/>
          <p:cNvSpPr txBox="1"/>
          <p:nvPr/>
        </p:nvSpPr>
        <p:spPr>
          <a:xfrm>
            <a:off x="2880360" y="2103120"/>
            <a:ext cx="2743200" cy="219456"/>
          </a:xfrm>
          <a:prstGeom prst="rect">
            <a:avLst/>
          </a:prstGeom>
          <a:noFill/>
          <a:ln/>
        </p:spPr>
        <p:txBody>
          <a:bodyPr wrap="square" lIns="0" tIns="0" rIns="0" bIns="0" rtlCol="0" anchor="ctr"/>
          <a:lstStyle/>
          <a:p>
            <a:pPr indent="0" marL="0">
              <a:buNone/>
            </a:pPr>
            <a:r>
              <a:rPr lang="en-US" sz="850" spc="50" kern="0" dirty="0">
                <a:solidFill>
                  <a:srgbClr val="D8863F"/>
                </a:solidFill>
                <a:latin typeface="Courier New" pitchFamily="34" charset="0"/>
                <a:ea typeface="Courier New" pitchFamily="34" charset="-122"/>
                <a:cs typeface="Courier New" pitchFamily="34" charset="-120"/>
              </a:rPr>
              <a:t>ANTES DEL EVENTO</a:t>
            </a:r>
            <a:endParaRPr lang="en-US" sz="850" dirty="0"/>
          </a:p>
        </p:txBody>
      </p:sp>
      <p:sp>
        <p:nvSpPr>
          <p:cNvPr id="35" name="Text 33"/>
          <p:cNvSpPr txBox="1"/>
          <p:nvPr/>
        </p:nvSpPr>
        <p:spPr>
          <a:xfrm>
            <a:off x="2880360" y="2359152"/>
            <a:ext cx="2743200" cy="438912"/>
          </a:xfrm>
          <a:prstGeom prst="rect">
            <a:avLst/>
          </a:prstGeom>
          <a:noFill/>
          <a:ln/>
        </p:spPr>
        <p:txBody>
          <a:bodyPr wrap="square" lIns="0" tIns="0" rIns="0" bIns="0" rtlCol="0" anchor="ctr"/>
          <a:lstStyle/>
          <a:p>
            <a:pPr indent="0" marL="0">
              <a:lnSpc>
                <a:spcPts val="1500"/>
              </a:lnSpc>
              <a:buNone/>
            </a:pPr>
            <a:r>
              <a:rPr lang="en-US" sz="1150" dirty="0">
                <a:solidFill>
                  <a:srgbClr val="1F2A36"/>
                </a:solidFill>
                <a:latin typeface="Calibri" pitchFamily="34" charset="0"/>
                <a:ea typeface="Calibri" pitchFamily="34" charset="-122"/>
                <a:cs typeface="Calibri" pitchFamily="34" charset="-120"/>
              </a:rPr>
              <a:t>Controles preventivos: evitan que el riesgo se materialice.</a:t>
            </a:r>
            <a:endParaRPr lang="en-US" sz="1150" dirty="0"/>
          </a:p>
        </p:txBody>
      </p:sp>
      <p:sp>
        <p:nvSpPr>
          <p:cNvPr id="36" name="Shape 34"/>
          <p:cNvSpPr/>
          <p:nvPr/>
        </p:nvSpPr>
        <p:spPr>
          <a:xfrm>
            <a:off x="7223760" y="1965960"/>
            <a:ext cx="3108960" cy="896112"/>
          </a:xfrm>
          <a:prstGeom prst="rect">
            <a:avLst/>
          </a:prstGeom>
          <a:solidFill>
            <a:srgbClr val="FFFFFF"/>
          </a:solidFill>
          <a:ln w="15875">
            <a:solidFill>
              <a:srgbClr val="1E7A52"/>
            </a:solidFill>
            <a:prstDash val="solid"/>
          </a:ln>
        </p:spPr>
      </p:sp>
      <p:sp>
        <p:nvSpPr>
          <p:cNvPr id="37" name="Text 35"/>
          <p:cNvSpPr txBox="1"/>
          <p:nvPr/>
        </p:nvSpPr>
        <p:spPr>
          <a:xfrm>
            <a:off x="7406640" y="2103120"/>
            <a:ext cx="2743200" cy="219456"/>
          </a:xfrm>
          <a:prstGeom prst="rect">
            <a:avLst/>
          </a:prstGeom>
          <a:noFill/>
          <a:ln/>
        </p:spPr>
        <p:txBody>
          <a:bodyPr wrap="square" lIns="0" tIns="0" rIns="0" bIns="0" rtlCol="0" anchor="ctr"/>
          <a:lstStyle/>
          <a:p>
            <a:pPr indent="0" marL="0">
              <a:buNone/>
            </a:pPr>
            <a:r>
              <a:rPr lang="en-US" sz="850" spc="50" kern="0" dirty="0">
                <a:solidFill>
                  <a:srgbClr val="1E7A52"/>
                </a:solidFill>
                <a:latin typeface="Courier New" pitchFamily="34" charset="0"/>
                <a:ea typeface="Courier New" pitchFamily="34" charset="-122"/>
                <a:cs typeface="Courier New" pitchFamily="34" charset="-120"/>
              </a:rPr>
              <a:t>DESPUÉS DEL EVENTO</a:t>
            </a:r>
            <a:endParaRPr lang="en-US" sz="850" dirty="0"/>
          </a:p>
        </p:txBody>
      </p:sp>
      <p:sp>
        <p:nvSpPr>
          <p:cNvPr id="38" name="Text 36"/>
          <p:cNvSpPr txBox="1"/>
          <p:nvPr/>
        </p:nvSpPr>
        <p:spPr>
          <a:xfrm>
            <a:off x="7406640" y="2359152"/>
            <a:ext cx="2743200" cy="438912"/>
          </a:xfrm>
          <a:prstGeom prst="rect">
            <a:avLst/>
          </a:prstGeom>
          <a:noFill/>
          <a:ln/>
        </p:spPr>
        <p:txBody>
          <a:bodyPr wrap="square" lIns="0" tIns="0" rIns="0" bIns="0" rtlCol="0" anchor="ctr"/>
          <a:lstStyle/>
          <a:p>
            <a:pPr indent="0" marL="0">
              <a:lnSpc>
                <a:spcPts val="1500"/>
              </a:lnSpc>
              <a:buNone/>
            </a:pPr>
            <a:r>
              <a:rPr lang="en-US" sz="1150" dirty="0">
                <a:solidFill>
                  <a:srgbClr val="1F2A36"/>
                </a:solidFill>
                <a:latin typeface="Calibri" pitchFamily="34" charset="0"/>
                <a:ea typeface="Calibri" pitchFamily="34" charset="-122"/>
                <a:cs typeface="Calibri" pitchFamily="34" charset="-120"/>
              </a:rPr>
              <a:t>Controles reactivos: reducen el daño una vez ocurrió.</a:t>
            </a:r>
            <a:endParaRPr lang="en-US" sz="1150" dirty="0"/>
          </a:p>
        </p:txBody>
      </p:sp>
      <p:sp>
        <p:nvSpPr>
          <p:cNvPr id="39" name="Shape 37"/>
          <p:cNvSpPr/>
          <p:nvPr/>
        </p:nvSpPr>
        <p:spPr>
          <a:xfrm>
            <a:off x="685800" y="5212080"/>
            <a:ext cx="10820095" cy="1097280"/>
          </a:xfrm>
          <a:prstGeom prst="rect">
            <a:avLst/>
          </a:prstGeom>
          <a:solidFill>
            <a:srgbClr val="EFEDE3"/>
          </a:solidFill>
          <a:ln w="12700">
            <a:solidFill>
              <a:srgbClr val="C6C4B8"/>
            </a:solidFill>
            <a:prstDash val="solid"/>
          </a:ln>
        </p:spPr>
      </p:sp>
      <p:sp>
        <p:nvSpPr>
          <p:cNvPr id="40" name="Text 38"/>
          <p:cNvSpPr txBox="1"/>
          <p:nvPr/>
        </p:nvSpPr>
        <p:spPr>
          <a:xfrm>
            <a:off x="960120" y="5212080"/>
            <a:ext cx="10271455" cy="1097280"/>
          </a:xfrm>
          <a:prstGeom prst="rect">
            <a:avLst/>
          </a:prstGeom>
          <a:noFill/>
          <a:ln/>
        </p:spPr>
        <p:txBody>
          <a:bodyPr wrap="square" lIns="0" tIns="0" rIns="0" bIns="0" rtlCol="0" anchor="ctr"/>
          <a:lstStyle/>
          <a:p>
            <a:pPr indent="0" marL="0">
              <a:lnSpc>
                <a:spcPts val="1800"/>
              </a:lnSpc>
              <a:buNone/>
            </a:pPr>
            <a:r>
              <a:rPr lang="en-US" sz="1250" b="1" dirty="0">
                <a:solidFill>
                  <a:srgbClr val="16273F"/>
                </a:solidFill>
                <a:latin typeface="Calibri" pitchFamily="34" charset="0"/>
                <a:ea typeface="Calibri" pitchFamily="34" charset="-122"/>
                <a:cs typeface="Calibri" pitchFamily="34" charset="-120"/>
              </a:rPr>
              <a:t>Aplicado a FarmApp:  </a:t>
            </a:r>
            <a:pPr indent="0" marL="0">
              <a:lnSpc>
                <a:spcPts val="1800"/>
              </a:lnSpc>
              <a:buNone/>
            </a:pPr>
            <a:r>
              <a:rPr lang="en-US" sz="1250" dirty="0">
                <a:solidFill>
                  <a:srgbClr val="1F2A36"/>
                </a:solidFill>
                <a:latin typeface="Calibri" pitchFamily="34" charset="0"/>
                <a:ea typeface="Calibri" pitchFamily="34" charset="-122"/>
                <a:cs typeface="Calibri" pitchFamily="34" charset="-120"/>
              </a:rPr>
              <a:t>el evento es «la pasarela de pagos no responde». Preventivos: contrato con SLA y monitoreo del proveedor. Reactivos: reintento asíncrono y proveedor alterno. La mayoría de los equipos solo dibuja el lado izquierdo, y así el sistema queda sin plan para cuando el riesgo ocurra de todos modos.</a:t>
            </a:r>
            <a:endParaRPr lang="en-US" sz="1250" dirty="0"/>
          </a:p>
        </p:txBody>
      </p:sp>
      <p:sp>
        <p:nvSpPr>
          <p:cNvPr id="41" name="Text 39"/>
          <p:cNvSpPr txBox="1"/>
          <p:nvPr/>
        </p:nvSpPr>
        <p:spPr>
          <a:xfrm>
            <a:off x="685800" y="6583680"/>
            <a:ext cx="6400800" cy="237744"/>
          </a:xfrm>
          <a:prstGeom prst="rect">
            <a:avLst/>
          </a:prstGeom>
          <a:noFill/>
          <a:ln/>
        </p:spPr>
        <p:txBody>
          <a:bodyPr wrap="square" lIns="0" tIns="0" rIns="0" bIns="0" rtlCol="0" anchor="ctr"/>
          <a:lstStyle/>
          <a:p>
            <a:pPr indent="0" marL="0">
              <a:buNone/>
            </a:pPr>
            <a:r>
              <a:rPr lang="en-US" sz="800" dirty="0">
                <a:solidFill>
                  <a:srgbClr val="707C86"/>
                </a:solidFill>
                <a:latin typeface="Courier New" pitchFamily="34" charset="0"/>
                <a:ea typeface="Courier New" pitchFamily="34" charset="-122"/>
                <a:cs typeface="Courier New" pitchFamily="34" charset="-120"/>
              </a:rPr>
              <a:t>AREM · Módulo 9 · Evaluación de Riesgos Arquitectónicos</a:t>
            </a:r>
            <a:endParaRPr lang="en-US" sz="800" dirty="0"/>
          </a:p>
        </p:txBody>
      </p:sp>
      <p:sp>
        <p:nvSpPr>
          <p:cNvPr id="42" name="Text 40"/>
          <p:cNvSpPr txBox="1"/>
          <p:nvPr/>
        </p:nvSpPr>
        <p:spPr>
          <a:xfrm>
            <a:off x="10881360" y="6583680"/>
            <a:ext cx="621792" cy="237744"/>
          </a:xfrm>
          <a:prstGeom prst="rect">
            <a:avLst/>
          </a:prstGeom>
          <a:noFill/>
          <a:ln/>
        </p:spPr>
        <p:txBody>
          <a:bodyPr wrap="square" lIns="0" tIns="0" rIns="0" bIns="0" rtlCol="0" anchor="ctr"/>
          <a:lstStyle/>
          <a:p>
            <a:pPr algn="r" indent="0" marL="0">
              <a:buNone/>
            </a:pPr>
            <a:r>
              <a:rPr lang="en-US" sz="800" dirty="0">
                <a:solidFill>
                  <a:srgbClr val="707C86"/>
                </a:solidFill>
                <a:latin typeface="Courier New" pitchFamily="34" charset="0"/>
                <a:ea typeface="Courier New" pitchFamily="34" charset="-122"/>
                <a:cs typeface="Courier New"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4ED"/>
        </a:solidFill>
      </p:bgPr>
    </p:bg>
    <p:spTree>
      <p:nvGrpSpPr>
        <p:cNvPr id="1" name=""/>
        <p:cNvGrpSpPr/>
        <p:nvPr/>
      </p:nvGrpSpPr>
      <p:grpSpPr>
        <a:xfrm>
          <a:off x="0" y="0"/>
          <a:ext cx="0" cy="0"/>
          <a:chOff x="0" y="0"/>
          <a:chExt cx="0" cy="0"/>
        </a:xfrm>
      </p:grpSpPr>
      <p:sp>
        <p:nvSpPr>
          <p:cNvPr id="2" name="Shape 0"/>
          <p:cNvSpPr/>
          <p:nvPr/>
        </p:nvSpPr>
        <p:spPr>
          <a:xfrm>
            <a:off x="384048" y="310896"/>
            <a:ext cx="11420856" cy="10973"/>
          </a:xfrm>
          <a:prstGeom prst="rect">
            <a:avLst/>
          </a:prstGeom>
          <a:solidFill>
            <a:srgbClr val="C6C4B8"/>
          </a:solidFill>
          <a:ln w="12700">
            <a:solidFill>
              <a:srgbClr val="C6C4B8"/>
            </a:solidFill>
            <a:prstDash val="solid"/>
          </a:ln>
        </p:spPr>
      </p:sp>
      <p:sp>
        <p:nvSpPr>
          <p:cNvPr id="3" name="Shape 1"/>
          <p:cNvSpPr/>
          <p:nvPr/>
        </p:nvSpPr>
        <p:spPr>
          <a:xfrm>
            <a:off x="384048" y="6510528"/>
            <a:ext cx="11420856" cy="10973"/>
          </a:xfrm>
          <a:prstGeom prst="rect">
            <a:avLst/>
          </a:prstGeom>
          <a:solidFill>
            <a:srgbClr val="C6C4B8"/>
          </a:solidFill>
          <a:ln w="12700">
            <a:solidFill>
              <a:srgbClr val="C6C4B8"/>
            </a:solidFill>
            <a:prstDash val="solid"/>
          </a:ln>
        </p:spPr>
      </p:sp>
      <p:sp>
        <p:nvSpPr>
          <p:cNvPr id="4" name="Shape 2"/>
          <p:cNvSpPr/>
          <p:nvPr/>
        </p:nvSpPr>
        <p:spPr>
          <a:xfrm>
            <a:off x="384048" y="310896"/>
            <a:ext cx="10973" cy="6208776"/>
          </a:xfrm>
          <a:prstGeom prst="rect">
            <a:avLst/>
          </a:prstGeom>
          <a:solidFill>
            <a:srgbClr val="C6C4B8"/>
          </a:solidFill>
          <a:ln w="12700">
            <a:solidFill>
              <a:srgbClr val="C6C4B8"/>
            </a:solidFill>
            <a:prstDash val="solid"/>
          </a:ln>
        </p:spPr>
      </p:sp>
      <p:sp>
        <p:nvSpPr>
          <p:cNvPr id="5" name="Shape 3"/>
          <p:cNvSpPr/>
          <p:nvPr/>
        </p:nvSpPr>
        <p:spPr>
          <a:xfrm>
            <a:off x="11795760" y="310896"/>
            <a:ext cx="10973" cy="6208776"/>
          </a:xfrm>
          <a:prstGeom prst="rect">
            <a:avLst/>
          </a:prstGeom>
          <a:solidFill>
            <a:srgbClr val="C6C4B8"/>
          </a:solidFill>
          <a:ln w="12700">
            <a:solidFill>
              <a:srgbClr val="C6C4B8"/>
            </a:solidFill>
            <a:prstDash val="solid"/>
          </a:ln>
        </p:spPr>
      </p:sp>
      <p:sp>
        <p:nvSpPr>
          <p:cNvPr id="6" name="Shape 4"/>
          <p:cNvSpPr/>
          <p:nvPr/>
        </p:nvSpPr>
        <p:spPr>
          <a:xfrm>
            <a:off x="283464" y="306324"/>
            <a:ext cx="201168" cy="9144"/>
          </a:xfrm>
          <a:prstGeom prst="rect">
            <a:avLst/>
          </a:prstGeom>
          <a:solidFill>
            <a:srgbClr val="5A7189"/>
          </a:solidFill>
          <a:ln w="12700">
            <a:solidFill>
              <a:srgbClr val="5A7189"/>
            </a:solidFill>
            <a:prstDash val="solid"/>
          </a:ln>
        </p:spPr>
      </p:sp>
      <p:sp>
        <p:nvSpPr>
          <p:cNvPr id="7" name="Shape 5"/>
          <p:cNvSpPr/>
          <p:nvPr/>
        </p:nvSpPr>
        <p:spPr>
          <a:xfrm>
            <a:off x="379476" y="210312"/>
            <a:ext cx="9144" cy="201168"/>
          </a:xfrm>
          <a:prstGeom prst="rect">
            <a:avLst/>
          </a:prstGeom>
          <a:solidFill>
            <a:srgbClr val="5A7189"/>
          </a:solidFill>
          <a:ln w="12700">
            <a:solidFill>
              <a:srgbClr val="5A7189"/>
            </a:solidFill>
            <a:prstDash val="solid"/>
          </a:ln>
        </p:spPr>
      </p:sp>
      <p:sp>
        <p:nvSpPr>
          <p:cNvPr id="8" name="Shape 6"/>
          <p:cNvSpPr/>
          <p:nvPr/>
        </p:nvSpPr>
        <p:spPr>
          <a:xfrm>
            <a:off x="11695176" y="306324"/>
            <a:ext cx="201168" cy="9144"/>
          </a:xfrm>
          <a:prstGeom prst="rect">
            <a:avLst/>
          </a:prstGeom>
          <a:solidFill>
            <a:srgbClr val="5A7189"/>
          </a:solidFill>
          <a:ln w="12700">
            <a:solidFill>
              <a:srgbClr val="5A7189"/>
            </a:solidFill>
            <a:prstDash val="solid"/>
          </a:ln>
        </p:spPr>
      </p:sp>
      <p:sp>
        <p:nvSpPr>
          <p:cNvPr id="9" name="Shape 7"/>
          <p:cNvSpPr/>
          <p:nvPr/>
        </p:nvSpPr>
        <p:spPr>
          <a:xfrm>
            <a:off x="11791188" y="210312"/>
            <a:ext cx="9144" cy="201168"/>
          </a:xfrm>
          <a:prstGeom prst="rect">
            <a:avLst/>
          </a:prstGeom>
          <a:solidFill>
            <a:srgbClr val="5A7189"/>
          </a:solidFill>
          <a:ln w="12700">
            <a:solidFill>
              <a:srgbClr val="5A7189"/>
            </a:solidFill>
            <a:prstDash val="solid"/>
          </a:ln>
        </p:spPr>
      </p:sp>
      <p:sp>
        <p:nvSpPr>
          <p:cNvPr id="10" name="Shape 8"/>
          <p:cNvSpPr/>
          <p:nvPr/>
        </p:nvSpPr>
        <p:spPr>
          <a:xfrm>
            <a:off x="283464" y="6505956"/>
            <a:ext cx="201168" cy="9144"/>
          </a:xfrm>
          <a:prstGeom prst="rect">
            <a:avLst/>
          </a:prstGeom>
          <a:solidFill>
            <a:srgbClr val="5A7189"/>
          </a:solidFill>
          <a:ln w="12700">
            <a:solidFill>
              <a:srgbClr val="5A7189"/>
            </a:solidFill>
            <a:prstDash val="solid"/>
          </a:ln>
        </p:spPr>
      </p:sp>
      <p:sp>
        <p:nvSpPr>
          <p:cNvPr id="11" name="Shape 9"/>
          <p:cNvSpPr/>
          <p:nvPr/>
        </p:nvSpPr>
        <p:spPr>
          <a:xfrm>
            <a:off x="379476" y="6409944"/>
            <a:ext cx="9144" cy="201168"/>
          </a:xfrm>
          <a:prstGeom prst="rect">
            <a:avLst/>
          </a:prstGeom>
          <a:solidFill>
            <a:srgbClr val="5A7189"/>
          </a:solidFill>
          <a:ln w="12700">
            <a:solidFill>
              <a:srgbClr val="5A7189"/>
            </a:solidFill>
            <a:prstDash val="solid"/>
          </a:ln>
        </p:spPr>
      </p:sp>
      <p:sp>
        <p:nvSpPr>
          <p:cNvPr id="12" name="Shape 10"/>
          <p:cNvSpPr/>
          <p:nvPr/>
        </p:nvSpPr>
        <p:spPr>
          <a:xfrm>
            <a:off x="11695176" y="6505956"/>
            <a:ext cx="201168" cy="9144"/>
          </a:xfrm>
          <a:prstGeom prst="rect">
            <a:avLst/>
          </a:prstGeom>
          <a:solidFill>
            <a:srgbClr val="5A7189"/>
          </a:solidFill>
          <a:ln w="12700">
            <a:solidFill>
              <a:srgbClr val="5A7189"/>
            </a:solidFill>
            <a:prstDash val="solid"/>
          </a:ln>
        </p:spPr>
      </p:sp>
      <p:sp>
        <p:nvSpPr>
          <p:cNvPr id="13" name="Shape 11"/>
          <p:cNvSpPr/>
          <p:nvPr/>
        </p:nvSpPr>
        <p:spPr>
          <a:xfrm>
            <a:off x="11791188" y="6409944"/>
            <a:ext cx="9144" cy="201168"/>
          </a:xfrm>
          <a:prstGeom prst="rect">
            <a:avLst/>
          </a:prstGeom>
          <a:solidFill>
            <a:srgbClr val="5A7189"/>
          </a:solidFill>
          <a:ln w="12700">
            <a:solidFill>
              <a:srgbClr val="5A7189"/>
            </a:solidFill>
            <a:prstDash val="solid"/>
          </a:ln>
        </p:spPr>
      </p:sp>
      <p:sp>
        <p:nvSpPr>
          <p:cNvPr id="14" name="Text 12"/>
          <p:cNvSpPr txBox="1"/>
          <p:nvPr/>
        </p:nvSpPr>
        <p:spPr>
          <a:xfrm>
            <a:off x="685800" y="566928"/>
            <a:ext cx="7315200" cy="237744"/>
          </a:xfrm>
          <a:prstGeom prst="rect">
            <a:avLst/>
          </a:prstGeom>
          <a:noFill/>
          <a:ln/>
        </p:spPr>
        <p:txBody>
          <a:bodyPr wrap="square" lIns="0" tIns="0" rIns="0" bIns="0" rtlCol="0" anchor="ctr"/>
          <a:lstStyle/>
          <a:p>
            <a:pPr indent="0" marL="0">
              <a:buNone/>
            </a:pPr>
            <a:r>
              <a:rPr lang="en-US" sz="1000" spc="100" kern="0" dirty="0">
                <a:solidFill>
                  <a:srgbClr val="B85C2E"/>
                </a:solidFill>
                <a:latin typeface="Courier New" pitchFamily="34" charset="0"/>
                <a:ea typeface="Courier New" pitchFamily="34" charset="-122"/>
                <a:cs typeface="Courier New" pitchFamily="34" charset="-120"/>
              </a:rPr>
              <a:t>12 · CASO BASE</a:t>
            </a:r>
            <a:endParaRPr lang="en-US" sz="1000" dirty="0"/>
          </a:p>
        </p:txBody>
      </p:sp>
      <p:sp>
        <p:nvSpPr>
          <p:cNvPr id="15" name="Text 13"/>
          <p:cNvSpPr txBox="1"/>
          <p:nvPr/>
        </p:nvSpPr>
        <p:spPr>
          <a:xfrm>
            <a:off x="685800" y="822960"/>
            <a:ext cx="10820095" cy="566928"/>
          </a:xfrm>
          <a:prstGeom prst="rect">
            <a:avLst/>
          </a:prstGeom>
          <a:noFill/>
          <a:ln/>
        </p:spPr>
        <p:txBody>
          <a:bodyPr wrap="square" lIns="0" tIns="0" rIns="0" bIns="0" rtlCol="0" anchor="ctr"/>
          <a:lstStyle/>
          <a:p>
            <a:pPr indent="0" marL="0">
              <a:buNone/>
            </a:pPr>
            <a:r>
              <a:rPr lang="en-US" sz="3000" b="1" dirty="0">
                <a:solidFill>
                  <a:srgbClr val="16273F"/>
                </a:solidFill>
                <a:latin typeface="Arial" pitchFamily="34" charset="0"/>
                <a:ea typeface="Arial" pitchFamily="34" charset="-122"/>
                <a:cs typeface="Arial" pitchFamily="34" charset="-120"/>
              </a:rPr>
              <a:t>Mapa de superficie de riesgo · FarmApp</a:t>
            </a:r>
            <a:endParaRPr lang="en-US" sz="3000" dirty="0"/>
          </a:p>
        </p:txBody>
      </p:sp>
      <p:sp>
        <p:nvSpPr>
          <p:cNvPr id="16" name="Text 14"/>
          <p:cNvSpPr txBox="1"/>
          <p:nvPr/>
        </p:nvSpPr>
        <p:spPr>
          <a:xfrm>
            <a:off x="685800" y="1389888"/>
            <a:ext cx="10820095" cy="310896"/>
          </a:xfrm>
          <a:prstGeom prst="rect">
            <a:avLst/>
          </a:prstGeom>
          <a:noFill/>
          <a:ln/>
        </p:spPr>
        <p:txBody>
          <a:bodyPr wrap="square" lIns="0" tIns="0" rIns="0" bIns="0" rtlCol="0" anchor="ctr"/>
          <a:lstStyle/>
          <a:p>
            <a:pPr indent="0" marL="0">
              <a:buNone/>
            </a:pPr>
            <a:r>
              <a:rPr lang="en-US" sz="1350" dirty="0">
                <a:solidFill>
                  <a:srgbClr val="707C86"/>
                </a:solidFill>
                <a:latin typeface="Calibri" pitchFamily="34" charset="0"/>
                <a:ea typeface="Calibri" pitchFamily="34" charset="-122"/>
                <a:cs typeface="Calibri" pitchFamily="34" charset="-120"/>
              </a:rPr>
              <a:t>El riesgo se busca capa por capa, no de forma general</a:t>
            </a:r>
            <a:endParaRPr lang="en-US" sz="1350" dirty="0"/>
          </a:p>
        </p:txBody>
      </p:sp>
      <p:sp>
        <p:nvSpPr>
          <p:cNvPr id="17" name="Shape 15"/>
          <p:cNvSpPr/>
          <p:nvPr/>
        </p:nvSpPr>
        <p:spPr>
          <a:xfrm>
            <a:off x="685800" y="2011680"/>
            <a:ext cx="4206240" cy="868680"/>
          </a:xfrm>
          <a:prstGeom prst="rect">
            <a:avLst/>
          </a:prstGeom>
          <a:solidFill>
            <a:srgbClr val="5A7189"/>
          </a:solidFill>
          <a:ln w="12700">
            <a:solidFill>
              <a:srgbClr val="5A7189"/>
            </a:solidFill>
            <a:prstDash val="solid"/>
          </a:ln>
        </p:spPr>
      </p:sp>
      <p:sp>
        <p:nvSpPr>
          <p:cNvPr id="18" name="Text 16"/>
          <p:cNvSpPr txBox="1"/>
          <p:nvPr/>
        </p:nvSpPr>
        <p:spPr>
          <a:xfrm>
            <a:off x="914400" y="2011680"/>
            <a:ext cx="3749040" cy="86868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Capa 1 · Interfaz de usuario</a:t>
            </a:r>
            <a:endParaRPr lang="en-US" sz="1350" dirty="0"/>
          </a:p>
        </p:txBody>
      </p:sp>
      <p:sp>
        <p:nvSpPr>
          <p:cNvPr id="19" name="Shape 17"/>
          <p:cNvSpPr/>
          <p:nvPr/>
        </p:nvSpPr>
        <p:spPr>
          <a:xfrm>
            <a:off x="4983480" y="2441448"/>
            <a:ext cx="457200" cy="0"/>
          </a:xfrm>
          <a:prstGeom prst="line">
            <a:avLst/>
          </a:prstGeom>
          <a:noFill/>
          <a:ln w="15875">
            <a:solidFill>
              <a:srgbClr val="5A7189"/>
            </a:solidFill>
            <a:prstDash val="solid"/>
            <a:tailEnd type="triangle"/>
          </a:ln>
        </p:spPr>
      </p:sp>
      <p:sp>
        <p:nvSpPr>
          <p:cNvPr id="20" name="Shape 18"/>
          <p:cNvSpPr/>
          <p:nvPr/>
        </p:nvSpPr>
        <p:spPr>
          <a:xfrm>
            <a:off x="5532120" y="2011680"/>
            <a:ext cx="5971032" cy="868680"/>
          </a:xfrm>
          <a:prstGeom prst="rect">
            <a:avLst/>
          </a:prstGeom>
          <a:solidFill>
            <a:srgbClr val="FFFFFF"/>
          </a:solidFill>
          <a:ln w="12700">
            <a:solidFill>
              <a:srgbClr val="C6C4B8"/>
            </a:solidFill>
            <a:prstDash val="solid"/>
          </a:ln>
        </p:spPr>
      </p:sp>
      <p:sp>
        <p:nvSpPr>
          <p:cNvPr id="21" name="Text 19"/>
          <p:cNvSpPr txBox="1"/>
          <p:nvPr/>
        </p:nvSpPr>
        <p:spPr>
          <a:xfrm>
            <a:off x="5742432" y="2011680"/>
            <a:ext cx="5532120" cy="868680"/>
          </a:xfrm>
          <a:prstGeom prst="rect">
            <a:avLst/>
          </a:prstGeom>
          <a:noFill/>
          <a:ln/>
        </p:spPr>
        <p:txBody>
          <a:bodyPr wrap="square" lIns="0" tIns="0" rIns="0" bIns="0" rtlCol="0" anchor="ctr"/>
          <a:lstStyle/>
          <a:p>
            <a:pPr indent="0" marL="0">
              <a:lnSpc>
                <a:spcPts val="1600"/>
              </a:lnSpc>
              <a:buNone/>
            </a:pPr>
            <a:r>
              <a:rPr lang="en-US" sz="1200" b="1" dirty="0">
                <a:solidFill>
                  <a:srgbClr val="16273F"/>
                </a:solidFill>
                <a:latin typeface="Calibri" pitchFamily="34" charset="0"/>
                <a:ea typeface="Calibri" pitchFamily="34" charset="-122"/>
                <a:cs typeface="Calibri" pitchFamily="34" charset="-120"/>
              </a:rPr>
              <a:t>Riesgos: </a:t>
            </a:r>
            <a:pPr indent="0" marL="0">
              <a:lnSpc>
                <a:spcPts val="1600"/>
              </a:lnSpc>
              <a:buNone/>
            </a:pPr>
            <a:r>
              <a:rPr lang="en-US" sz="1200" dirty="0">
                <a:solidFill>
                  <a:srgbClr val="1F2A36"/>
                </a:solidFill>
                <a:latin typeface="Calibri" pitchFamily="34" charset="0"/>
                <a:ea typeface="Calibri" pitchFamily="34" charset="-122"/>
                <a:cs typeface="Calibri" pitchFamily="34" charset="-120"/>
              </a:rPr>
              <a:t>Cross-Site Scripting (XSS), autenticación vulnerable, sesiones sin expiración.</a:t>
            </a:r>
            <a:endParaRPr lang="en-US" sz="1200" dirty="0"/>
          </a:p>
        </p:txBody>
      </p:sp>
      <p:sp>
        <p:nvSpPr>
          <p:cNvPr id="22" name="Shape 20"/>
          <p:cNvSpPr/>
          <p:nvPr/>
        </p:nvSpPr>
        <p:spPr>
          <a:xfrm>
            <a:off x="685800" y="2999232"/>
            <a:ext cx="4206240" cy="868680"/>
          </a:xfrm>
          <a:prstGeom prst="rect">
            <a:avLst/>
          </a:prstGeom>
          <a:solidFill>
            <a:srgbClr val="27405C"/>
          </a:solidFill>
          <a:ln w="12700">
            <a:solidFill>
              <a:srgbClr val="27405C"/>
            </a:solidFill>
            <a:prstDash val="solid"/>
          </a:ln>
        </p:spPr>
      </p:sp>
      <p:sp>
        <p:nvSpPr>
          <p:cNvPr id="23" name="Text 21"/>
          <p:cNvSpPr txBox="1"/>
          <p:nvPr/>
        </p:nvSpPr>
        <p:spPr>
          <a:xfrm>
            <a:off x="914400" y="2999232"/>
            <a:ext cx="3749040" cy="86868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Capa 2 · Lógica de negocio</a:t>
            </a:r>
            <a:endParaRPr lang="en-US" sz="1350" dirty="0"/>
          </a:p>
        </p:txBody>
      </p:sp>
      <p:sp>
        <p:nvSpPr>
          <p:cNvPr id="24" name="Shape 22"/>
          <p:cNvSpPr/>
          <p:nvPr/>
        </p:nvSpPr>
        <p:spPr>
          <a:xfrm>
            <a:off x="4983480" y="3429000"/>
            <a:ext cx="457200" cy="0"/>
          </a:xfrm>
          <a:prstGeom prst="line">
            <a:avLst/>
          </a:prstGeom>
          <a:noFill/>
          <a:ln w="15875">
            <a:solidFill>
              <a:srgbClr val="5A7189"/>
            </a:solidFill>
            <a:prstDash val="solid"/>
            <a:tailEnd type="triangle"/>
          </a:ln>
        </p:spPr>
      </p:sp>
      <p:sp>
        <p:nvSpPr>
          <p:cNvPr id="25" name="Shape 23"/>
          <p:cNvSpPr/>
          <p:nvPr/>
        </p:nvSpPr>
        <p:spPr>
          <a:xfrm>
            <a:off x="5532120" y="2999232"/>
            <a:ext cx="5971032" cy="868680"/>
          </a:xfrm>
          <a:prstGeom prst="rect">
            <a:avLst/>
          </a:prstGeom>
          <a:solidFill>
            <a:srgbClr val="FFFFFF"/>
          </a:solidFill>
          <a:ln w="12700">
            <a:solidFill>
              <a:srgbClr val="C6C4B8"/>
            </a:solidFill>
            <a:prstDash val="solid"/>
          </a:ln>
        </p:spPr>
      </p:sp>
      <p:sp>
        <p:nvSpPr>
          <p:cNvPr id="26" name="Text 24"/>
          <p:cNvSpPr txBox="1"/>
          <p:nvPr/>
        </p:nvSpPr>
        <p:spPr>
          <a:xfrm>
            <a:off x="5742432" y="2999232"/>
            <a:ext cx="5532120" cy="868680"/>
          </a:xfrm>
          <a:prstGeom prst="rect">
            <a:avLst/>
          </a:prstGeom>
          <a:noFill/>
          <a:ln/>
        </p:spPr>
        <p:txBody>
          <a:bodyPr wrap="square" lIns="0" tIns="0" rIns="0" bIns="0" rtlCol="0" anchor="ctr"/>
          <a:lstStyle/>
          <a:p>
            <a:pPr indent="0" marL="0">
              <a:lnSpc>
                <a:spcPts val="1600"/>
              </a:lnSpc>
              <a:buNone/>
            </a:pPr>
            <a:r>
              <a:rPr lang="en-US" sz="1200" b="1" dirty="0">
                <a:solidFill>
                  <a:srgbClr val="16273F"/>
                </a:solidFill>
                <a:latin typeface="Calibri" pitchFamily="34" charset="0"/>
                <a:ea typeface="Calibri" pitchFamily="34" charset="-122"/>
                <a:cs typeface="Calibri" pitchFamily="34" charset="-120"/>
              </a:rPr>
              <a:t>Riesgos: </a:t>
            </a:r>
            <a:pPr indent="0" marL="0">
              <a:lnSpc>
                <a:spcPts val="1600"/>
              </a:lnSpc>
              <a:buNone/>
            </a:pPr>
            <a:r>
              <a:rPr lang="en-US" sz="1200" dirty="0">
                <a:solidFill>
                  <a:srgbClr val="1F2A36"/>
                </a:solidFill>
                <a:latin typeface="Calibri" pitchFamily="34" charset="0"/>
                <a:ea typeface="Calibri" pitchFamily="34" charset="-122"/>
                <a:cs typeface="Calibri" pitchFamily="34" charset="-120"/>
              </a:rPr>
              <a:t>Validación de datos insuficiente, reglas de negocio implementadas de forma inconsistente.</a:t>
            </a:r>
            <a:endParaRPr lang="en-US" sz="1200" dirty="0"/>
          </a:p>
        </p:txBody>
      </p:sp>
      <p:sp>
        <p:nvSpPr>
          <p:cNvPr id="27" name="Shape 25"/>
          <p:cNvSpPr/>
          <p:nvPr/>
        </p:nvSpPr>
        <p:spPr>
          <a:xfrm>
            <a:off x="685800" y="3986784"/>
            <a:ext cx="4206240" cy="868680"/>
          </a:xfrm>
          <a:prstGeom prst="rect">
            <a:avLst/>
          </a:prstGeom>
          <a:solidFill>
            <a:srgbClr val="D8863F"/>
          </a:solidFill>
          <a:ln w="12700">
            <a:solidFill>
              <a:srgbClr val="D8863F"/>
            </a:solidFill>
            <a:prstDash val="solid"/>
          </a:ln>
        </p:spPr>
      </p:sp>
      <p:sp>
        <p:nvSpPr>
          <p:cNvPr id="28" name="Text 26"/>
          <p:cNvSpPr txBox="1"/>
          <p:nvPr/>
        </p:nvSpPr>
        <p:spPr>
          <a:xfrm>
            <a:off x="914400" y="3986784"/>
            <a:ext cx="3749040" cy="86868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Capa 3 · Base de datos</a:t>
            </a:r>
            <a:endParaRPr lang="en-US" sz="1350" dirty="0"/>
          </a:p>
        </p:txBody>
      </p:sp>
      <p:sp>
        <p:nvSpPr>
          <p:cNvPr id="29" name="Shape 27"/>
          <p:cNvSpPr/>
          <p:nvPr/>
        </p:nvSpPr>
        <p:spPr>
          <a:xfrm>
            <a:off x="4983480" y="4416552"/>
            <a:ext cx="457200" cy="0"/>
          </a:xfrm>
          <a:prstGeom prst="line">
            <a:avLst/>
          </a:prstGeom>
          <a:noFill/>
          <a:ln w="15875">
            <a:solidFill>
              <a:srgbClr val="5A7189"/>
            </a:solidFill>
            <a:prstDash val="solid"/>
            <a:tailEnd type="triangle"/>
          </a:ln>
        </p:spPr>
      </p:sp>
      <p:sp>
        <p:nvSpPr>
          <p:cNvPr id="30" name="Shape 28"/>
          <p:cNvSpPr/>
          <p:nvPr/>
        </p:nvSpPr>
        <p:spPr>
          <a:xfrm>
            <a:off x="5532120" y="3986784"/>
            <a:ext cx="5971032" cy="868680"/>
          </a:xfrm>
          <a:prstGeom prst="rect">
            <a:avLst/>
          </a:prstGeom>
          <a:solidFill>
            <a:srgbClr val="FFFFFF"/>
          </a:solidFill>
          <a:ln w="12700">
            <a:solidFill>
              <a:srgbClr val="C6C4B8"/>
            </a:solidFill>
            <a:prstDash val="solid"/>
          </a:ln>
        </p:spPr>
      </p:sp>
      <p:sp>
        <p:nvSpPr>
          <p:cNvPr id="31" name="Text 29"/>
          <p:cNvSpPr txBox="1"/>
          <p:nvPr/>
        </p:nvSpPr>
        <p:spPr>
          <a:xfrm>
            <a:off x="5742432" y="3986784"/>
            <a:ext cx="5532120" cy="868680"/>
          </a:xfrm>
          <a:prstGeom prst="rect">
            <a:avLst/>
          </a:prstGeom>
          <a:noFill/>
          <a:ln/>
        </p:spPr>
        <p:txBody>
          <a:bodyPr wrap="square" lIns="0" tIns="0" rIns="0" bIns="0" rtlCol="0" anchor="ctr"/>
          <a:lstStyle/>
          <a:p>
            <a:pPr indent="0" marL="0">
              <a:lnSpc>
                <a:spcPts val="1600"/>
              </a:lnSpc>
              <a:buNone/>
            </a:pPr>
            <a:r>
              <a:rPr lang="en-US" sz="1200" b="1" dirty="0">
                <a:solidFill>
                  <a:srgbClr val="B85C2E"/>
                </a:solidFill>
                <a:latin typeface="Calibri" pitchFamily="34" charset="0"/>
                <a:ea typeface="Calibri" pitchFamily="34" charset="-122"/>
                <a:cs typeface="Calibri" pitchFamily="34" charset="-120"/>
              </a:rPr>
              <a:t>Riesgos: </a:t>
            </a:r>
            <a:pPr indent="0" marL="0">
              <a:lnSpc>
                <a:spcPts val="1600"/>
              </a:lnSpc>
              <a:buNone/>
            </a:pPr>
            <a:r>
              <a:rPr lang="en-US" sz="1200" dirty="0">
                <a:solidFill>
                  <a:srgbClr val="1F2A36"/>
                </a:solidFill>
                <a:latin typeface="Calibri" pitchFamily="34" charset="0"/>
                <a:ea typeface="Calibri" pitchFamily="34" charset="-122"/>
                <a:cs typeface="Calibri" pitchFamily="34" charset="-120"/>
              </a:rPr>
              <a:t>Inyección SQL, cifrado ausente en reposo, respaldos sin verificar.</a:t>
            </a:r>
            <a:endParaRPr lang="en-US" sz="1200" dirty="0"/>
          </a:p>
        </p:txBody>
      </p:sp>
      <p:sp>
        <p:nvSpPr>
          <p:cNvPr id="32" name="Shape 30"/>
          <p:cNvSpPr/>
          <p:nvPr/>
        </p:nvSpPr>
        <p:spPr>
          <a:xfrm>
            <a:off x="685800" y="4974336"/>
            <a:ext cx="4206240" cy="868680"/>
          </a:xfrm>
          <a:prstGeom prst="rect">
            <a:avLst/>
          </a:prstGeom>
          <a:solidFill>
            <a:srgbClr val="B85C2E"/>
          </a:solidFill>
          <a:ln w="12700">
            <a:solidFill>
              <a:srgbClr val="B85C2E"/>
            </a:solidFill>
            <a:prstDash val="solid"/>
          </a:ln>
        </p:spPr>
      </p:sp>
      <p:sp>
        <p:nvSpPr>
          <p:cNvPr id="33" name="Text 31"/>
          <p:cNvSpPr txBox="1"/>
          <p:nvPr/>
        </p:nvSpPr>
        <p:spPr>
          <a:xfrm>
            <a:off x="914400" y="4974336"/>
            <a:ext cx="3749040" cy="86868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Capa 4 · Servicios externos</a:t>
            </a:r>
            <a:endParaRPr lang="en-US" sz="1350" dirty="0"/>
          </a:p>
        </p:txBody>
      </p:sp>
      <p:sp>
        <p:nvSpPr>
          <p:cNvPr id="34" name="Shape 32"/>
          <p:cNvSpPr/>
          <p:nvPr/>
        </p:nvSpPr>
        <p:spPr>
          <a:xfrm>
            <a:off x="4983480" y="5404104"/>
            <a:ext cx="457200" cy="0"/>
          </a:xfrm>
          <a:prstGeom prst="line">
            <a:avLst/>
          </a:prstGeom>
          <a:noFill/>
          <a:ln w="15875">
            <a:solidFill>
              <a:srgbClr val="5A7189"/>
            </a:solidFill>
            <a:prstDash val="solid"/>
            <a:tailEnd type="triangle"/>
          </a:ln>
        </p:spPr>
      </p:sp>
      <p:sp>
        <p:nvSpPr>
          <p:cNvPr id="35" name="Shape 33"/>
          <p:cNvSpPr/>
          <p:nvPr/>
        </p:nvSpPr>
        <p:spPr>
          <a:xfrm>
            <a:off x="5532120" y="4974336"/>
            <a:ext cx="5971032" cy="868680"/>
          </a:xfrm>
          <a:prstGeom prst="rect">
            <a:avLst/>
          </a:prstGeom>
          <a:solidFill>
            <a:srgbClr val="FFFFFF"/>
          </a:solidFill>
          <a:ln w="12700">
            <a:solidFill>
              <a:srgbClr val="C6C4B8"/>
            </a:solidFill>
            <a:prstDash val="solid"/>
          </a:ln>
        </p:spPr>
      </p:sp>
      <p:sp>
        <p:nvSpPr>
          <p:cNvPr id="36" name="Text 34"/>
          <p:cNvSpPr txBox="1"/>
          <p:nvPr/>
        </p:nvSpPr>
        <p:spPr>
          <a:xfrm>
            <a:off x="5742432" y="4974336"/>
            <a:ext cx="5532120" cy="868680"/>
          </a:xfrm>
          <a:prstGeom prst="rect">
            <a:avLst/>
          </a:prstGeom>
          <a:noFill/>
          <a:ln/>
        </p:spPr>
        <p:txBody>
          <a:bodyPr wrap="square" lIns="0" tIns="0" rIns="0" bIns="0" rtlCol="0" anchor="ctr"/>
          <a:lstStyle/>
          <a:p>
            <a:pPr indent="0" marL="0">
              <a:lnSpc>
                <a:spcPts val="1600"/>
              </a:lnSpc>
              <a:buNone/>
            </a:pPr>
            <a:r>
              <a:rPr lang="en-US" sz="1200" b="1" dirty="0">
                <a:solidFill>
                  <a:srgbClr val="B85C2E"/>
                </a:solidFill>
                <a:latin typeface="Calibri" pitchFamily="34" charset="0"/>
                <a:ea typeface="Calibri" pitchFamily="34" charset="-122"/>
                <a:cs typeface="Calibri" pitchFamily="34" charset="-120"/>
              </a:rPr>
              <a:t>Riesgos: </a:t>
            </a:r>
            <a:pPr indent="0" marL="0">
              <a:lnSpc>
                <a:spcPts val="1600"/>
              </a:lnSpc>
              <a:buNone/>
            </a:pPr>
            <a:r>
              <a:rPr lang="en-US" sz="1200" dirty="0">
                <a:solidFill>
                  <a:srgbClr val="1F2A36"/>
                </a:solidFill>
                <a:latin typeface="Calibri" pitchFamily="34" charset="0"/>
                <a:ea typeface="Calibri" pitchFamily="34" charset="-122"/>
                <a:cs typeface="Calibri" pitchFamily="34" charset="-120"/>
              </a:rPr>
              <a:t>Fallos de latencia e integración con APIs de terceros no sustituibles.</a:t>
            </a:r>
            <a:endParaRPr lang="en-US" sz="1200" dirty="0"/>
          </a:p>
        </p:txBody>
      </p:sp>
      <p:sp>
        <p:nvSpPr>
          <p:cNvPr id="37" name="Shape 35"/>
          <p:cNvSpPr/>
          <p:nvPr/>
        </p:nvSpPr>
        <p:spPr>
          <a:xfrm>
            <a:off x="685800" y="5989320"/>
            <a:ext cx="10820095" cy="502920"/>
          </a:xfrm>
          <a:prstGeom prst="rect">
            <a:avLst/>
          </a:prstGeom>
          <a:solidFill>
            <a:srgbClr val="EFEDE3"/>
          </a:solidFill>
          <a:ln w="12700">
            <a:solidFill>
              <a:srgbClr val="C6C4B8"/>
            </a:solidFill>
            <a:prstDash val="solid"/>
          </a:ln>
        </p:spPr>
      </p:sp>
      <p:sp>
        <p:nvSpPr>
          <p:cNvPr id="38" name="Text 36"/>
          <p:cNvSpPr txBox="1"/>
          <p:nvPr/>
        </p:nvSpPr>
        <p:spPr>
          <a:xfrm>
            <a:off x="960120" y="5989320"/>
            <a:ext cx="10271455" cy="502920"/>
          </a:xfrm>
          <a:prstGeom prst="rect">
            <a:avLst/>
          </a:prstGeom>
          <a:noFill/>
          <a:ln/>
        </p:spPr>
        <p:txBody>
          <a:bodyPr wrap="square" lIns="0" tIns="0" rIns="0" bIns="0" rtlCol="0" anchor="ctr"/>
          <a:lstStyle/>
          <a:p>
            <a:pPr indent="0" marL="0">
              <a:buNone/>
            </a:pPr>
            <a:r>
              <a:rPr lang="en-US" sz="1250" dirty="0">
                <a:solidFill>
                  <a:srgbClr val="1F2A36"/>
                </a:solidFill>
                <a:latin typeface="Calibri" pitchFamily="34" charset="0"/>
                <a:ea typeface="Calibri" pitchFamily="34" charset="-122"/>
                <a:cs typeface="Calibri" pitchFamily="34" charset="-120"/>
              </a:rPr>
              <a:t>Recorrer las capas evita el sesgo del equipo: casi siempre encuentran riesgos donde tienen más experiencia y ninguno donde tienen menos.</a:t>
            </a:r>
            <a:endParaRPr lang="en-US" sz="1250" dirty="0"/>
          </a:p>
        </p:txBody>
      </p:sp>
      <p:sp>
        <p:nvSpPr>
          <p:cNvPr id="39" name="Text 37"/>
          <p:cNvSpPr txBox="1"/>
          <p:nvPr/>
        </p:nvSpPr>
        <p:spPr>
          <a:xfrm>
            <a:off x="685800" y="6583680"/>
            <a:ext cx="6400800" cy="237744"/>
          </a:xfrm>
          <a:prstGeom prst="rect">
            <a:avLst/>
          </a:prstGeom>
          <a:noFill/>
          <a:ln/>
        </p:spPr>
        <p:txBody>
          <a:bodyPr wrap="square" lIns="0" tIns="0" rIns="0" bIns="0" rtlCol="0" anchor="ctr"/>
          <a:lstStyle/>
          <a:p>
            <a:pPr indent="0" marL="0">
              <a:buNone/>
            </a:pPr>
            <a:r>
              <a:rPr lang="en-US" sz="800" dirty="0">
                <a:solidFill>
                  <a:srgbClr val="707C86"/>
                </a:solidFill>
                <a:latin typeface="Courier New" pitchFamily="34" charset="0"/>
                <a:ea typeface="Courier New" pitchFamily="34" charset="-122"/>
                <a:cs typeface="Courier New" pitchFamily="34" charset="-120"/>
              </a:rPr>
              <a:t>AREM · Módulo 9 · Evaluación de Riesgos Arquitectónicos</a:t>
            </a:r>
            <a:endParaRPr lang="en-US" sz="800" dirty="0"/>
          </a:p>
        </p:txBody>
      </p:sp>
      <p:sp>
        <p:nvSpPr>
          <p:cNvPr id="40" name="Text 38"/>
          <p:cNvSpPr txBox="1"/>
          <p:nvPr/>
        </p:nvSpPr>
        <p:spPr>
          <a:xfrm>
            <a:off x="10881360" y="6583680"/>
            <a:ext cx="621792" cy="237744"/>
          </a:xfrm>
          <a:prstGeom prst="rect">
            <a:avLst/>
          </a:prstGeom>
          <a:noFill/>
          <a:ln/>
        </p:spPr>
        <p:txBody>
          <a:bodyPr wrap="square" lIns="0" tIns="0" rIns="0" bIns="0" rtlCol="0" anchor="ctr"/>
          <a:lstStyle/>
          <a:p>
            <a:pPr algn="r" indent="0" marL="0">
              <a:buNone/>
            </a:pPr>
            <a:r>
              <a:rPr lang="en-US" sz="800" dirty="0">
                <a:solidFill>
                  <a:srgbClr val="707C86"/>
                </a:solidFill>
                <a:latin typeface="Courier New" pitchFamily="34" charset="0"/>
                <a:ea typeface="Courier New" pitchFamily="34" charset="-122"/>
                <a:cs typeface="Courier New"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4ED"/>
        </a:solidFill>
      </p:bgPr>
    </p:bg>
    <p:spTree>
      <p:nvGrpSpPr>
        <p:cNvPr id="1" name=""/>
        <p:cNvGrpSpPr/>
        <p:nvPr/>
      </p:nvGrpSpPr>
      <p:grpSpPr>
        <a:xfrm>
          <a:off x="0" y="0"/>
          <a:ext cx="0" cy="0"/>
          <a:chOff x="0" y="0"/>
          <a:chExt cx="0" cy="0"/>
        </a:xfrm>
      </p:grpSpPr>
      <p:sp>
        <p:nvSpPr>
          <p:cNvPr id="2" name="Shape 0"/>
          <p:cNvSpPr/>
          <p:nvPr/>
        </p:nvSpPr>
        <p:spPr>
          <a:xfrm>
            <a:off x="384048" y="310896"/>
            <a:ext cx="11420856" cy="10973"/>
          </a:xfrm>
          <a:prstGeom prst="rect">
            <a:avLst/>
          </a:prstGeom>
          <a:solidFill>
            <a:srgbClr val="C6C4B8"/>
          </a:solidFill>
          <a:ln w="12700">
            <a:solidFill>
              <a:srgbClr val="C6C4B8"/>
            </a:solidFill>
            <a:prstDash val="solid"/>
          </a:ln>
        </p:spPr>
      </p:sp>
      <p:sp>
        <p:nvSpPr>
          <p:cNvPr id="3" name="Shape 1"/>
          <p:cNvSpPr/>
          <p:nvPr/>
        </p:nvSpPr>
        <p:spPr>
          <a:xfrm>
            <a:off x="384048" y="6510528"/>
            <a:ext cx="11420856" cy="10973"/>
          </a:xfrm>
          <a:prstGeom prst="rect">
            <a:avLst/>
          </a:prstGeom>
          <a:solidFill>
            <a:srgbClr val="C6C4B8"/>
          </a:solidFill>
          <a:ln w="12700">
            <a:solidFill>
              <a:srgbClr val="C6C4B8"/>
            </a:solidFill>
            <a:prstDash val="solid"/>
          </a:ln>
        </p:spPr>
      </p:sp>
      <p:sp>
        <p:nvSpPr>
          <p:cNvPr id="4" name="Shape 2"/>
          <p:cNvSpPr/>
          <p:nvPr/>
        </p:nvSpPr>
        <p:spPr>
          <a:xfrm>
            <a:off x="384048" y="310896"/>
            <a:ext cx="10973" cy="6208776"/>
          </a:xfrm>
          <a:prstGeom prst="rect">
            <a:avLst/>
          </a:prstGeom>
          <a:solidFill>
            <a:srgbClr val="C6C4B8"/>
          </a:solidFill>
          <a:ln w="12700">
            <a:solidFill>
              <a:srgbClr val="C6C4B8"/>
            </a:solidFill>
            <a:prstDash val="solid"/>
          </a:ln>
        </p:spPr>
      </p:sp>
      <p:sp>
        <p:nvSpPr>
          <p:cNvPr id="5" name="Shape 3"/>
          <p:cNvSpPr/>
          <p:nvPr/>
        </p:nvSpPr>
        <p:spPr>
          <a:xfrm>
            <a:off x="11795760" y="310896"/>
            <a:ext cx="10973" cy="6208776"/>
          </a:xfrm>
          <a:prstGeom prst="rect">
            <a:avLst/>
          </a:prstGeom>
          <a:solidFill>
            <a:srgbClr val="C6C4B8"/>
          </a:solidFill>
          <a:ln w="12700">
            <a:solidFill>
              <a:srgbClr val="C6C4B8"/>
            </a:solidFill>
            <a:prstDash val="solid"/>
          </a:ln>
        </p:spPr>
      </p:sp>
      <p:sp>
        <p:nvSpPr>
          <p:cNvPr id="6" name="Shape 4"/>
          <p:cNvSpPr/>
          <p:nvPr/>
        </p:nvSpPr>
        <p:spPr>
          <a:xfrm>
            <a:off x="283464" y="306324"/>
            <a:ext cx="201168" cy="9144"/>
          </a:xfrm>
          <a:prstGeom prst="rect">
            <a:avLst/>
          </a:prstGeom>
          <a:solidFill>
            <a:srgbClr val="5A7189"/>
          </a:solidFill>
          <a:ln w="12700">
            <a:solidFill>
              <a:srgbClr val="5A7189"/>
            </a:solidFill>
            <a:prstDash val="solid"/>
          </a:ln>
        </p:spPr>
      </p:sp>
      <p:sp>
        <p:nvSpPr>
          <p:cNvPr id="7" name="Shape 5"/>
          <p:cNvSpPr/>
          <p:nvPr/>
        </p:nvSpPr>
        <p:spPr>
          <a:xfrm>
            <a:off x="379476" y="210312"/>
            <a:ext cx="9144" cy="201168"/>
          </a:xfrm>
          <a:prstGeom prst="rect">
            <a:avLst/>
          </a:prstGeom>
          <a:solidFill>
            <a:srgbClr val="5A7189"/>
          </a:solidFill>
          <a:ln w="12700">
            <a:solidFill>
              <a:srgbClr val="5A7189"/>
            </a:solidFill>
            <a:prstDash val="solid"/>
          </a:ln>
        </p:spPr>
      </p:sp>
      <p:sp>
        <p:nvSpPr>
          <p:cNvPr id="8" name="Shape 6"/>
          <p:cNvSpPr/>
          <p:nvPr/>
        </p:nvSpPr>
        <p:spPr>
          <a:xfrm>
            <a:off x="11695176" y="306324"/>
            <a:ext cx="201168" cy="9144"/>
          </a:xfrm>
          <a:prstGeom prst="rect">
            <a:avLst/>
          </a:prstGeom>
          <a:solidFill>
            <a:srgbClr val="5A7189"/>
          </a:solidFill>
          <a:ln w="12700">
            <a:solidFill>
              <a:srgbClr val="5A7189"/>
            </a:solidFill>
            <a:prstDash val="solid"/>
          </a:ln>
        </p:spPr>
      </p:sp>
      <p:sp>
        <p:nvSpPr>
          <p:cNvPr id="9" name="Shape 7"/>
          <p:cNvSpPr/>
          <p:nvPr/>
        </p:nvSpPr>
        <p:spPr>
          <a:xfrm>
            <a:off x="11791188" y="210312"/>
            <a:ext cx="9144" cy="201168"/>
          </a:xfrm>
          <a:prstGeom prst="rect">
            <a:avLst/>
          </a:prstGeom>
          <a:solidFill>
            <a:srgbClr val="5A7189"/>
          </a:solidFill>
          <a:ln w="12700">
            <a:solidFill>
              <a:srgbClr val="5A7189"/>
            </a:solidFill>
            <a:prstDash val="solid"/>
          </a:ln>
        </p:spPr>
      </p:sp>
      <p:sp>
        <p:nvSpPr>
          <p:cNvPr id="10" name="Shape 8"/>
          <p:cNvSpPr/>
          <p:nvPr/>
        </p:nvSpPr>
        <p:spPr>
          <a:xfrm>
            <a:off x="283464" y="6505956"/>
            <a:ext cx="201168" cy="9144"/>
          </a:xfrm>
          <a:prstGeom prst="rect">
            <a:avLst/>
          </a:prstGeom>
          <a:solidFill>
            <a:srgbClr val="5A7189"/>
          </a:solidFill>
          <a:ln w="12700">
            <a:solidFill>
              <a:srgbClr val="5A7189"/>
            </a:solidFill>
            <a:prstDash val="solid"/>
          </a:ln>
        </p:spPr>
      </p:sp>
      <p:sp>
        <p:nvSpPr>
          <p:cNvPr id="11" name="Shape 9"/>
          <p:cNvSpPr/>
          <p:nvPr/>
        </p:nvSpPr>
        <p:spPr>
          <a:xfrm>
            <a:off x="379476" y="6409944"/>
            <a:ext cx="9144" cy="201168"/>
          </a:xfrm>
          <a:prstGeom prst="rect">
            <a:avLst/>
          </a:prstGeom>
          <a:solidFill>
            <a:srgbClr val="5A7189"/>
          </a:solidFill>
          <a:ln w="12700">
            <a:solidFill>
              <a:srgbClr val="5A7189"/>
            </a:solidFill>
            <a:prstDash val="solid"/>
          </a:ln>
        </p:spPr>
      </p:sp>
      <p:sp>
        <p:nvSpPr>
          <p:cNvPr id="12" name="Shape 10"/>
          <p:cNvSpPr/>
          <p:nvPr/>
        </p:nvSpPr>
        <p:spPr>
          <a:xfrm>
            <a:off x="11695176" y="6505956"/>
            <a:ext cx="201168" cy="9144"/>
          </a:xfrm>
          <a:prstGeom prst="rect">
            <a:avLst/>
          </a:prstGeom>
          <a:solidFill>
            <a:srgbClr val="5A7189"/>
          </a:solidFill>
          <a:ln w="12700">
            <a:solidFill>
              <a:srgbClr val="5A7189"/>
            </a:solidFill>
            <a:prstDash val="solid"/>
          </a:ln>
        </p:spPr>
      </p:sp>
      <p:sp>
        <p:nvSpPr>
          <p:cNvPr id="13" name="Shape 11"/>
          <p:cNvSpPr/>
          <p:nvPr/>
        </p:nvSpPr>
        <p:spPr>
          <a:xfrm>
            <a:off x="11791188" y="6409944"/>
            <a:ext cx="9144" cy="201168"/>
          </a:xfrm>
          <a:prstGeom prst="rect">
            <a:avLst/>
          </a:prstGeom>
          <a:solidFill>
            <a:srgbClr val="5A7189"/>
          </a:solidFill>
          <a:ln w="12700">
            <a:solidFill>
              <a:srgbClr val="5A7189"/>
            </a:solidFill>
            <a:prstDash val="solid"/>
          </a:ln>
        </p:spPr>
      </p:sp>
      <p:sp>
        <p:nvSpPr>
          <p:cNvPr id="14" name="Text 12"/>
          <p:cNvSpPr txBox="1"/>
          <p:nvPr/>
        </p:nvSpPr>
        <p:spPr>
          <a:xfrm>
            <a:off x="685800" y="566928"/>
            <a:ext cx="7315200" cy="237744"/>
          </a:xfrm>
          <a:prstGeom prst="rect">
            <a:avLst/>
          </a:prstGeom>
          <a:noFill/>
          <a:ln/>
        </p:spPr>
        <p:txBody>
          <a:bodyPr wrap="square" lIns="0" tIns="0" rIns="0" bIns="0" rtlCol="0" anchor="ctr"/>
          <a:lstStyle/>
          <a:p>
            <a:pPr indent="0" marL="0">
              <a:buNone/>
            </a:pPr>
            <a:r>
              <a:rPr lang="en-US" sz="1000" spc="100" kern="0" dirty="0">
                <a:solidFill>
                  <a:srgbClr val="B85C2E"/>
                </a:solidFill>
                <a:latin typeface="Courier New" pitchFamily="34" charset="0"/>
                <a:ea typeface="Courier New" pitchFamily="34" charset="-122"/>
                <a:cs typeface="Courier New" pitchFamily="34" charset="-120"/>
              </a:rPr>
              <a:t>13 · ANÁLISIS</a:t>
            </a:r>
            <a:endParaRPr lang="en-US" sz="1000" dirty="0"/>
          </a:p>
        </p:txBody>
      </p:sp>
      <p:sp>
        <p:nvSpPr>
          <p:cNvPr id="15" name="Text 13"/>
          <p:cNvSpPr txBox="1"/>
          <p:nvPr/>
        </p:nvSpPr>
        <p:spPr>
          <a:xfrm>
            <a:off x="685800" y="822960"/>
            <a:ext cx="10820095" cy="566928"/>
          </a:xfrm>
          <a:prstGeom prst="rect">
            <a:avLst/>
          </a:prstGeom>
          <a:noFill/>
          <a:ln/>
        </p:spPr>
        <p:txBody>
          <a:bodyPr wrap="square" lIns="0" tIns="0" rIns="0" bIns="0" rtlCol="0" anchor="ctr"/>
          <a:lstStyle/>
          <a:p>
            <a:pPr indent="0" marL="0">
              <a:buNone/>
            </a:pPr>
            <a:r>
              <a:rPr lang="en-US" sz="3000" b="1" dirty="0">
                <a:solidFill>
                  <a:srgbClr val="16273F"/>
                </a:solidFill>
                <a:latin typeface="Arial" pitchFamily="34" charset="0"/>
                <a:ea typeface="Arial" pitchFamily="34" charset="-122"/>
                <a:cs typeface="Arial" pitchFamily="34" charset="-120"/>
              </a:rPr>
              <a:t>Zoom-in: fallo en la integración de pagos</a:t>
            </a:r>
            <a:endParaRPr lang="en-US" sz="3000" dirty="0"/>
          </a:p>
        </p:txBody>
      </p:sp>
      <p:sp>
        <p:nvSpPr>
          <p:cNvPr id="16" name="Text 14"/>
          <p:cNvSpPr txBox="1"/>
          <p:nvPr/>
        </p:nvSpPr>
        <p:spPr>
          <a:xfrm>
            <a:off x="685800" y="1389888"/>
            <a:ext cx="10820095" cy="310896"/>
          </a:xfrm>
          <a:prstGeom prst="rect">
            <a:avLst/>
          </a:prstGeom>
          <a:noFill/>
          <a:ln/>
        </p:spPr>
        <p:txBody>
          <a:bodyPr wrap="square" lIns="0" tIns="0" rIns="0" bIns="0" rtlCol="0" anchor="ctr"/>
          <a:lstStyle/>
          <a:p>
            <a:pPr indent="0" marL="0">
              <a:buNone/>
            </a:pPr>
            <a:r>
              <a:rPr lang="en-US" sz="1350" dirty="0">
                <a:solidFill>
                  <a:srgbClr val="707C86"/>
                </a:solidFill>
                <a:latin typeface="Calibri" pitchFamily="34" charset="0"/>
                <a:ea typeface="Calibri" pitchFamily="34" charset="-122"/>
                <a:cs typeface="Calibri" pitchFamily="34" charset="-120"/>
              </a:rPr>
              <a:t>Un riesgo concreto, de principio a fin</a:t>
            </a:r>
            <a:endParaRPr lang="en-US" sz="1350" dirty="0"/>
          </a:p>
        </p:txBody>
      </p:sp>
      <p:sp>
        <p:nvSpPr>
          <p:cNvPr id="17" name="Shape 15"/>
          <p:cNvSpPr/>
          <p:nvPr/>
        </p:nvSpPr>
        <p:spPr>
          <a:xfrm>
            <a:off x="685800" y="2148840"/>
            <a:ext cx="2834640" cy="1417320"/>
          </a:xfrm>
          <a:prstGeom prst="rect">
            <a:avLst/>
          </a:prstGeom>
          <a:solidFill>
            <a:srgbClr val="FFFFFF"/>
          </a:solidFill>
          <a:ln w="12700">
            <a:solidFill>
              <a:srgbClr val="C6C4B8"/>
            </a:solidFill>
            <a:prstDash val="solid"/>
          </a:ln>
        </p:spPr>
      </p:sp>
      <p:sp>
        <p:nvSpPr>
          <p:cNvPr id="18" name="Text 16"/>
          <p:cNvSpPr txBox="1"/>
          <p:nvPr/>
        </p:nvSpPr>
        <p:spPr>
          <a:xfrm>
            <a:off x="886968" y="2304288"/>
            <a:ext cx="2377440" cy="219456"/>
          </a:xfrm>
          <a:prstGeom prst="rect">
            <a:avLst/>
          </a:prstGeom>
          <a:noFill/>
          <a:ln/>
        </p:spPr>
        <p:txBody>
          <a:bodyPr wrap="square" lIns="0" tIns="0" rIns="0" bIns="0" rtlCol="0" anchor="ctr"/>
          <a:lstStyle/>
          <a:p>
            <a:pPr indent="0" marL="0">
              <a:buNone/>
            </a:pPr>
            <a:r>
              <a:rPr lang="en-US" sz="850" spc="50" kern="0" dirty="0">
                <a:solidFill>
                  <a:srgbClr val="5A7189"/>
                </a:solidFill>
                <a:latin typeface="Courier New" pitchFamily="34" charset="0"/>
                <a:ea typeface="Courier New" pitchFamily="34" charset="-122"/>
                <a:cs typeface="Courier New" pitchFamily="34" charset="-120"/>
              </a:rPr>
              <a:t>PASO 1 · INICIO</a:t>
            </a:r>
            <a:endParaRPr lang="en-US" sz="850" dirty="0"/>
          </a:p>
        </p:txBody>
      </p:sp>
      <p:sp>
        <p:nvSpPr>
          <p:cNvPr id="19" name="Text 17"/>
          <p:cNvSpPr txBox="1"/>
          <p:nvPr/>
        </p:nvSpPr>
        <p:spPr>
          <a:xfrm>
            <a:off x="886968" y="2560320"/>
            <a:ext cx="2377440" cy="292608"/>
          </a:xfrm>
          <a:prstGeom prst="rect">
            <a:avLst/>
          </a:prstGeom>
          <a:noFill/>
          <a:ln/>
        </p:spPr>
        <p:txBody>
          <a:bodyPr wrap="square" lIns="0" tIns="0" rIns="0" bIns="0" rtlCol="0" anchor="ctr"/>
          <a:lstStyle/>
          <a:p>
            <a:pPr indent="0" marL="0">
              <a:buNone/>
            </a:pPr>
            <a:r>
              <a:rPr lang="en-US" sz="1500" b="1" dirty="0">
                <a:solidFill>
                  <a:srgbClr val="16273F"/>
                </a:solidFill>
                <a:latin typeface="Arial" pitchFamily="34" charset="0"/>
                <a:ea typeface="Arial" pitchFamily="34" charset="-122"/>
                <a:cs typeface="Arial" pitchFamily="34" charset="-120"/>
              </a:rPr>
              <a:t>FarmApp</a:t>
            </a:r>
            <a:endParaRPr lang="en-US" sz="1500" dirty="0"/>
          </a:p>
        </p:txBody>
      </p:sp>
      <p:sp>
        <p:nvSpPr>
          <p:cNvPr id="20" name="Text 18"/>
          <p:cNvSpPr txBox="1"/>
          <p:nvPr/>
        </p:nvSpPr>
        <p:spPr>
          <a:xfrm>
            <a:off x="886968" y="2880360"/>
            <a:ext cx="2377440" cy="548640"/>
          </a:xfrm>
          <a:prstGeom prst="rect">
            <a:avLst/>
          </a:prstGeom>
          <a:noFill/>
          <a:ln/>
        </p:spPr>
        <p:txBody>
          <a:bodyPr wrap="square" lIns="0" tIns="0" rIns="0" bIns="0" rtlCol="0" anchor="ctr"/>
          <a:lstStyle/>
          <a:p>
            <a:pPr indent="0" marL="0">
              <a:lnSpc>
                <a:spcPts val="1500"/>
              </a:lnSpc>
              <a:buNone/>
            </a:pPr>
            <a:r>
              <a:rPr lang="en-US" sz="1150" dirty="0">
                <a:solidFill>
                  <a:srgbClr val="1F2A36"/>
                </a:solidFill>
                <a:latin typeface="Calibri" pitchFamily="34" charset="0"/>
                <a:ea typeface="Calibri" pitchFamily="34" charset="-122"/>
                <a:cs typeface="Calibri" pitchFamily="34" charset="-120"/>
              </a:rPr>
              <a:t>La aplicación móvil inicia la operación de compra.</a:t>
            </a:r>
            <a:endParaRPr lang="en-US" sz="1150" dirty="0"/>
          </a:p>
        </p:txBody>
      </p:sp>
      <p:sp>
        <p:nvSpPr>
          <p:cNvPr id="21" name="Shape 19"/>
          <p:cNvSpPr/>
          <p:nvPr/>
        </p:nvSpPr>
        <p:spPr>
          <a:xfrm>
            <a:off x="4663440" y="2148840"/>
            <a:ext cx="2834640" cy="1417320"/>
          </a:xfrm>
          <a:prstGeom prst="rect">
            <a:avLst/>
          </a:prstGeom>
          <a:solidFill>
            <a:srgbClr val="FFFFFF"/>
          </a:solidFill>
          <a:ln w="19050">
            <a:solidFill>
              <a:srgbClr val="B85C2E"/>
            </a:solidFill>
            <a:prstDash val="solid"/>
          </a:ln>
        </p:spPr>
      </p:sp>
      <p:sp>
        <p:nvSpPr>
          <p:cNvPr id="22" name="Text 20"/>
          <p:cNvSpPr txBox="1"/>
          <p:nvPr/>
        </p:nvSpPr>
        <p:spPr>
          <a:xfrm>
            <a:off x="4864608" y="2304288"/>
            <a:ext cx="2377440" cy="219456"/>
          </a:xfrm>
          <a:prstGeom prst="rect">
            <a:avLst/>
          </a:prstGeom>
          <a:noFill/>
          <a:ln/>
        </p:spPr>
        <p:txBody>
          <a:bodyPr wrap="square" lIns="0" tIns="0" rIns="0" bIns="0" rtlCol="0" anchor="ctr"/>
          <a:lstStyle/>
          <a:p>
            <a:pPr indent="0" marL="0">
              <a:buNone/>
            </a:pPr>
            <a:r>
              <a:rPr lang="en-US" sz="850" spc="50" kern="0" dirty="0">
                <a:solidFill>
                  <a:srgbClr val="B85C2E"/>
                </a:solidFill>
                <a:latin typeface="Courier New" pitchFamily="34" charset="0"/>
                <a:ea typeface="Courier New" pitchFamily="34" charset="-122"/>
                <a:cs typeface="Courier New" pitchFamily="34" charset="-120"/>
              </a:rPr>
              <a:t>PASO 2 · PUNTO DE FALLA</a:t>
            </a:r>
            <a:endParaRPr lang="en-US" sz="850" dirty="0"/>
          </a:p>
        </p:txBody>
      </p:sp>
      <p:sp>
        <p:nvSpPr>
          <p:cNvPr id="23" name="Text 21"/>
          <p:cNvSpPr txBox="1"/>
          <p:nvPr/>
        </p:nvSpPr>
        <p:spPr>
          <a:xfrm>
            <a:off x="4864608" y="2560320"/>
            <a:ext cx="2377440" cy="292608"/>
          </a:xfrm>
          <a:prstGeom prst="rect">
            <a:avLst/>
          </a:prstGeom>
          <a:noFill/>
          <a:ln/>
        </p:spPr>
        <p:txBody>
          <a:bodyPr wrap="square" lIns="0" tIns="0" rIns="0" bIns="0" rtlCol="0" anchor="ctr"/>
          <a:lstStyle/>
          <a:p>
            <a:pPr indent="0" marL="0">
              <a:buNone/>
            </a:pPr>
            <a:r>
              <a:rPr lang="en-US" sz="1500" b="1" dirty="0">
                <a:solidFill>
                  <a:srgbClr val="B85C2E"/>
                </a:solidFill>
                <a:latin typeface="Arial" pitchFamily="34" charset="0"/>
                <a:ea typeface="Arial" pitchFamily="34" charset="-122"/>
                <a:cs typeface="Arial" pitchFamily="34" charset="-120"/>
              </a:rPr>
              <a:t>Integración</a:t>
            </a:r>
            <a:endParaRPr lang="en-US" sz="1500" dirty="0"/>
          </a:p>
        </p:txBody>
      </p:sp>
      <p:sp>
        <p:nvSpPr>
          <p:cNvPr id="24" name="Text 22"/>
          <p:cNvSpPr txBox="1"/>
          <p:nvPr/>
        </p:nvSpPr>
        <p:spPr>
          <a:xfrm>
            <a:off x="4864608" y="2880360"/>
            <a:ext cx="2377440" cy="548640"/>
          </a:xfrm>
          <a:prstGeom prst="rect">
            <a:avLst/>
          </a:prstGeom>
          <a:noFill/>
          <a:ln/>
        </p:spPr>
        <p:txBody>
          <a:bodyPr wrap="square" lIns="0" tIns="0" rIns="0" bIns="0" rtlCol="0" anchor="ctr"/>
          <a:lstStyle/>
          <a:p>
            <a:pPr indent="0" marL="0">
              <a:lnSpc>
                <a:spcPts val="1500"/>
              </a:lnSpc>
              <a:buNone/>
            </a:pPr>
            <a:r>
              <a:rPr lang="en-US" sz="1150" dirty="0">
                <a:solidFill>
                  <a:srgbClr val="1F2A36"/>
                </a:solidFill>
                <a:latin typeface="Calibri" pitchFamily="34" charset="0"/>
                <a:ea typeface="Calibri" pitchFamily="34" charset="-122"/>
                <a:cs typeface="Calibri" pitchFamily="34" charset="-120"/>
              </a:rPr>
              <a:t>Error de comunicación o de validación. Conexión interrumpida.</a:t>
            </a:r>
            <a:endParaRPr lang="en-US" sz="1150" dirty="0"/>
          </a:p>
        </p:txBody>
      </p:sp>
      <p:sp>
        <p:nvSpPr>
          <p:cNvPr id="25" name="Shape 23"/>
          <p:cNvSpPr/>
          <p:nvPr/>
        </p:nvSpPr>
        <p:spPr>
          <a:xfrm>
            <a:off x="8668512" y="2148840"/>
            <a:ext cx="2834640" cy="1417320"/>
          </a:xfrm>
          <a:prstGeom prst="rect">
            <a:avLst/>
          </a:prstGeom>
          <a:solidFill>
            <a:srgbClr val="FFFFFF"/>
          </a:solidFill>
          <a:ln w="12700">
            <a:solidFill>
              <a:srgbClr val="C6C4B8"/>
            </a:solidFill>
            <a:prstDash val="solid"/>
          </a:ln>
        </p:spPr>
      </p:sp>
      <p:sp>
        <p:nvSpPr>
          <p:cNvPr id="26" name="Text 24"/>
          <p:cNvSpPr txBox="1"/>
          <p:nvPr/>
        </p:nvSpPr>
        <p:spPr>
          <a:xfrm>
            <a:off x="8869680" y="2304288"/>
            <a:ext cx="2377440" cy="219456"/>
          </a:xfrm>
          <a:prstGeom prst="rect">
            <a:avLst/>
          </a:prstGeom>
          <a:noFill/>
          <a:ln/>
        </p:spPr>
        <p:txBody>
          <a:bodyPr wrap="square" lIns="0" tIns="0" rIns="0" bIns="0" rtlCol="0" anchor="ctr"/>
          <a:lstStyle/>
          <a:p>
            <a:pPr indent="0" marL="0">
              <a:buNone/>
            </a:pPr>
            <a:r>
              <a:rPr lang="en-US" sz="850" spc="50" kern="0" dirty="0">
                <a:solidFill>
                  <a:srgbClr val="5A7189"/>
                </a:solidFill>
                <a:latin typeface="Courier New" pitchFamily="34" charset="0"/>
                <a:ea typeface="Courier New" pitchFamily="34" charset="-122"/>
                <a:cs typeface="Courier New" pitchFamily="34" charset="-120"/>
              </a:rPr>
              <a:t>PASO 3 · DESTINO</a:t>
            </a:r>
            <a:endParaRPr lang="en-US" sz="850" dirty="0"/>
          </a:p>
        </p:txBody>
      </p:sp>
      <p:sp>
        <p:nvSpPr>
          <p:cNvPr id="27" name="Text 25"/>
          <p:cNvSpPr txBox="1"/>
          <p:nvPr/>
        </p:nvSpPr>
        <p:spPr>
          <a:xfrm>
            <a:off x="8869680" y="2560320"/>
            <a:ext cx="2377440" cy="292608"/>
          </a:xfrm>
          <a:prstGeom prst="rect">
            <a:avLst/>
          </a:prstGeom>
          <a:noFill/>
          <a:ln/>
        </p:spPr>
        <p:txBody>
          <a:bodyPr wrap="square" lIns="0" tIns="0" rIns="0" bIns="0" rtlCol="0" anchor="ctr"/>
          <a:lstStyle/>
          <a:p>
            <a:pPr indent="0" marL="0">
              <a:buNone/>
            </a:pPr>
            <a:r>
              <a:rPr lang="en-US" sz="1400" b="1" dirty="0">
                <a:solidFill>
                  <a:srgbClr val="16273F"/>
                </a:solidFill>
                <a:latin typeface="Arial" pitchFamily="34" charset="0"/>
                <a:ea typeface="Arial" pitchFamily="34" charset="-122"/>
                <a:cs typeface="Arial" pitchFamily="34" charset="-120"/>
              </a:rPr>
              <a:t>Pasarela de pagos</a:t>
            </a:r>
            <a:endParaRPr lang="en-US" sz="1400" dirty="0"/>
          </a:p>
        </p:txBody>
      </p:sp>
      <p:sp>
        <p:nvSpPr>
          <p:cNvPr id="28" name="Text 26"/>
          <p:cNvSpPr txBox="1"/>
          <p:nvPr/>
        </p:nvSpPr>
        <p:spPr>
          <a:xfrm>
            <a:off x="8869680" y="2880360"/>
            <a:ext cx="2377440" cy="548640"/>
          </a:xfrm>
          <a:prstGeom prst="rect">
            <a:avLst/>
          </a:prstGeom>
          <a:noFill/>
          <a:ln/>
        </p:spPr>
        <p:txBody>
          <a:bodyPr wrap="square" lIns="0" tIns="0" rIns="0" bIns="0" rtlCol="0" anchor="ctr"/>
          <a:lstStyle/>
          <a:p>
            <a:pPr indent="0" marL="0">
              <a:lnSpc>
                <a:spcPts val="1500"/>
              </a:lnSpc>
              <a:buNone/>
            </a:pPr>
            <a:r>
              <a:rPr lang="en-US" sz="1150" dirty="0">
                <a:solidFill>
                  <a:srgbClr val="1F2A36"/>
                </a:solidFill>
                <a:latin typeface="Calibri" pitchFamily="34" charset="0"/>
                <a:ea typeface="Calibri" pitchFamily="34" charset="-122"/>
                <a:cs typeface="Calibri" pitchFamily="34" charset="-120"/>
              </a:rPr>
              <a:t>Temporalmente inalcanzable. La transacción no se completa.</a:t>
            </a:r>
            <a:endParaRPr lang="en-US" sz="1150" dirty="0"/>
          </a:p>
        </p:txBody>
      </p:sp>
      <p:sp>
        <p:nvSpPr>
          <p:cNvPr id="29" name="Shape 27"/>
          <p:cNvSpPr/>
          <p:nvPr/>
        </p:nvSpPr>
        <p:spPr>
          <a:xfrm>
            <a:off x="3566160" y="2852928"/>
            <a:ext cx="1051560" cy="0"/>
          </a:xfrm>
          <a:prstGeom prst="line">
            <a:avLst/>
          </a:prstGeom>
          <a:noFill/>
          <a:ln w="15875">
            <a:solidFill>
              <a:srgbClr val="5A7189"/>
            </a:solidFill>
            <a:prstDash val="solid"/>
            <a:tailEnd type="triangle"/>
          </a:ln>
        </p:spPr>
      </p:sp>
      <p:sp>
        <p:nvSpPr>
          <p:cNvPr id="30" name="Shape 28"/>
          <p:cNvSpPr/>
          <p:nvPr/>
        </p:nvSpPr>
        <p:spPr>
          <a:xfrm>
            <a:off x="7543800" y="2852928"/>
            <a:ext cx="1078992" cy="0"/>
          </a:xfrm>
          <a:prstGeom prst="line">
            <a:avLst/>
          </a:prstGeom>
          <a:noFill/>
          <a:ln w="15875">
            <a:solidFill>
              <a:srgbClr val="5A7189"/>
            </a:solidFill>
            <a:prstDash val="dash"/>
            <a:tailEnd type="triangle"/>
          </a:ln>
        </p:spPr>
      </p:sp>
      <p:sp>
        <p:nvSpPr>
          <p:cNvPr id="31" name="Text 29"/>
          <p:cNvSpPr txBox="1"/>
          <p:nvPr/>
        </p:nvSpPr>
        <p:spPr>
          <a:xfrm>
            <a:off x="7680960" y="2606040"/>
            <a:ext cx="868680" cy="219456"/>
          </a:xfrm>
          <a:prstGeom prst="rect">
            <a:avLst/>
          </a:prstGeom>
          <a:noFill/>
          <a:ln/>
        </p:spPr>
        <p:txBody>
          <a:bodyPr wrap="square" lIns="0" tIns="0" rIns="0" bIns="0" rtlCol="0" anchor="ctr"/>
          <a:lstStyle/>
          <a:p>
            <a:pPr indent="0" marL="0">
              <a:buNone/>
            </a:pPr>
            <a:r>
              <a:rPr lang="en-US" sz="800" dirty="0">
                <a:solidFill>
                  <a:srgbClr val="B85C2E"/>
                </a:solidFill>
                <a:latin typeface="Courier New" pitchFamily="34" charset="0"/>
                <a:ea typeface="Courier New" pitchFamily="34" charset="-122"/>
                <a:cs typeface="Courier New" pitchFamily="34" charset="-120"/>
              </a:rPr>
              <a:t>bloqueado</a:t>
            </a:r>
            <a:endParaRPr lang="en-US" sz="800" dirty="0"/>
          </a:p>
        </p:txBody>
      </p:sp>
      <p:sp>
        <p:nvSpPr>
          <p:cNvPr id="32" name="Shape 30"/>
          <p:cNvSpPr/>
          <p:nvPr/>
        </p:nvSpPr>
        <p:spPr>
          <a:xfrm>
            <a:off x="685800" y="3977640"/>
            <a:ext cx="10820095" cy="1371600"/>
          </a:xfrm>
          <a:prstGeom prst="rect">
            <a:avLst/>
          </a:prstGeom>
          <a:solidFill>
            <a:srgbClr val="FFFFFF"/>
          </a:solidFill>
          <a:ln w="19050">
            <a:solidFill>
              <a:srgbClr val="1E7A52"/>
            </a:solidFill>
            <a:prstDash val="solid"/>
          </a:ln>
        </p:spPr>
      </p:sp>
      <p:sp>
        <p:nvSpPr>
          <p:cNvPr id="33" name="Text 31"/>
          <p:cNvSpPr txBox="1"/>
          <p:nvPr/>
        </p:nvSpPr>
        <p:spPr>
          <a:xfrm>
            <a:off x="960120" y="4160520"/>
            <a:ext cx="3657600" cy="219456"/>
          </a:xfrm>
          <a:prstGeom prst="rect">
            <a:avLst/>
          </a:prstGeom>
          <a:noFill/>
          <a:ln/>
        </p:spPr>
        <p:txBody>
          <a:bodyPr wrap="square" lIns="0" tIns="0" rIns="0" bIns="0" rtlCol="0" anchor="ctr"/>
          <a:lstStyle/>
          <a:p>
            <a:pPr indent="0" marL="0">
              <a:buNone/>
            </a:pPr>
            <a:r>
              <a:rPr lang="en-US" sz="850" spc="50" kern="0" dirty="0">
                <a:solidFill>
                  <a:srgbClr val="1E7A52"/>
                </a:solidFill>
                <a:latin typeface="Courier New" pitchFamily="34" charset="0"/>
                <a:ea typeface="Courier New" pitchFamily="34" charset="-122"/>
                <a:cs typeface="Courier New" pitchFamily="34" charset="-120"/>
              </a:rPr>
              <a:t>MITIGACIÓN ESTRUCTURAL · FALLBACK</a:t>
            </a:r>
            <a:endParaRPr lang="en-US" sz="850" dirty="0"/>
          </a:p>
        </p:txBody>
      </p:sp>
      <p:sp>
        <p:nvSpPr>
          <p:cNvPr id="34" name="Text 32"/>
          <p:cNvSpPr txBox="1"/>
          <p:nvPr/>
        </p:nvSpPr>
        <p:spPr>
          <a:xfrm>
            <a:off x="960120" y="4462272"/>
            <a:ext cx="10271455" cy="777240"/>
          </a:xfrm>
          <a:prstGeom prst="rect">
            <a:avLst/>
          </a:prstGeom>
          <a:noFill/>
          <a:ln/>
        </p:spPr>
        <p:txBody>
          <a:bodyPr wrap="square" lIns="0" tIns="0" rIns="0" bIns="0" rtlCol="0" anchor="ctr"/>
          <a:lstStyle/>
          <a:p>
            <a:pPr indent="0" marL="0">
              <a:lnSpc>
                <a:spcPts val="1900"/>
              </a:lnSpc>
              <a:buNone/>
            </a:pPr>
            <a:r>
              <a:rPr lang="en-US" sz="1300" dirty="0">
                <a:solidFill>
                  <a:srgbClr val="1F2A36"/>
                </a:solidFill>
                <a:latin typeface="Calibri" pitchFamily="34" charset="0"/>
                <a:ea typeface="Calibri" pitchFamily="34" charset="-122"/>
                <a:cs typeface="Calibri" pitchFamily="34" charset="-120"/>
              </a:rPr>
              <a:t>Se implementa una ruta alternativa programada: la transacción se captura de forma asíncrona y se reintenta, o se redirige a un proveedor secundario. El usuario completa la compra aunque la pasarela principal esté caída.</a:t>
            </a:r>
            <a:endParaRPr lang="en-US" sz="1300" dirty="0"/>
          </a:p>
        </p:txBody>
      </p:sp>
      <p:sp>
        <p:nvSpPr>
          <p:cNvPr id="35" name="Shape 33"/>
          <p:cNvSpPr/>
          <p:nvPr/>
        </p:nvSpPr>
        <p:spPr>
          <a:xfrm>
            <a:off x="6035040" y="3611880"/>
            <a:ext cx="0" cy="320040"/>
          </a:xfrm>
          <a:prstGeom prst="line">
            <a:avLst/>
          </a:prstGeom>
          <a:noFill/>
          <a:ln w="15875">
            <a:solidFill>
              <a:srgbClr val="1E7A52"/>
            </a:solidFill>
            <a:prstDash val="solid"/>
            <a:tailEnd type="triangle"/>
          </a:ln>
        </p:spPr>
      </p:sp>
      <p:sp>
        <p:nvSpPr>
          <p:cNvPr id="36" name="Shape 34"/>
          <p:cNvSpPr/>
          <p:nvPr/>
        </p:nvSpPr>
        <p:spPr>
          <a:xfrm>
            <a:off x="685800" y="5532120"/>
            <a:ext cx="10820095" cy="868680"/>
          </a:xfrm>
          <a:prstGeom prst="rect">
            <a:avLst/>
          </a:prstGeom>
          <a:solidFill>
            <a:srgbClr val="EFEDE3"/>
          </a:solidFill>
          <a:ln w="12700">
            <a:solidFill>
              <a:srgbClr val="C6C4B8"/>
            </a:solidFill>
            <a:prstDash val="solid"/>
          </a:ln>
        </p:spPr>
      </p:sp>
      <p:sp>
        <p:nvSpPr>
          <p:cNvPr id="37" name="Text 35"/>
          <p:cNvSpPr txBox="1"/>
          <p:nvPr/>
        </p:nvSpPr>
        <p:spPr>
          <a:xfrm>
            <a:off x="960120" y="5532120"/>
            <a:ext cx="10271455" cy="868680"/>
          </a:xfrm>
          <a:prstGeom prst="rect">
            <a:avLst/>
          </a:prstGeom>
          <a:noFill/>
          <a:ln/>
        </p:spPr>
        <p:txBody>
          <a:bodyPr wrap="square" lIns="0" tIns="0" rIns="0" bIns="0" rtlCol="0" anchor="ctr"/>
          <a:lstStyle/>
          <a:p>
            <a:pPr indent="0" marL="0">
              <a:lnSpc>
                <a:spcPts val="1800"/>
              </a:lnSpc>
              <a:buNone/>
            </a:pPr>
            <a:r>
              <a:rPr lang="en-US" sz="1250" b="1" dirty="0">
                <a:solidFill>
                  <a:srgbClr val="16273F"/>
                </a:solidFill>
                <a:latin typeface="Calibri" pitchFamily="34" charset="0"/>
                <a:ea typeface="Calibri" pitchFamily="34" charset="-122"/>
                <a:cs typeface="Calibri" pitchFamily="34" charset="-120"/>
              </a:rPr>
              <a:t>Lo que hay que notar:  </a:t>
            </a:r>
            <a:pPr indent="0" marL="0">
              <a:lnSpc>
                <a:spcPts val="1800"/>
              </a:lnSpc>
              <a:buNone/>
            </a:pPr>
            <a:r>
              <a:rPr lang="en-US" sz="1250" dirty="0">
                <a:solidFill>
                  <a:srgbClr val="1F2A36"/>
                </a:solidFill>
                <a:latin typeface="Calibri" pitchFamily="34" charset="0"/>
                <a:ea typeface="Calibri" pitchFamily="34" charset="-122"/>
                <a:cs typeface="Calibri" pitchFamily="34" charset="-120"/>
              </a:rPr>
              <a:t>el riesgo no está en FarmApp ni en la pasarela, sino en la relación entre las dos. Los riesgos arquitectónicos viven en las flechas del diagrama con más frecuencia que en las cajas.</a:t>
            </a:r>
            <a:endParaRPr lang="en-US" sz="1250" dirty="0"/>
          </a:p>
        </p:txBody>
      </p:sp>
      <p:sp>
        <p:nvSpPr>
          <p:cNvPr id="38" name="Text 36"/>
          <p:cNvSpPr txBox="1"/>
          <p:nvPr/>
        </p:nvSpPr>
        <p:spPr>
          <a:xfrm>
            <a:off x="685800" y="6583680"/>
            <a:ext cx="6400800" cy="237744"/>
          </a:xfrm>
          <a:prstGeom prst="rect">
            <a:avLst/>
          </a:prstGeom>
          <a:noFill/>
          <a:ln/>
        </p:spPr>
        <p:txBody>
          <a:bodyPr wrap="square" lIns="0" tIns="0" rIns="0" bIns="0" rtlCol="0" anchor="ctr"/>
          <a:lstStyle/>
          <a:p>
            <a:pPr indent="0" marL="0">
              <a:buNone/>
            </a:pPr>
            <a:r>
              <a:rPr lang="en-US" sz="800" dirty="0">
                <a:solidFill>
                  <a:srgbClr val="707C86"/>
                </a:solidFill>
                <a:latin typeface="Courier New" pitchFamily="34" charset="0"/>
                <a:ea typeface="Courier New" pitchFamily="34" charset="-122"/>
                <a:cs typeface="Courier New" pitchFamily="34" charset="-120"/>
              </a:rPr>
              <a:t>AREM · Módulo 9 · Evaluación de Riesgos Arquitectónicos</a:t>
            </a:r>
            <a:endParaRPr lang="en-US" sz="800" dirty="0"/>
          </a:p>
        </p:txBody>
      </p:sp>
      <p:sp>
        <p:nvSpPr>
          <p:cNvPr id="39" name="Text 37"/>
          <p:cNvSpPr txBox="1"/>
          <p:nvPr/>
        </p:nvSpPr>
        <p:spPr>
          <a:xfrm>
            <a:off x="10881360" y="6583680"/>
            <a:ext cx="621792" cy="237744"/>
          </a:xfrm>
          <a:prstGeom prst="rect">
            <a:avLst/>
          </a:prstGeom>
          <a:noFill/>
          <a:ln/>
        </p:spPr>
        <p:txBody>
          <a:bodyPr wrap="square" lIns="0" tIns="0" rIns="0" bIns="0" rtlCol="0" anchor="ctr"/>
          <a:lstStyle/>
          <a:p>
            <a:pPr algn="r" indent="0" marL="0">
              <a:buNone/>
            </a:pPr>
            <a:r>
              <a:rPr lang="en-US" sz="800" dirty="0">
                <a:solidFill>
                  <a:srgbClr val="707C86"/>
                </a:solidFill>
                <a:latin typeface="Courier New" pitchFamily="34" charset="0"/>
                <a:ea typeface="Courier New" pitchFamily="34" charset="-122"/>
                <a:cs typeface="Courier New"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4ED"/>
        </a:solidFill>
      </p:bgPr>
    </p:bg>
    <p:spTree>
      <p:nvGrpSpPr>
        <p:cNvPr id="1" name=""/>
        <p:cNvGrpSpPr/>
        <p:nvPr/>
      </p:nvGrpSpPr>
      <p:grpSpPr>
        <a:xfrm>
          <a:off x="0" y="0"/>
          <a:ext cx="0" cy="0"/>
          <a:chOff x="0" y="0"/>
          <a:chExt cx="0" cy="0"/>
        </a:xfrm>
      </p:grpSpPr>
      <p:sp>
        <p:nvSpPr>
          <p:cNvPr id="2" name="Shape 0"/>
          <p:cNvSpPr/>
          <p:nvPr/>
        </p:nvSpPr>
        <p:spPr>
          <a:xfrm>
            <a:off x="384048" y="310896"/>
            <a:ext cx="11420856" cy="10973"/>
          </a:xfrm>
          <a:prstGeom prst="rect">
            <a:avLst/>
          </a:prstGeom>
          <a:solidFill>
            <a:srgbClr val="C6C4B8"/>
          </a:solidFill>
          <a:ln w="12700">
            <a:solidFill>
              <a:srgbClr val="C6C4B8"/>
            </a:solidFill>
            <a:prstDash val="solid"/>
          </a:ln>
        </p:spPr>
        <p:txBody>
          <a:bodyPr/>
          <a:p/>
        </p:txBody>
      </p:sp>
      <p:sp>
        <p:nvSpPr>
          <p:cNvPr id="3" name="Shape 1"/>
          <p:cNvSpPr/>
          <p:nvPr/>
        </p:nvSpPr>
        <p:spPr>
          <a:xfrm>
            <a:off x="384048" y="6510528"/>
            <a:ext cx="11420856" cy="10973"/>
          </a:xfrm>
          <a:prstGeom prst="rect">
            <a:avLst/>
          </a:prstGeom>
          <a:solidFill>
            <a:srgbClr val="C6C4B8"/>
          </a:solidFill>
          <a:ln w="12700">
            <a:solidFill>
              <a:srgbClr val="C6C4B8"/>
            </a:solidFill>
            <a:prstDash val="solid"/>
          </a:ln>
        </p:spPr>
        <p:txBody>
          <a:bodyPr/>
          <a:p/>
        </p:txBody>
      </p:sp>
      <p:sp>
        <p:nvSpPr>
          <p:cNvPr id="4" name="Shape 2"/>
          <p:cNvSpPr/>
          <p:nvPr/>
        </p:nvSpPr>
        <p:spPr>
          <a:xfrm>
            <a:off x="384048" y="310896"/>
            <a:ext cx="10973" cy="6208776"/>
          </a:xfrm>
          <a:prstGeom prst="rect">
            <a:avLst/>
          </a:prstGeom>
          <a:solidFill>
            <a:srgbClr val="C6C4B8"/>
          </a:solidFill>
          <a:ln w="12700">
            <a:solidFill>
              <a:srgbClr val="C6C4B8"/>
            </a:solidFill>
            <a:prstDash val="solid"/>
          </a:ln>
        </p:spPr>
        <p:txBody>
          <a:bodyPr/>
          <a:p/>
        </p:txBody>
      </p:sp>
      <p:sp>
        <p:nvSpPr>
          <p:cNvPr id="5" name="Shape 3"/>
          <p:cNvSpPr/>
          <p:nvPr/>
        </p:nvSpPr>
        <p:spPr>
          <a:xfrm>
            <a:off x="11795760" y="310896"/>
            <a:ext cx="10973" cy="6208776"/>
          </a:xfrm>
          <a:prstGeom prst="rect">
            <a:avLst/>
          </a:prstGeom>
          <a:solidFill>
            <a:srgbClr val="C6C4B8"/>
          </a:solidFill>
          <a:ln w="12700">
            <a:solidFill>
              <a:srgbClr val="C6C4B8"/>
            </a:solidFill>
            <a:prstDash val="solid"/>
          </a:ln>
        </p:spPr>
        <p:txBody>
          <a:bodyPr/>
          <a:p/>
        </p:txBody>
      </p:sp>
      <p:sp>
        <p:nvSpPr>
          <p:cNvPr id="6" name="Shape 4"/>
          <p:cNvSpPr/>
          <p:nvPr/>
        </p:nvSpPr>
        <p:spPr>
          <a:xfrm>
            <a:off x="283464" y="306324"/>
            <a:ext cx="201168" cy="9144"/>
          </a:xfrm>
          <a:prstGeom prst="rect">
            <a:avLst/>
          </a:prstGeom>
          <a:solidFill>
            <a:srgbClr val="5A7189"/>
          </a:solidFill>
          <a:ln w="12700">
            <a:solidFill>
              <a:srgbClr val="5A7189"/>
            </a:solidFill>
            <a:prstDash val="solid"/>
          </a:ln>
        </p:spPr>
        <p:txBody>
          <a:bodyPr/>
          <a:p/>
        </p:txBody>
      </p:sp>
      <p:sp>
        <p:nvSpPr>
          <p:cNvPr id="7" name="Shape 5"/>
          <p:cNvSpPr/>
          <p:nvPr/>
        </p:nvSpPr>
        <p:spPr>
          <a:xfrm>
            <a:off x="379476" y="210312"/>
            <a:ext cx="9144" cy="201168"/>
          </a:xfrm>
          <a:prstGeom prst="rect">
            <a:avLst/>
          </a:prstGeom>
          <a:solidFill>
            <a:srgbClr val="5A7189"/>
          </a:solidFill>
          <a:ln w="12700">
            <a:solidFill>
              <a:srgbClr val="5A7189"/>
            </a:solidFill>
            <a:prstDash val="solid"/>
          </a:ln>
        </p:spPr>
        <p:txBody>
          <a:bodyPr/>
          <a:p/>
        </p:txBody>
      </p:sp>
      <p:sp>
        <p:nvSpPr>
          <p:cNvPr id="8" name="Shape 6"/>
          <p:cNvSpPr/>
          <p:nvPr/>
        </p:nvSpPr>
        <p:spPr>
          <a:xfrm>
            <a:off x="11695176" y="306324"/>
            <a:ext cx="201168" cy="9144"/>
          </a:xfrm>
          <a:prstGeom prst="rect">
            <a:avLst/>
          </a:prstGeom>
          <a:solidFill>
            <a:srgbClr val="5A7189"/>
          </a:solidFill>
          <a:ln w="12700">
            <a:solidFill>
              <a:srgbClr val="5A7189"/>
            </a:solidFill>
            <a:prstDash val="solid"/>
          </a:ln>
        </p:spPr>
        <p:txBody>
          <a:bodyPr/>
          <a:p/>
        </p:txBody>
      </p:sp>
      <p:sp>
        <p:nvSpPr>
          <p:cNvPr id="9" name="Shape 7"/>
          <p:cNvSpPr/>
          <p:nvPr/>
        </p:nvSpPr>
        <p:spPr>
          <a:xfrm>
            <a:off x="11791188" y="210312"/>
            <a:ext cx="9144" cy="201168"/>
          </a:xfrm>
          <a:prstGeom prst="rect">
            <a:avLst/>
          </a:prstGeom>
          <a:solidFill>
            <a:srgbClr val="5A7189"/>
          </a:solidFill>
          <a:ln w="12700">
            <a:solidFill>
              <a:srgbClr val="5A7189"/>
            </a:solidFill>
            <a:prstDash val="solid"/>
          </a:ln>
        </p:spPr>
        <p:txBody>
          <a:bodyPr/>
          <a:p/>
        </p:txBody>
      </p:sp>
      <p:sp>
        <p:nvSpPr>
          <p:cNvPr id="10" name="Shape 8"/>
          <p:cNvSpPr/>
          <p:nvPr/>
        </p:nvSpPr>
        <p:spPr>
          <a:xfrm>
            <a:off x="283464" y="6505956"/>
            <a:ext cx="201168" cy="9144"/>
          </a:xfrm>
          <a:prstGeom prst="rect">
            <a:avLst/>
          </a:prstGeom>
          <a:solidFill>
            <a:srgbClr val="5A7189"/>
          </a:solidFill>
          <a:ln w="12700">
            <a:solidFill>
              <a:srgbClr val="5A7189"/>
            </a:solidFill>
            <a:prstDash val="solid"/>
          </a:ln>
        </p:spPr>
        <p:txBody>
          <a:bodyPr/>
          <a:p/>
        </p:txBody>
      </p:sp>
      <p:sp>
        <p:nvSpPr>
          <p:cNvPr id="11" name="Shape 9"/>
          <p:cNvSpPr/>
          <p:nvPr/>
        </p:nvSpPr>
        <p:spPr>
          <a:xfrm>
            <a:off x="379476" y="6409944"/>
            <a:ext cx="9144" cy="201168"/>
          </a:xfrm>
          <a:prstGeom prst="rect">
            <a:avLst/>
          </a:prstGeom>
          <a:solidFill>
            <a:srgbClr val="5A7189"/>
          </a:solidFill>
          <a:ln w="12700">
            <a:solidFill>
              <a:srgbClr val="5A7189"/>
            </a:solidFill>
            <a:prstDash val="solid"/>
          </a:ln>
        </p:spPr>
        <p:txBody>
          <a:bodyPr/>
          <a:p/>
        </p:txBody>
      </p:sp>
      <p:sp>
        <p:nvSpPr>
          <p:cNvPr id="12" name="Shape 10"/>
          <p:cNvSpPr/>
          <p:nvPr/>
        </p:nvSpPr>
        <p:spPr>
          <a:xfrm>
            <a:off x="11695176" y="6505956"/>
            <a:ext cx="201168" cy="9144"/>
          </a:xfrm>
          <a:prstGeom prst="rect">
            <a:avLst/>
          </a:prstGeom>
          <a:solidFill>
            <a:srgbClr val="5A7189"/>
          </a:solidFill>
          <a:ln w="12700">
            <a:solidFill>
              <a:srgbClr val="5A7189"/>
            </a:solidFill>
            <a:prstDash val="solid"/>
          </a:ln>
        </p:spPr>
        <p:txBody>
          <a:bodyPr/>
          <a:p/>
        </p:txBody>
      </p:sp>
      <p:sp>
        <p:nvSpPr>
          <p:cNvPr id="13" name="Shape 11"/>
          <p:cNvSpPr/>
          <p:nvPr/>
        </p:nvSpPr>
        <p:spPr>
          <a:xfrm>
            <a:off x="11791188" y="6409944"/>
            <a:ext cx="9144" cy="201168"/>
          </a:xfrm>
          <a:prstGeom prst="rect">
            <a:avLst/>
          </a:prstGeom>
          <a:solidFill>
            <a:srgbClr val="5A7189"/>
          </a:solidFill>
          <a:ln w="12700">
            <a:solidFill>
              <a:srgbClr val="5A7189"/>
            </a:solidFill>
            <a:prstDash val="solid"/>
          </a:ln>
        </p:spPr>
        <p:txBody>
          <a:bodyPr/>
          <a:p/>
        </p:txBody>
      </p:sp>
      <p:sp>
        <p:nvSpPr>
          <p:cNvPr id="14" name="Text 12"/>
          <p:cNvSpPr txBox="1"/>
          <p:nvPr/>
        </p:nvSpPr>
        <p:spPr>
          <a:xfrm>
            <a:off x="685800" y="566928"/>
            <a:ext cx="7315200" cy="237744"/>
          </a:xfrm>
          <a:prstGeom prst="rect">
            <a:avLst/>
          </a:prstGeom>
          <a:noFill/>
          <a:ln/>
        </p:spPr>
        <p:txBody>
          <a:bodyPr wrap="square" lIns="0" tIns="0" rIns="0" bIns="0" rtlCol="0" anchor="ctr"/>
          <a:lstStyle/>
          <a:p>
            <a:pPr indent="0" marL="0">
              <a:buNone/>
            </a:pPr>
            <a:r>
              <a:rPr lang="en-US" sz="1000" spc="100" kern="0" dirty="0">
                <a:solidFill>
                  <a:srgbClr val="B85C2E"/>
                </a:solidFill>
                <a:latin typeface="Courier New" pitchFamily="34" charset="0"/>
                <a:ea typeface="Courier New" pitchFamily="34" charset="-122"/>
                <a:cs typeface="Courier New" pitchFamily="34" charset="-120"/>
              </a:rPr>
              <a:t>14 · HERRAMIENTAS Y MARCOS</a:t>
            </a:r>
            <a:endParaRPr lang="en-US" sz="1000" dirty="0"/>
          </a:p>
        </p:txBody>
      </p:sp>
      <p:sp>
        <p:nvSpPr>
          <p:cNvPr id="15" name="Text 13"/>
          <p:cNvSpPr txBox="1"/>
          <p:nvPr/>
        </p:nvSpPr>
        <p:spPr>
          <a:xfrm>
            <a:off x="685800" y="822960"/>
            <a:ext cx="10820095" cy="566928"/>
          </a:xfrm>
          <a:prstGeom prst="rect">
            <a:avLst/>
          </a:prstGeom>
          <a:noFill/>
          <a:ln/>
        </p:spPr>
        <p:txBody>
          <a:bodyPr wrap="square" lIns="0" tIns="0" rIns="0" bIns="0" rtlCol="0" anchor="ctr"/>
          <a:lstStyle/>
          <a:p>
            <a:pPr indent="0" marL="0">
              <a:buNone/>
            </a:pPr>
            <a:r>
              <a:rPr lang="en-US" sz="3000" b="1" dirty="0">
                <a:solidFill>
                  <a:srgbClr val="16273F"/>
                </a:solidFill>
                <a:latin typeface="Arial" pitchFamily="34" charset="0"/>
                <a:ea typeface="Arial" pitchFamily="34" charset="-122"/>
                <a:cs typeface="Arial" pitchFamily="34" charset="-120"/>
              </a:rPr>
              <a:t>El arsenal del arquitecto</a:t>
            </a:r>
            <a:endParaRPr lang="en-US" sz="3000" dirty="0"/>
          </a:p>
        </p:txBody>
      </p:sp>
      <p:sp>
        <p:nvSpPr>
          <p:cNvPr id="16" name="Text 14"/>
          <p:cNvSpPr txBox="1"/>
          <p:nvPr/>
        </p:nvSpPr>
        <p:spPr>
          <a:xfrm>
            <a:off x="685800" y="1389888"/>
            <a:ext cx="10820095" cy="310896"/>
          </a:xfrm>
          <a:prstGeom prst="rect">
            <a:avLst/>
          </a:prstGeom>
          <a:noFill/>
          <a:ln/>
        </p:spPr>
        <p:txBody>
          <a:bodyPr wrap="square" lIns="0" tIns="0" rIns="0" bIns="0" rtlCol="0" anchor="ctr"/>
          <a:lstStyle/>
          <a:p>
            <a:pPr indent="0" marL="0">
              <a:buNone/>
            </a:pPr>
            <a:r>
              <a:rPr lang="en-US" sz="1350" dirty="0">
                <a:solidFill>
                  <a:srgbClr val="707C86"/>
                </a:solidFill>
                <a:latin typeface="Calibri" pitchFamily="34" charset="0"/>
                <a:ea typeface="Calibri" pitchFamily="34" charset="-122"/>
                <a:cs typeface="Calibri" pitchFamily="34" charset="-120"/>
              </a:rPr>
              <a:t>Qué usar según el nivel de rigor que exija la decisión</a:t>
            </a:r>
            <a:endParaRPr lang="en-US" sz="1350" dirty="0"/>
          </a:p>
        </p:txBody>
      </p:sp>
      <p:sp>
        <p:nvSpPr>
          <p:cNvPr id="17" name="Shape 15"/>
          <p:cNvSpPr/>
          <p:nvPr/>
        </p:nvSpPr>
        <p:spPr>
          <a:xfrm>
            <a:off x="685800" y="1965960"/>
            <a:ext cx="2560320" cy="3931920"/>
          </a:xfrm>
          <a:prstGeom prst="rect">
            <a:avLst/>
          </a:prstGeom>
          <a:solidFill>
            <a:srgbClr val="FFFFFF"/>
          </a:solidFill>
          <a:ln w="12700">
            <a:solidFill>
              <a:srgbClr val="C6C4B8"/>
            </a:solidFill>
            <a:prstDash val="solid"/>
          </a:ln>
        </p:spPr>
        <p:txBody>
          <a:bodyPr/>
          <a:p/>
        </p:txBody>
      </p:sp>
      <p:sp>
        <p:nvSpPr>
          <p:cNvPr id="18" name="Shape 16"/>
          <p:cNvSpPr/>
          <p:nvPr/>
        </p:nvSpPr>
        <p:spPr>
          <a:xfrm>
            <a:off x="685800" y="1965960"/>
            <a:ext cx="2560320" cy="54864"/>
          </a:xfrm>
          <a:prstGeom prst="rect">
            <a:avLst/>
          </a:prstGeom>
          <a:solidFill>
            <a:srgbClr val="5A7189"/>
          </a:solidFill>
          <a:ln w="12700">
            <a:solidFill>
              <a:srgbClr val="5A7189"/>
            </a:solidFill>
            <a:prstDash val="solid"/>
          </a:ln>
        </p:spPr>
        <p:txBody>
          <a:bodyPr/>
          <a:p/>
        </p:txBody>
      </p:sp>
      <p:sp>
        <p:nvSpPr>
          <p:cNvPr id="19" name="Text 17"/>
          <p:cNvSpPr txBox="1"/>
          <p:nvPr/>
        </p:nvSpPr>
        <p:spPr>
          <a:xfrm>
            <a:off x="886968" y="2176272"/>
            <a:ext cx="2194560" cy="219456"/>
          </a:xfrm>
          <a:prstGeom prst="rect">
            <a:avLst/>
          </a:prstGeom>
          <a:noFill/>
          <a:ln/>
        </p:spPr>
        <p:txBody>
          <a:bodyPr wrap="square" lIns="0" tIns="0" rIns="0" bIns="0" rtlCol="0" anchor="ctr"/>
          <a:lstStyle/>
          <a:p>
            <a:pPr indent="0" marL="0">
              <a:buNone/>
            </a:pPr>
            <a:r>
              <a:rPr lang="en-US" sz="850" spc="50" kern="0" dirty="0">
                <a:solidFill>
                  <a:srgbClr val="5A7189"/>
                </a:solidFill>
                <a:latin typeface="Courier New" pitchFamily="34" charset="0"/>
                <a:ea typeface="Courier New" pitchFamily="34" charset="-122"/>
                <a:cs typeface="Courier New" pitchFamily="34" charset="-120"/>
              </a:rPr>
              <a:t>SEGUIMIENTO OPERATIVO</a:t>
            </a:r>
            <a:endParaRPr lang="en-US" sz="850" dirty="0"/>
          </a:p>
        </p:txBody>
      </p:sp>
      <p:sp>
        <p:nvSpPr>
          <p:cNvPr id="20" name="Text 18"/>
          <p:cNvSpPr txBox="1"/>
          <p:nvPr/>
        </p:nvSpPr>
        <p:spPr>
          <a:xfrm>
            <a:off x="886968" y="2450592"/>
            <a:ext cx="2194560" cy="566928"/>
          </a:xfrm>
          <a:prstGeom prst="rect">
            <a:avLst/>
          </a:prstGeom>
          <a:noFill/>
          <a:ln/>
        </p:spPr>
        <p:txBody>
          <a:bodyPr wrap="square" lIns="0" tIns="0" rIns="0" bIns="0" rtlCol="0" anchor="ctr"/>
          <a:lstStyle/>
          <a:p>
            <a:pPr indent="0" marL="0">
              <a:buNone/>
            </a:pPr>
            <a:r>
              <a:rPr lang="en-US" sz="1500" b="1" dirty="0">
                <a:solidFill>
                  <a:srgbClr val="16273F"/>
                </a:solidFill>
                <a:latin typeface="Arial" pitchFamily="34" charset="0"/>
                <a:ea typeface="Arial" pitchFamily="34" charset="-122"/>
                <a:cs typeface="Arial" pitchFamily="34" charset="-120"/>
              </a:rPr>
              <a:t>Matriz en hoja de cálculo o Notion</a:t>
            </a:r>
            <a:endParaRPr lang="en-US" sz="1500" dirty="0"/>
          </a:p>
        </p:txBody>
      </p:sp>
      <p:sp>
        <p:nvSpPr>
          <p:cNvPr id="21" name="Text 19"/>
          <p:cNvSpPr txBox="1"/>
          <p:nvPr/>
        </p:nvSpPr>
        <p:spPr>
          <a:xfrm>
            <a:off x="886968" y="3108960"/>
            <a:ext cx="2194560" cy="1691640"/>
          </a:xfrm>
          <a:prstGeom prst="rect">
            <a:avLst/>
          </a:prstGeom>
          <a:noFill/>
          <a:ln/>
        </p:spPr>
        <p:txBody>
          <a:bodyPr wrap="square" lIns="0" tIns="0" rIns="0" bIns="0" rtlCol="0" anchor="ctr"/>
          <a:lstStyle/>
          <a:p>
            <a:pPr indent="0" marL="0">
              <a:lnSpc>
                <a:spcPts val="1600"/>
              </a:lnSpc>
              <a:buNone/>
            </a:pPr>
            <a:r>
              <a:rPr lang="en-US" sz="1200" dirty="0">
                <a:solidFill>
                  <a:srgbClr val="1F2A36"/>
                </a:solidFill>
                <a:latin typeface="Calibri" pitchFamily="34" charset="0"/>
                <a:ea typeface="Calibri" pitchFamily="34" charset="-122"/>
                <a:cs typeface="Calibri" pitchFamily="34" charset="-120"/>
              </a:rPr>
              <a:t>Plataformas flexibles para registrar, priorizar y hacer seguimiento iterativo. Suficiente para el Taller 9.</a:t>
            </a:r>
            <a:endParaRPr lang="en-US" sz="1200" dirty="0"/>
          </a:p>
        </p:txBody>
      </p:sp>
      <p:sp>
        <p:nvSpPr>
          <p:cNvPr id="22" name="Shape 20"/>
          <p:cNvSpPr/>
          <p:nvPr/>
        </p:nvSpPr>
        <p:spPr>
          <a:xfrm>
            <a:off x="886968" y="4937760"/>
            <a:ext cx="2194560" cy="777240"/>
          </a:xfrm>
          <a:prstGeom prst="rect">
            <a:avLst/>
          </a:prstGeom>
          <a:solidFill>
            <a:srgbClr val="EFEDE3"/>
          </a:solidFill>
          <a:ln w="12700">
            <a:solidFill>
              <a:srgbClr val="EFEDE3"/>
            </a:solidFill>
            <a:prstDash val="solid"/>
          </a:ln>
        </p:spPr>
        <p:txBody>
          <a:bodyPr/>
          <a:p/>
        </p:txBody>
      </p:sp>
      <p:sp>
        <p:nvSpPr>
          <p:cNvPr id="23" name="Text 21"/>
          <p:cNvSpPr txBox="1"/>
          <p:nvPr/>
        </p:nvSpPr>
        <p:spPr>
          <a:xfrm>
            <a:off x="1005840" y="4937760"/>
            <a:ext cx="1965960" cy="777240"/>
          </a:xfrm>
          <a:prstGeom prst="rect">
            <a:avLst/>
          </a:prstGeom>
          <a:noFill/>
          <a:ln/>
        </p:spPr>
        <p:txBody>
          <a:bodyPr wrap="square" lIns="0" tIns="0" rIns="0" bIns="0" rtlCol="0" anchor="ctr"/>
          <a:lstStyle/>
          <a:p>
            <a:pPr indent="0" marL="0">
              <a:lnSpc>
                <a:spcPts val="1300"/>
              </a:lnSpc>
              <a:buNone/>
            </a:pPr>
            <a:r>
              <a:rPr lang="en-US" sz="900" dirty="0">
                <a:solidFill>
                  <a:srgbClr val="27405C"/>
                </a:solidFill>
                <a:latin typeface="Courier New" pitchFamily="34" charset="0"/>
                <a:ea typeface="Courier New" pitchFamily="34" charset="-122"/>
                <a:cs typeface="Courier New" pitchFamily="34" charset="-120"/>
              </a:rPr>
              <a:t>Costo: gratuito · Curva: muy baja</a:t>
            </a:r>
            <a:endParaRPr lang="en-US" sz="900" dirty="0"/>
          </a:p>
        </p:txBody>
      </p:sp>
      <p:sp>
        <p:nvSpPr>
          <p:cNvPr id="24" name="Shape 22"/>
          <p:cNvSpPr/>
          <p:nvPr/>
        </p:nvSpPr>
        <p:spPr>
          <a:xfrm>
            <a:off x="3447288" y="1965960"/>
            <a:ext cx="2560320" cy="3931920"/>
          </a:xfrm>
          <a:prstGeom prst="rect">
            <a:avLst/>
          </a:prstGeom>
          <a:solidFill>
            <a:srgbClr val="FFFFFF"/>
          </a:solidFill>
          <a:ln w="12700">
            <a:solidFill>
              <a:srgbClr val="C6C4B8"/>
            </a:solidFill>
            <a:prstDash val="solid"/>
          </a:ln>
        </p:spPr>
        <p:txBody>
          <a:bodyPr/>
          <a:p/>
        </p:txBody>
      </p:sp>
      <p:sp>
        <p:nvSpPr>
          <p:cNvPr id="25" name="Shape 23"/>
          <p:cNvSpPr/>
          <p:nvPr/>
        </p:nvSpPr>
        <p:spPr>
          <a:xfrm>
            <a:off x="3447288" y="1965960"/>
            <a:ext cx="2560320" cy="54864"/>
          </a:xfrm>
          <a:prstGeom prst="rect">
            <a:avLst/>
          </a:prstGeom>
          <a:solidFill>
            <a:srgbClr val="B85C2E"/>
          </a:solidFill>
          <a:ln w="12700">
            <a:solidFill>
              <a:srgbClr val="B85C2E"/>
            </a:solidFill>
            <a:prstDash val="solid"/>
          </a:ln>
        </p:spPr>
        <p:txBody>
          <a:bodyPr/>
          <a:p/>
        </p:txBody>
      </p:sp>
      <p:sp>
        <p:nvSpPr>
          <p:cNvPr id="26" name="Text 24"/>
          <p:cNvSpPr txBox="1"/>
          <p:nvPr/>
        </p:nvSpPr>
        <p:spPr>
          <a:xfrm>
            <a:off x="3648456" y="2176272"/>
            <a:ext cx="2194560" cy="219456"/>
          </a:xfrm>
          <a:prstGeom prst="rect">
            <a:avLst/>
          </a:prstGeom>
          <a:noFill/>
          <a:ln/>
        </p:spPr>
        <p:txBody>
          <a:bodyPr wrap="square" lIns="0" tIns="0" rIns="0" bIns="0" rtlCol="0" anchor="ctr"/>
          <a:lstStyle/>
          <a:p>
            <a:pPr indent="0" marL="0">
              <a:buNone/>
            </a:pPr>
            <a:r>
              <a:rPr lang="en-US" sz="850" spc="50" kern="0" dirty="0">
                <a:solidFill>
                  <a:srgbClr val="B85C2E"/>
                </a:solidFill>
                <a:latin typeface="Courier New" pitchFamily="34" charset="0"/>
                <a:ea typeface="Courier New" pitchFamily="34" charset="-122"/>
                <a:cs typeface="Courier New" pitchFamily="34" charset="-120"/>
              </a:rPr>
              <a:t>ANÁLISIS CUANTITATIVO</a:t>
            </a:r>
            <a:endParaRPr lang="en-US" sz="850" dirty="0"/>
          </a:p>
        </p:txBody>
      </p:sp>
      <p:sp>
        <p:nvSpPr>
          <p:cNvPr id="27" name="Text 25"/>
          <p:cNvSpPr txBox="1"/>
          <p:nvPr/>
        </p:nvSpPr>
        <p:spPr>
          <a:xfrm>
            <a:off x="3648456" y="2450592"/>
            <a:ext cx="2194560" cy="566928"/>
          </a:xfrm>
          <a:prstGeom prst="rect">
            <a:avLst/>
          </a:prstGeom>
          <a:noFill/>
          <a:ln/>
        </p:spPr>
        <p:txBody>
          <a:bodyPr wrap="square" lIns="0" tIns="0" rIns="0" bIns="0" rtlCol="0" anchor="ctr"/>
          <a:lstStyle/>
          <a:p>
            <a:pPr indent="0" marL="0">
              <a:buNone/>
            </a:pPr>
            <a:r>
              <a:rPr lang="en-US" sz="1500" b="1" dirty="0">
                <a:solidFill>
                  <a:srgbClr val="16273F"/>
                </a:solidFill>
                <a:latin typeface="Arial" pitchFamily="34" charset="0"/>
                <a:ea typeface="Arial" pitchFamily="34" charset="-122"/>
                <a:cs typeface="Arial" pitchFamily="34" charset="-120"/>
              </a:rPr>
              <a:t>Open FAIR</a:t>
            </a:r>
            <a:endParaRPr lang="en-US" sz="1500" dirty="0"/>
          </a:p>
        </p:txBody>
      </p:sp>
      <p:sp>
        <p:nvSpPr>
          <p:cNvPr id="28" name="Text 26"/>
          <p:cNvSpPr txBox="1"/>
          <p:nvPr/>
        </p:nvSpPr>
        <p:spPr>
          <a:xfrm>
            <a:off x="3648456" y="3108960"/>
            <a:ext cx="2194560" cy="1691640"/>
          </a:xfrm>
          <a:prstGeom prst="rect">
            <a:avLst/>
          </a:prstGeom>
          <a:noFill/>
          <a:ln/>
        </p:spPr>
        <p:txBody>
          <a:bodyPr wrap="square" lIns="0" tIns="0" rIns="0" bIns="0" rtlCol="0" anchor="ctr"/>
          <a:lstStyle/>
          <a:p>
            <a:pPr indent="0" marL="0">
              <a:lnSpc>
                <a:spcPts val="1600"/>
              </a:lnSpc>
              <a:buNone/>
            </a:pPr>
            <a:r>
              <a:rPr lang="en-US" sz="1200" dirty="0">
                <a:solidFill>
                  <a:srgbClr val="1F2A36"/>
                </a:solidFill>
                <a:latin typeface="Calibri" pitchFamily="34" charset="0"/>
                <a:ea typeface="Calibri" pitchFamily="34" charset="-122"/>
                <a:cs typeface="Calibri" pitchFamily="34" charset="-120"/>
              </a:rPr>
              <a:t>Marco abierto de The Open Group para expresar el riesgo en términos financieros y comparar alternativas con rigor.</a:t>
            </a:r>
            <a:endParaRPr lang="en-US" sz="1200" dirty="0"/>
          </a:p>
        </p:txBody>
      </p:sp>
      <p:sp>
        <p:nvSpPr>
          <p:cNvPr id="29" name="Shape 27"/>
          <p:cNvSpPr/>
          <p:nvPr/>
        </p:nvSpPr>
        <p:spPr>
          <a:xfrm>
            <a:off x="3648456" y="4937760"/>
            <a:ext cx="2194560" cy="777240"/>
          </a:xfrm>
          <a:prstGeom prst="rect">
            <a:avLst/>
          </a:prstGeom>
          <a:solidFill>
            <a:srgbClr val="EFEDE3"/>
          </a:solidFill>
          <a:ln w="12700">
            <a:solidFill>
              <a:srgbClr val="EFEDE3"/>
            </a:solidFill>
            <a:prstDash val="solid"/>
          </a:ln>
        </p:spPr>
        <p:txBody>
          <a:bodyPr/>
          <a:p/>
        </p:txBody>
      </p:sp>
      <p:sp>
        <p:nvSpPr>
          <p:cNvPr id="30" name="Text 28"/>
          <p:cNvSpPr txBox="1"/>
          <p:nvPr/>
        </p:nvSpPr>
        <p:spPr>
          <a:xfrm>
            <a:off x="3767328" y="4937760"/>
            <a:ext cx="1965960" cy="777240"/>
          </a:xfrm>
          <a:prstGeom prst="rect">
            <a:avLst/>
          </a:prstGeom>
          <a:noFill/>
          <a:ln/>
        </p:spPr>
        <p:txBody>
          <a:bodyPr wrap="square" lIns="0" tIns="0" rIns="0" bIns="0" rtlCol="0" anchor="ctr"/>
          <a:lstStyle/>
          <a:p>
            <a:pPr indent="0" marL="0">
              <a:lnSpc>
                <a:spcPts val="1300"/>
              </a:lnSpc>
              <a:buNone/>
            </a:pPr>
            <a:r>
              <a:rPr lang="en-US" sz="900" dirty="0">
                <a:solidFill>
                  <a:srgbClr val="27405C"/>
                </a:solidFill>
                <a:latin typeface="Courier New" pitchFamily="34" charset="0"/>
                <a:ea typeface="Courier New" pitchFamily="34" charset="-122"/>
                <a:cs typeface="Courier New" pitchFamily="34" charset="-120"/>
              </a:rPr>
              <a:t>Costo: estándar abierto · Curva: alta</a:t>
            </a:r>
            <a:endParaRPr lang="en-US" sz="900" dirty="0"/>
          </a:p>
        </p:txBody>
      </p:sp>
      <p:sp>
        <p:nvSpPr>
          <p:cNvPr id="31" name="Shape 29"/>
          <p:cNvSpPr/>
          <p:nvPr/>
        </p:nvSpPr>
        <p:spPr>
          <a:xfrm>
            <a:off x="6208776" y="1965960"/>
            <a:ext cx="2560320" cy="3931920"/>
          </a:xfrm>
          <a:prstGeom prst="rect">
            <a:avLst/>
          </a:prstGeom>
          <a:solidFill>
            <a:srgbClr val="FFFFFF"/>
          </a:solidFill>
          <a:ln w="12700">
            <a:solidFill>
              <a:srgbClr val="C6C4B8"/>
            </a:solidFill>
            <a:prstDash val="solid"/>
          </a:ln>
        </p:spPr>
        <p:txBody>
          <a:bodyPr/>
          <a:p/>
        </p:txBody>
      </p:sp>
      <p:sp>
        <p:nvSpPr>
          <p:cNvPr id="32" name="Shape 30"/>
          <p:cNvSpPr/>
          <p:nvPr/>
        </p:nvSpPr>
        <p:spPr>
          <a:xfrm>
            <a:off x="6208776" y="1965960"/>
            <a:ext cx="2560320" cy="54864"/>
          </a:xfrm>
          <a:prstGeom prst="rect">
            <a:avLst/>
          </a:prstGeom>
          <a:solidFill>
            <a:srgbClr val="1E7A52"/>
          </a:solidFill>
          <a:ln w="12700">
            <a:solidFill>
              <a:srgbClr val="1E7A52"/>
            </a:solidFill>
            <a:prstDash val="solid"/>
          </a:ln>
        </p:spPr>
        <p:txBody>
          <a:bodyPr/>
          <a:p/>
        </p:txBody>
      </p:sp>
      <p:sp>
        <p:nvSpPr>
          <p:cNvPr id="33" name="Text 31"/>
          <p:cNvSpPr txBox="1"/>
          <p:nvPr/>
        </p:nvSpPr>
        <p:spPr>
          <a:xfrm>
            <a:off x="6409944" y="2176272"/>
            <a:ext cx="2194560" cy="219456"/>
          </a:xfrm>
          <a:prstGeom prst="rect">
            <a:avLst/>
          </a:prstGeom>
          <a:noFill/>
          <a:ln/>
        </p:spPr>
        <p:txBody>
          <a:bodyPr wrap="square" lIns="0" tIns="0" rIns="0" bIns="0" rtlCol="0" anchor="ctr"/>
          <a:lstStyle/>
          <a:p>
            <a:pPr indent="0" marL="0">
              <a:buNone/>
            </a:pPr>
            <a:r>
              <a:rPr lang="en-US" sz="850" spc="50" kern="0" dirty="0">
                <a:solidFill>
                  <a:srgbClr val="1E7A52"/>
                </a:solidFill>
                <a:latin typeface="Courier New" pitchFamily="34" charset="0"/>
                <a:ea typeface="Courier New" pitchFamily="34" charset="-122"/>
                <a:cs typeface="Courier New" pitchFamily="34" charset="-120"/>
              </a:rPr>
              <a:t>ANÁLISIS COLABORATIVO</a:t>
            </a:r>
            <a:endParaRPr lang="en-US" sz="850" dirty="0"/>
          </a:p>
        </p:txBody>
      </p:sp>
      <p:sp>
        <p:nvSpPr>
          <p:cNvPr id="34" name="Text 32"/>
          <p:cNvSpPr txBox="1"/>
          <p:nvPr/>
        </p:nvSpPr>
        <p:spPr>
          <a:xfrm>
            <a:off x="6409944" y="2450592"/>
            <a:ext cx="2194560" cy="566928"/>
          </a:xfrm>
          <a:prstGeom prst="rect">
            <a:avLst/>
          </a:prstGeom>
          <a:noFill/>
          <a:ln/>
        </p:spPr>
        <p:txBody>
          <a:bodyPr wrap="square" lIns="0" tIns="0" rIns="0" bIns="0" rtlCol="0" anchor="ctr"/>
          <a:lstStyle/>
          <a:p>
            <a:pPr indent="0" marL="0">
              <a:buNone/>
            </a:pPr>
            <a:r>
              <a:rPr lang="en-US" sz="1500" b="1" dirty="0">
                <a:solidFill>
                  <a:srgbClr val="16273F"/>
                </a:solidFill>
                <a:latin typeface="Arial" pitchFamily="34" charset="0"/>
                <a:ea typeface="Arial" pitchFamily="34" charset="-122"/>
                <a:cs typeface="Arial" pitchFamily="34" charset="-120"/>
              </a:rPr>
              <a:t>Risk Storming</a:t>
            </a:r>
            <a:endParaRPr lang="en-US" sz="1500" dirty="0"/>
          </a:p>
        </p:txBody>
      </p:sp>
      <p:sp>
        <p:nvSpPr>
          <p:cNvPr id="35" name="Text 33"/>
          <p:cNvSpPr txBox="1"/>
          <p:nvPr/>
        </p:nvSpPr>
        <p:spPr>
          <a:xfrm>
            <a:off x="6409944" y="3108960"/>
            <a:ext cx="2194560" cy="1691640"/>
          </a:xfrm>
          <a:prstGeom prst="rect">
            <a:avLst/>
          </a:prstGeom>
          <a:noFill/>
          <a:ln/>
        </p:spPr>
        <p:txBody>
          <a:bodyPr wrap="square" lIns="0" tIns="0" rIns="0" bIns="0" rtlCol="0" anchor="ctr"/>
          <a:lstStyle/>
          <a:p>
            <a:pPr indent="0" marL="0">
              <a:lnSpc>
                <a:spcPts val="1600"/>
              </a:lnSpc>
              <a:buNone/>
            </a:pPr>
            <a:r>
              <a:rPr lang="en-US" sz="1200" dirty="0">
                <a:solidFill>
                  <a:srgbClr val="1F2A36"/>
                </a:solidFill>
                <a:latin typeface="Calibri" pitchFamily="34" charset="0"/>
                <a:ea typeface="Calibri" pitchFamily="34" charset="-122"/>
                <a:cs typeface="Calibri" pitchFamily="34" charset="-120"/>
              </a:rPr>
              <a:t>Técnica de Simon Brown que se aplica sobre los diagramas C4 del sistema. Rápida, sin herramientas.</a:t>
            </a:r>
            <a:endParaRPr lang="en-US" sz="1200" dirty="0"/>
          </a:p>
        </p:txBody>
      </p:sp>
      <p:sp>
        <p:nvSpPr>
          <p:cNvPr id="36" name="Shape 34"/>
          <p:cNvSpPr/>
          <p:nvPr/>
        </p:nvSpPr>
        <p:spPr>
          <a:xfrm>
            <a:off x="6409944" y="4937760"/>
            <a:ext cx="2194560" cy="777240"/>
          </a:xfrm>
          <a:prstGeom prst="rect">
            <a:avLst/>
          </a:prstGeom>
          <a:solidFill>
            <a:srgbClr val="EFEDE3"/>
          </a:solidFill>
          <a:ln w="12700">
            <a:solidFill>
              <a:srgbClr val="EFEDE3"/>
            </a:solidFill>
            <a:prstDash val="solid"/>
          </a:ln>
        </p:spPr>
        <p:txBody>
          <a:bodyPr/>
          <a:p/>
        </p:txBody>
      </p:sp>
      <p:sp>
        <p:nvSpPr>
          <p:cNvPr id="37" name="Text 35"/>
          <p:cNvSpPr txBox="1"/>
          <p:nvPr/>
        </p:nvSpPr>
        <p:spPr>
          <a:xfrm>
            <a:off x="6528816" y="4937760"/>
            <a:ext cx="1965960" cy="777240"/>
          </a:xfrm>
          <a:prstGeom prst="rect">
            <a:avLst/>
          </a:prstGeom>
          <a:noFill/>
          <a:ln/>
        </p:spPr>
        <p:txBody>
          <a:bodyPr wrap="square" lIns="0" tIns="0" rIns="0" bIns="0" rtlCol="0" anchor="ctr"/>
          <a:lstStyle/>
          <a:p>
            <a:pPr indent="0" marL="0">
              <a:lnSpc>
                <a:spcPts val="1300"/>
              </a:lnSpc>
              <a:buNone/>
            </a:pPr>
            <a:r>
              <a:rPr lang="en-US" sz="900" dirty="0">
                <a:solidFill>
                  <a:srgbClr val="27405C"/>
                </a:solidFill>
                <a:latin typeface="Courier New" pitchFamily="34" charset="0"/>
                <a:ea typeface="Courier New" pitchFamily="34" charset="-122"/>
                <a:cs typeface="Courier New" pitchFamily="34" charset="-120"/>
              </a:rPr>
              <a:t>Costo: gratuito · Curva: muy baja</a:t>
            </a:r>
            <a:endParaRPr lang="en-US" sz="900" dirty="0"/>
          </a:p>
        </p:txBody>
      </p:sp>
      <p:sp>
        <p:nvSpPr>
          <p:cNvPr id="38" name="Shape 36"/>
          <p:cNvSpPr/>
          <p:nvPr/>
        </p:nvSpPr>
        <p:spPr>
          <a:xfrm>
            <a:off x="8970264" y="1965960"/>
            <a:ext cx="2560320" cy="3931920"/>
          </a:xfrm>
          <a:prstGeom prst="rect">
            <a:avLst/>
          </a:prstGeom>
          <a:solidFill>
            <a:srgbClr val="FFFFFF"/>
          </a:solidFill>
          <a:ln w="12700">
            <a:solidFill>
              <a:srgbClr val="C6C4B8"/>
            </a:solidFill>
            <a:prstDash val="solid"/>
          </a:ln>
        </p:spPr>
        <p:txBody>
          <a:bodyPr/>
          <a:p/>
        </p:txBody>
      </p:sp>
      <p:sp>
        <p:nvSpPr>
          <p:cNvPr id="39" name="Shape 37"/>
          <p:cNvSpPr/>
          <p:nvPr/>
        </p:nvSpPr>
        <p:spPr>
          <a:xfrm>
            <a:off x="8970264" y="1965960"/>
            <a:ext cx="2560320" cy="54864"/>
          </a:xfrm>
          <a:prstGeom prst="rect">
            <a:avLst/>
          </a:prstGeom>
          <a:solidFill>
            <a:srgbClr val="27405C"/>
          </a:solidFill>
          <a:ln w="12700">
            <a:solidFill>
              <a:srgbClr val="27405C"/>
            </a:solidFill>
            <a:prstDash val="solid"/>
          </a:ln>
        </p:spPr>
        <p:txBody>
          <a:bodyPr/>
          <a:p/>
        </p:txBody>
      </p:sp>
      <p:sp>
        <p:nvSpPr>
          <p:cNvPr id="40" name="Text 38"/>
          <p:cNvSpPr txBox="1"/>
          <p:nvPr/>
        </p:nvSpPr>
        <p:spPr>
          <a:xfrm>
            <a:off x="9171432" y="2176272"/>
            <a:ext cx="2194560" cy="219456"/>
          </a:xfrm>
          <a:prstGeom prst="rect">
            <a:avLst/>
          </a:prstGeom>
          <a:noFill/>
          <a:ln/>
        </p:spPr>
        <p:txBody>
          <a:bodyPr wrap="square" lIns="0" tIns="0" rIns="0" bIns="0" rtlCol="0" anchor="ctr"/>
          <a:lstStyle/>
          <a:p>
            <a:pPr indent="0" marL="0">
              <a:buNone/>
            </a:pPr>
            <a:r>
              <a:rPr lang="en-US" sz="850" spc="50" kern="0" dirty="0">
                <a:solidFill>
                  <a:srgbClr val="27405C"/>
                </a:solidFill>
                <a:latin typeface="Courier New" pitchFamily="34" charset="0"/>
                <a:ea typeface="Courier New" pitchFamily="34" charset="-122"/>
                <a:cs typeface="Courier New" pitchFamily="34" charset="-120"/>
              </a:rPr>
              <a:t>EVALUACIÓN FORMAL</a:t>
            </a:r>
            <a:endParaRPr lang="en-US" sz="850" dirty="0"/>
          </a:p>
        </p:txBody>
      </p:sp>
      <p:sp>
        <p:nvSpPr>
          <p:cNvPr id="41" name="Text 39"/>
          <p:cNvSpPr txBox="1"/>
          <p:nvPr/>
        </p:nvSpPr>
        <p:spPr>
          <a:xfrm>
            <a:off x="9171432" y="2450592"/>
            <a:ext cx="2194560" cy="566928"/>
          </a:xfrm>
          <a:prstGeom prst="rect">
            <a:avLst/>
          </a:prstGeom>
          <a:noFill/>
          <a:ln/>
        </p:spPr>
        <p:txBody>
          <a:bodyPr wrap="square" lIns="0" tIns="0" rIns="0" bIns="0" rtlCol="0" anchor="ctr"/>
          <a:lstStyle/>
          <a:p>
            <a:pPr indent="0" marL="0">
              <a:buNone/>
            </a:pPr>
            <a:r>
              <a:rPr lang="en-US" sz="1500" b="1" dirty="0">
                <a:solidFill>
                  <a:srgbClr val="16273F"/>
                </a:solidFill>
                <a:latin typeface="Arial" pitchFamily="34" charset="0"/>
                <a:ea typeface="Arial" pitchFamily="34" charset="-122"/>
                <a:cs typeface="Arial" pitchFamily="34" charset="-120"/>
              </a:rPr>
              <a:t>ATAM</a:t>
            </a:r>
            <a:endParaRPr lang="en-US" sz="1500" dirty="0"/>
          </a:p>
        </p:txBody>
      </p:sp>
      <p:sp>
        <p:nvSpPr>
          <p:cNvPr id="42" name="Text 40"/>
          <p:cNvSpPr txBox="1"/>
          <p:nvPr/>
        </p:nvSpPr>
        <p:spPr>
          <a:xfrm>
            <a:off x="9171432" y="3108960"/>
            <a:ext cx="2194560" cy="1691640"/>
          </a:xfrm>
          <a:prstGeom prst="rect">
            <a:avLst/>
          </a:prstGeom>
          <a:noFill/>
          <a:ln/>
        </p:spPr>
        <p:txBody>
          <a:bodyPr wrap="square" lIns="0" tIns="0" rIns="0" bIns="0" rtlCol="0" anchor="ctr"/>
          <a:lstStyle/>
          <a:p>
            <a:pPr indent="0" marL="0">
              <a:lnSpc>
                <a:spcPts val="1600"/>
              </a:lnSpc>
              <a:buNone/>
            </a:pPr>
            <a:r>
              <a:rPr lang="en-US" sz="1200" dirty="0">
                <a:solidFill>
                  <a:srgbClr val="1F2A36"/>
                </a:solidFill>
                <a:latin typeface="Calibri" pitchFamily="34" charset="0"/>
                <a:ea typeface="Calibri" pitchFamily="34" charset="-122"/>
                <a:cs typeface="Calibri" pitchFamily="34" charset="-120"/>
              </a:rPr>
              <a:t>Método del SEI para evaluar la arquitectura contra los atributos de calidad del negocio.</a:t>
            </a:r>
            <a:endParaRPr lang="en-US" sz="1200" dirty="0"/>
          </a:p>
        </p:txBody>
      </p:sp>
      <p:sp>
        <p:nvSpPr>
          <p:cNvPr id="43" name="Shape 41"/>
          <p:cNvSpPr/>
          <p:nvPr/>
        </p:nvSpPr>
        <p:spPr>
          <a:xfrm>
            <a:off x="9171432" y="4937760"/>
            <a:ext cx="2194560" cy="777240"/>
          </a:xfrm>
          <a:prstGeom prst="rect">
            <a:avLst/>
          </a:prstGeom>
          <a:solidFill>
            <a:srgbClr val="EFEDE3"/>
          </a:solidFill>
          <a:ln w="12700">
            <a:solidFill>
              <a:srgbClr val="EFEDE3"/>
            </a:solidFill>
            <a:prstDash val="solid"/>
          </a:ln>
        </p:spPr>
        <p:txBody>
          <a:bodyPr/>
          <a:p/>
        </p:txBody>
      </p:sp>
      <p:sp>
        <p:nvSpPr>
          <p:cNvPr id="44" name="Text 42"/>
          <p:cNvSpPr txBox="1"/>
          <p:nvPr/>
        </p:nvSpPr>
        <p:spPr>
          <a:xfrm>
            <a:off x="9290304" y="4937760"/>
            <a:ext cx="1965960" cy="777240"/>
          </a:xfrm>
          <a:prstGeom prst="rect">
            <a:avLst/>
          </a:prstGeom>
          <a:noFill/>
          <a:ln/>
        </p:spPr>
        <p:txBody>
          <a:bodyPr wrap="square" lIns="0" tIns="0" rIns="0" bIns="0" rtlCol="0" anchor="ctr"/>
          <a:lstStyle/>
          <a:p>
            <a:pPr indent="0" marL="0">
              <a:lnSpc>
                <a:spcPts val="1300"/>
              </a:lnSpc>
              <a:buNone/>
            </a:pPr>
            <a:r>
              <a:rPr lang="en-US" sz="900" dirty="0">
                <a:solidFill>
                  <a:srgbClr val="27405C"/>
                </a:solidFill>
                <a:latin typeface="Courier New" pitchFamily="34" charset="0"/>
                <a:ea typeface="Courier New" pitchFamily="34" charset="-122"/>
                <a:cs typeface="Courier New" pitchFamily="34" charset="-120"/>
              </a:rPr>
              <a:t>Costo: gratuito · Curva: media-alta</a:t>
            </a:r>
            <a:endParaRPr lang="en-US" sz="900" dirty="0"/>
          </a:p>
        </p:txBody>
      </p:sp>
      <p:sp>
        <p:nvSpPr>
          <p:cNvPr id="45" name="Text 43"/>
          <p:cNvSpPr txBox="1"/>
          <p:nvPr/>
        </p:nvSpPr>
        <p:spPr>
          <a:xfrm>
            <a:off x="685800" y="6035040"/>
            <a:ext cx="10820095" cy="320040"/>
          </a:xfrm>
          <a:prstGeom prst="rect">
            <a:avLst/>
          </a:prstGeom>
          <a:noFill/>
          <a:ln/>
        </p:spPr>
        <p:txBody>
          <a:bodyPr wrap="square" lIns="0" tIns="0" rIns="0" bIns="0" rtlCol="0" anchor="ctr"/>
          <a:lstStyle/>
          <a:p>
            <a:pPr indent="0" marL="0">
              <a:buNone/>
            </a:pPr>
            <a:r>
              <a:rPr lang="en-US" sz="1200" i="1" dirty="0">
                <a:solidFill>
                  <a:srgbClr val="27405C"/>
                </a:solidFill>
                <a:latin typeface="Calibri" pitchFamily="34" charset="0"/>
                <a:ea typeface="Calibri" pitchFamily="34" charset="-122"/>
                <a:cs typeface="Calibri" pitchFamily="34" charset="-120"/>
              </a:rPr>
              <a:t>Para el Taller 9 basta con la primera y la tercera. Las otras dos se nombran para que sepan que existen cuando trabajen en industria.</a:t>
            </a:r>
            <a:endParaRPr lang="en-US" sz="1200" dirty="0"/>
          </a:p>
        </p:txBody>
      </p:sp>
      <p:sp>
        <p:nvSpPr>
          <p:cNvPr id="46" name="Text 44"/>
          <p:cNvSpPr txBox="1"/>
          <p:nvPr/>
        </p:nvSpPr>
        <p:spPr>
          <a:xfrm>
            <a:off x="685800" y="6583680"/>
            <a:ext cx="6400800" cy="237744"/>
          </a:xfrm>
          <a:prstGeom prst="rect">
            <a:avLst/>
          </a:prstGeom>
          <a:noFill/>
          <a:ln/>
        </p:spPr>
        <p:txBody>
          <a:bodyPr wrap="square" lIns="0" tIns="0" rIns="0" bIns="0" rtlCol="0" anchor="ctr"/>
          <a:lstStyle/>
          <a:p>
            <a:pPr indent="0" marL="0">
              <a:buNone/>
            </a:pPr>
            <a:r>
              <a:rPr lang="en-US" sz="800" dirty="0">
                <a:solidFill>
                  <a:srgbClr val="707C86"/>
                </a:solidFill>
                <a:latin typeface="Courier New" pitchFamily="34" charset="0"/>
                <a:ea typeface="Courier New" pitchFamily="34" charset="-122"/>
                <a:cs typeface="Courier New" pitchFamily="34" charset="-120"/>
              </a:rPr>
              <a:t>AREM · Módulo 9 · Evaluación de Riesgos Arquitectónicos</a:t>
            </a:r>
            <a:endParaRPr lang="en-US" sz="800" dirty="0"/>
          </a:p>
        </p:txBody>
      </p:sp>
      <p:sp>
        <p:nvSpPr>
          <p:cNvPr id="47" name="Text 45"/>
          <p:cNvSpPr txBox="1"/>
          <p:nvPr/>
        </p:nvSpPr>
        <p:spPr>
          <a:xfrm>
            <a:off x="10881360" y="6583680"/>
            <a:ext cx="621792" cy="237744"/>
          </a:xfrm>
          <a:prstGeom prst="rect">
            <a:avLst/>
          </a:prstGeom>
          <a:noFill/>
          <a:ln/>
        </p:spPr>
        <p:txBody>
          <a:bodyPr wrap="square" lIns="0" tIns="0" rIns="0" bIns="0" rtlCol="0" anchor="ctr"/>
          <a:lstStyle/>
          <a:p>
            <a:pPr algn="r" indent="0" marL="0">
              <a:buNone/>
            </a:pPr>
            <a:r>
              <a:rPr lang="en-US" sz="800" dirty="0">
                <a:solidFill>
                  <a:srgbClr val="707C86"/>
                </a:solidFill>
                <a:latin typeface="Courier New" pitchFamily="34" charset="0"/>
                <a:ea typeface="Courier New" pitchFamily="34" charset="-122"/>
                <a:cs typeface="Courier New"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4ED"/>
        </a:solidFill>
      </p:bgPr>
    </p:bg>
    <p:spTree>
      <p:nvGrpSpPr>
        <p:cNvPr id="1" name=""/>
        <p:cNvGrpSpPr/>
        <p:nvPr/>
      </p:nvGrpSpPr>
      <p:grpSpPr>
        <a:xfrm>
          <a:off x="0" y="0"/>
          <a:ext cx="0" cy="0"/>
          <a:chOff x="0" y="0"/>
          <a:chExt cx="0" cy="0"/>
        </a:xfrm>
      </p:grpSpPr>
      <p:sp>
        <p:nvSpPr>
          <p:cNvPr id="2" name="Shape 0"/>
          <p:cNvSpPr/>
          <p:nvPr/>
        </p:nvSpPr>
        <p:spPr>
          <a:xfrm>
            <a:off x="384048" y="310896"/>
            <a:ext cx="11420856" cy="10973"/>
          </a:xfrm>
          <a:prstGeom prst="rect">
            <a:avLst/>
          </a:prstGeom>
          <a:solidFill>
            <a:srgbClr val="C6C4B8"/>
          </a:solidFill>
          <a:ln w="12700">
            <a:solidFill>
              <a:srgbClr val="C6C4B8"/>
            </a:solidFill>
            <a:prstDash val="solid"/>
          </a:ln>
        </p:spPr>
        <p:txBody>
          <a:bodyPr/>
          <a:p/>
        </p:txBody>
      </p:sp>
      <p:sp>
        <p:nvSpPr>
          <p:cNvPr id="3" name="Shape 1"/>
          <p:cNvSpPr/>
          <p:nvPr/>
        </p:nvSpPr>
        <p:spPr>
          <a:xfrm>
            <a:off x="384048" y="6510528"/>
            <a:ext cx="11420856" cy="10973"/>
          </a:xfrm>
          <a:prstGeom prst="rect">
            <a:avLst/>
          </a:prstGeom>
          <a:solidFill>
            <a:srgbClr val="C6C4B8"/>
          </a:solidFill>
          <a:ln w="12700">
            <a:solidFill>
              <a:srgbClr val="C6C4B8"/>
            </a:solidFill>
            <a:prstDash val="solid"/>
          </a:ln>
        </p:spPr>
        <p:txBody>
          <a:bodyPr/>
          <a:p/>
        </p:txBody>
      </p:sp>
      <p:sp>
        <p:nvSpPr>
          <p:cNvPr id="4" name="Shape 2"/>
          <p:cNvSpPr/>
          <p:nvPr/>
        </p:nvSpPr>
        <p:spPr>
          <a:xfrm>
            <a:off x="384048" y="310896"/>
            <a:ext cx="10973" cy="6208776"/>
          </a:xfrm>
          <a:prstGeom prst="rect">
            <a:avLst/>
          </a:prstGeom>
          <a:solidFill>
            <a:srgbClr val="C6C4B8"/>
          </a:solidFill>
          <a:ln w="12700">
            <a:solidFill>
              <a:srgbClr val="C6C4B8"/>
            </a:solidFill>
            <a:prstDash val="solid"/>
          </a:ln>
        </p:spPr>
        <p:txBody>
          <a:bodyPr/>
          <a:p/>
        </p:txBody>
      </p:sp>
      <p:sp>
        <p:nvSpPr>
          <p:cNvPr id="5" name="Shape 3"/>
          <p:cNvSpPr/>
          <p:nvPr/>
        </p:nvSpPr>
        <p:spPr>
          <a:xfrm>
            <a:off x="11795760" y="310896"/>
            <a:ext cx="10973" cy="6208776"/>
          </a:xfrm>
          <a:prstGeom prst="rect">
            <a:avLst/>
          </a:prstGeom>
          <a:solidFill>
            <a:srgbClr val="C6C4B8"/>
          </a:solidFill>
          <a:ln w="12700">
            <a:solidFill>
              <a:srgbClr val="C6C4B8"/>
            </a:solidFill>
            <a:prstDash val="solid"/>
          </a:ln>
        </p:spPr>
        <p:txBody>
          <a:bodyPr/>
          <a:p/>
        </p:txBody>
      </p:sp>
      <p:sp>
        <p:nvSpPr>
          <p:cNvPr id="6" name="Shape 4"/>
          <p:cNvSpPr/>
          <p:nvPr/>
        </p:nvSpPr>
        <p:spPr>
          <a:xfrm>
            <a:off x="283464" y="306324"/>
            <a:ext cx="201168" cy="9144"/>
          </a:xfrm>
          <a:prstGeom prst="rect">
            <a:avLst/>
          </a:prstGeom>
          <a:solidFill>
            <a:srgbClr val="5A7189"/>
          </a:solidFill>
          <a:ln w="12700">
            <a:solidFill>
              <a:srgbClr val="5A7189"/>
            </a:solidFill>
            <a:prstDash val="solid"/>
          </a:ln>
        </p:spPr>
        <p:txBody>
          <a:bodyPr/>
          <a:p/>
        </p:txBody>
      </p:sp>
      <p:sp>
        <p:nvSpPr>
          <p:cNvPr id="7" name="Shape 5"/>
          <p:cNvSpPr/>
          <p:nvPr/>
        </p:nvSpPr>
        <p:spPr>
          <a:xfrm>
            <a:off x="379476" y="210312"/>
            <a:ext cx="9144" cy="201168"/>
          </a:xfrm>
          <a:prstGeom prst="rect">
            <a:avLst/>
          </a:prstGeom>
          <a:solidFill>
            <a:srgbClr val="5A7189"/>
          </a:solidFill>
          <a:ln w="12700">
            <a:solidFill>
              <a:srgbClr val="5A7189"/>
            </a:solidFill>
            <a:prstDash val="solid"/>
          </a:ln>
        </p:spPr>
        <p:txBody>
          <a:bodyPr/>
          <a:p/>
        </p:txBody>
      </p:sp>
      <p:sp>
        <p:nvSpPr>
          <p:cNvPr id="8" name="Shape 6"/>
          <p:cNvSpPr/>
          <p:nvPr/>
        </p:nvSpPr>
        <p:spPr>
          <a:xfrm>
            <a:off x="11695176" y="306324"/>
            <a:ext cx="201168" cy="9144"/>
          </a:xfrm>
          <a:prstGeom prst="rect">
            <a:avLst/>
          </a:prstGeom>
          <a:solidFill>
            <a:srgbClr val="5A7189"/>
          </a:solidFill>
          <a:ln w="12700">
            <a:solidFill>
              <a:srgbClr val="5A7189"/>
            </a:solidFill>
            <a:prstDash val="solid"/>
          </a:ln>
        </p:spPr>
        <p:txBody>
          <a:bodyPr/>
          <a:p/>
        </p:txBody>
      </p:sp>
      <p:sp>
        <p:nvSpPr>
          <p:cNvPr id="9" name="Shape 7"/>
          <p:cNvSpPr/>
          <p:nvPr/>
        </p:nvSpPr>
        <p:spPr>
          <a:xfrm>
            <a:off x="11791188" y="210312"/>
            <a:ext cx="9144" cy="201168"/>
          </a:xfrm>
          <a:prstGeom prst="rect">
            <a:avLst/>
          </a:prstGeom>
          <a:solidFill>
            <a:srgbClr val="5A7189"/>
          </a:solidFill>
          <a:ln w="12700">
            <a:solidFill>
              <a:srgbClr val="5A7189"/>
            </a:solidFill>
            <a:prstDash val="solid"/>
          </a:ln>
        </p:spPr>
        <p:txBody>
          <a:bodyPr/>
          <a:p/>
        </p:txBody>
      </p:sp>
      <p:sp>
        <p:nvSpPr>
          <p:cNvPr id="10" name="Shape 8"/>
          <p:cNvSpPr/>
          <p:nvPr/>
        </p:nvSpPr>
        <p:spPr>
          <a:xfrm>
            <a:off x="283464" y="6505956"/>
            <a:ext cx="201168" cy="9144"/>
          </a:xfrm>
          <a:prstGeom prst="rect">
            <a:avLst/>
          </a:prstGeom>
          <a:solidFill>
            <a:srgbClr val="5A7189"/>
          </a:solidFill>
          <a:ln w="12700">
            <a:solidFill>
              <a:srgbClr val="5A7189"/>
            </a:solidFill>
            <a:prstDash val="solid"/>
          </a:ln>
        </p:spPr>
        <p:txBody>
          <a:bodyPr/>
          <a:p/>
        </p:txBody>
      </p:sp>
      <p:sp>
        <p:nvSpPr>
          <p:cNvPr id="11" name="Shape 9"/>
          <p:cNvSpPr/>
          <p:nvPr/>
        </p:nvSpPr>
        <p:spPr>
          <a:xfrm>
            <a:off x="379476" y="6409944"/>
            <a:ext cx="9144" cy="201168"/>
          </a:xfrm>
          <a:prstGeom prst="rect">
            <a:avLst/>
          </a:prstGeom>
          <a:solidFill>
            <a:srgbClr val="5A7189"/>
          </a:solidFill>
          <a:ln w="12700">
            <a:solidFill>
              <a:srgbClr val="5A7189"/>
            </a:solidFill>
            <a:prstDash val="solid"/>
          </a:ln>
        </p:spPr>
        <p:txBody>
          <a:bodyPr/>
          <a:p/>
        </p:txBody>
      </p:sp>
      <p:sp>
        <p:nvSpPr>
          <p:cNvPr id="12" name="Shape 10"/>
          <p:cNvSpPr/>
          <p:nvPr/>
        </p:nvSpPr>
        <p:spPr>
          <a:xfrm>
            <a:off x="11695176" y="6505956"/>
            <a:ext cx="201168" cy="9144"/>
          </a:xfrm>
          <a:prstGeom prst="rect">
            <a:avLst/>
          </a:prstGeom>
          <a:solidFill>
            <a:srgbClr val="5A7189"/>
          </a:solidFill>
          <a:ln w="12700">
            <a:solidFill>
              <a:srgbClr val="5A7189"/>
            </a:solidFill>
            <a:prstDash val="solid"/>
          </a:ln>
        </p:spPr>
        <p:txBody>
          <a:bodyPr/>
          <a:p/>
        </p:txBody>
      </p:sp>
      <p:sp>
        <p:nvSpPr>
          <p:cNvPr id="13" name="Shape 11"/>
          <p:cNvSpPr/>
          <p:nvPr/>
        </p:nvSpPr>
        <p:spPr>
          <a:xfrm>
            <a:off x="11791188" y="6409944"/>
            <a:ext cx="9144" cy="201168"/>
          </a:xfrm>
          <a:prstGeom prst="rect">
            <a:avLst/>
          </a:prstGeom>
          <a:solidFill>
            <a:srgbClr val="5A7189"/>
          </a:solidFill>
          <a:ln w="12700">
            <a:solidFill>
              <a:srgbClr val="5A7189"/>
            </a:solidFill>
            <a:prstDash val="solid"/>
          </a:ln>
        </p:spPr>
        <p:txBody>
          <a:bodyPr/>
          <a:p/>
        </p:txBody>
      </p:sp>
      <p:sp>
        <p:nvSpPr>
          <p:cNvPr id="14" name="Text 12"/>
          <p:cNvSpPr txBox="1"/>
          <p:nvPr/>
        </p:nvSpPr>
        <p:spPr>
          <a:xfrm>
            <a:off x="685800" y="566928"/>
            <a:ext cx="7315200" cy="237744"/>
          </a:xfrm>
          <a:prstGeom prst="rect">
            <a:avLst/>
          </a:prstGeom>
          <a:noFill/>
          <a:ln/>
        </p:spPr>
        <p:txBody>
          <a:bodyPr wrap="square" lIns="0" tIns="0" rIns="0" bIns="0" rtlCol="0" anchor="ctr"/>
          <a:lstStyle/>
          <a:p>
            <a:pPr indent="0" marL="0">
              <a:buNone/>
            </a:pPr>
            <a:r>
              <a:rPr lang="en-US" sz="1000" spc="100" kern="0" dirty="0">
                <a:solidFill>
                  <a:srgbClr val="B85C2E"/>
                </a:solidFill>
                <a:latin typeface="Courier New" pitchFamily="34" charset="0"/>
                <a:ea typeface="Courier New" pitchFamily="34" charset="-122"/>
                <a:cs typeface="Courier New" pitchFamily="34" charset="-120"/>
              </a:rPr>
              <a:t>15 · ACTIVIDAD</a:t>
            </a:r>
            <a:endParaRPr lang="en-US" sz="1000" dirty="0"/>
          </a:p>
        </p:txBody>
      </p:sp>
      <p:sp>
        <p:nvSpPr>
          <p:cNvPr id="15" name="Text 13"/>
          <p:cNvSpPr txBox="1"/>
          <p:nvPr/>
        </p:nvSpPr>
        <p:spPr>
          <a:xfrm>
            <a:off x="685800" y="822960"/>
            <a:ext cx="10820095" cy="566928"/>
          </a:xfrm>
          <a:prstGeom prst="rect">
            <a:avLst/>
          </a:prstGeom>
          <a:noFill/>
          <a:ln/>
        </p:spPr>
        <p:txBody>
          <a:bodyPr wrap="square" lIns="0" tIns="0" rIns="0" bIns="0" rtlCol="0" anchor="ctr"/>
          <a:lstStyle/>
          <a:p>
            <a:pPr indent="0" marL="0">
              <a:buNone/>
            </a:pPr>
            <a:r>
              <a:rPr lang="en-US" sz="3000" b="1" dirty="0">
                <a:solidFill>
                  <a:srgbClr val="16273F"/>
                </a:solidFill>
                <a:latin typeface="Arial" pitchFamily="34" charset="0"/>
                <a:ea typeface="Arial" pitchFamily="34" charset="-122"/>
                <a:cs typeface="Arial" pitchFamily="34" charset="-120"/>
              </a:rPr>
              <a:t>Preparación para el comité · Taller 9</a:t>
            </a:r>
            <a:endParaRPr lang="en-US" sz="3000" dirty="0"/>
          </a:p>
        </p:txBody>
      </p:sp>
      <p:sp>
        <p:nvSpPr>
          <p:cNvPr id="16" name="Text 14"/>
          <p:cNvSpPr txBox="1"/>
          <p:nvPr/>
        </p:nvSpPr>
        <p:spPr>
          <a:xfrm>
            <a:off x="685800" y="1389888"/>
            <a:ext cx="10820095" cy="310896"/>
          </a:xfrm>
          <a:prstGeom prst="rect">
            <a:avLst/>
          </a:prstGeom>
          <a:noFill/>
          <a:ln/>
        </p:spPr>
        <p:txBody>
          <a:bodyPr wrap="square" lIns="0" tIns="0" rIns="0" bIns="0" rtlCol="0" anchor="ctr"/>
          <a:lstStyle/>
          <a:p>
            <a:pPr indent="0" marL="0">
              <a:buNone/>
            </a:pPr>
            <a:r>
              <a:rPr lang="en-US" sz="1350" dirty="0">
                <a:solidFill>
                  <a:srgbClr val="707C86"/>
                </a:solidFill>
                <a:latin typeface="Calibri" pitchFamily="34" charset="0"/>
                <a:ea typeface="Calibri" pitchFamily="34" charset="-122"/>
                <a:cs typeface="Calibri" pitchFamily="34" charset="-120"/>
              </a:rPr>
              <a:t>45 minutos en equipo, sobre el sistema del cliente real</a:t>
            </a:r>
            <a:endParaRPr lang="en-US" sz="1350" dirty="0"/>
          </a:p>
        </p:txBody>
      </p:sp>
      <p:sp>
        <p:nvSpPr>
          <p:cNvPr id="17" name="Shape 15"/>
          <p:cNvSpPr/>
          <p:nvPr/>
        </p:nvSpPr>
        <p:spPr>
          <a:xfrm>
            <a:off x="685800" y="2011680"/>
            <a:ext cx="7589520" cy="1298448"/>
          </a:xfrm>
          <a:prstGeom prst="rect">
            <a:avLst/>
          </a:prstGeom>
          <a:solidFill>
            <a:srgbClr val="FFFFFF"/>
          </a:solidFill>
          <a:ln w="12700">
            <a:solidFill>
              <a:srgbClr val="C6C4B8"/>
            </a:solidFill>
            <a:prstDash val="solid"/>
          </a:ln>
        </p:spPr>
        <p:txBody>
          <a:bodyPr/>
          <a:p/>
        </p:txBody>
      </p:sp>
      <p:sp>
        <p:nvSpPr>
          <p:cNvPr id="18" name="Shape 16"/>
          <p:cNvSpPr/>
          <p:nvPr/>
        </p:nvSpPr>
        <p:spPr>
          <a:xfrm>
            <a:off x="685800" y="2011680"/>
            <a:ext cx="1051560" cy="1298448"/>
          </a:xfrm>
          <a:prstGeom prst="rect">
            <a:avLst/>
          </a:prstGeom>
          <a:solidFill>
            <a:srgbClr val="16273F"/>
          </a:solidFill>
          <a:ln w="12700">
            <a:solidFill>
              <a:srgbClr val="16273F"/>
            </a:solidFill>
            <a:prstDash val="solid"/>
          </a:ln>
        </p:spPr>
        <p:txBody>
          <a:bodyPr/>
          <a:p/>
        </p:txBody>
      </p:sp>
      <p:sp>
        <p:nvSpPr>
          <p:cNvPr id="19" name="Text 17"/>
          <p:cNvSpPr txBox="1"/>
          <p:nvPr/>
        </p:nvSpPr>
        <p:spPr>
          <a:xfrm>
            <a:off x="685800" y="2011680"/>
            <a:ext cx="1051560" cy="12984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15 min</a:t>
            </a:r>
            <a:endParaRPr lang="en-US" sz="1200" dirty="0"/>
          </a:p>
        </p:txBody>
      </p:sp>
      <p:sp>
        <p:nvSpPr>
          <p:cNvPr id="20" name="Text 18"/>
          <p:cNvSpPr txBox="1"/>
          <p:nvPr/>
        </p:nvSpPr>
        <p:spPr>
          <a:xfrm>
            <a:off x="1965960" y="2176272"/>
            <a:ext cx="6126480" cy="292608"/>
          </a:xfrm>
          <a:prstGeom prst="rect">
            <a:avLst/>
          </a:prstGeom>
          <a:noFill/>
          <a:ln/>
        </p:spPr>
        <p:txBody>
          <a:bodyPr wrap="square" lIns="0" tIns="0" rIns="0" bIns="0" rtlCol="0" anchor="ctr"/>
          <a:lstStyle/>
          <a:p>
            <a:pPr indent="0" marL="0">
              <a:buNone/>
            </a:pPr>
            <a:r>
              <a:rPr lang="en-US" sz="1500" b="1" dirty="0">
                <a:solidFill>
                  <a:srgbClr val="16273F"/>
                </a:solidFill>
                <a:latin typeface="Arial" pitchFamily="34" charset="0"/>
                <a:ea typeface="Arial" pitchFamily="34" charset="-122"/>
                <a:cs typeface="Arial" pitchFamily="34" charset="-120"/>
              </a:rPr>
              <a:t>Identificación exhaustiva</a:t>
            </a:r>
            <a:endParaRPr lang="en-US" sz="1500" dirty="0"/>
          </a:p>
        </p:txBody>
      </p:sp>
      <p:sp>
        <p:nvSpPr>
          <p:cNvPr id="21" name="Text 19"/>
          <p:cNvSpPr txBox="1"/>
          <p:nvPr/>
        </p:nvSpPr>
        <p:spPr>
          <a:xfrm>
            <a:off x="1965960" y="2514600"/>
            <a:ext cx="6126480" cy="685800"/>
          </a:xfrm>
          <a:prstGeom prst="rect">
            <a:avLst/>
          </a:prstGeom>
          <a:noFill/>
          <a:ln/>
        </p:spPr>
        <p:txBody>
          <a:bodyPr wrap="square" lIns="0" tIns="0" rIns="0" bIns="0" rtlCol="0" anchor="ctr"/>
          <a:lstStyle/>
          <a:p>
            <a:pPr indent="0" marL="0">
              <a:lnSpc>
                <a:spcPts val="1600"/>
              </a:lnSpc>
              <a:buNone/>
            </a:pPr>
            <a:r>
              <a:rPr lang="en-US" sz="1200" dirty="0">
                <a:solidFill>
                  <a:srgbClr val="1F2A36"/>
                </a:solidFill>
                <a:latin typeface="Calibri" pitchFamily="34" charset="0"/>
                <a:ea typeface="Calibri" pitchFamily="34" charset="-122"/>
                <a:cs typeface="Calibri" pitchFamily="34" charset="-120"/>
              </a:rPr>
              <a:t>Mapeen al menos 5 riesgos recorriendo las capas del sistema: interfaz, lógica, datos e integraciones. Usen Risk Storming sobre su diagrama de contenedores.</a:t>
            </a:r>
            <a:endParaRPr lang="en-US" sz="1200" dirty="0"/>
          </a:p>
        </p:txBody>
      </p:sp>
      <p:sp>
        <p:nvSpPr>
          <p:cNvPr id="22" name="Shape 20"/>
          <p:cNvSpPr/>
          <p:nvPr/>
        </p:nvSpPr>
        <p:spPr>
          <a:xfrm>
            <a:off x="685800" y="3383280"/>
            <a:ext cx="7589520" cy="1298448"/>
          </a:xfrm>
          <a:prstGeom prst="rect">
            <a:avLst/>
          </a:prstGeom>
          <a:solidFill>
            <a:srgbClr val="FFFFFF"/>
          </a:solidFill>
          <a:ln w="12700">
            <a:solidFill>
              <a:srgbClr val="C6C4B8"/>
            </a:solidFill>
            <a:prstDash val="solid"/>
          </a:ln>
        </p:spPr>
        <p:txBody>
          <a:bodyPr/>
          <a:p/>
        </p:txBody>
      </p:sp>
      <p:sp>
        <p:nvSpPr>
          <p:cNvPr id="23" name="Shape 21"/>
          <p:cNvSpPr/>
          <p:nvPr/>
        </p:nvSpPr>
        <p:spPr>
          <a:xfrm>
            <a:off x="685800" y="3383280"/>
            <a:ext cx="1051560" cy="1298448"/>
          </a:xfrm>
          <a:prstGeom prst="rect">
            <a:avLst/>
          </a:prstGeom>
          <a:solidFill>
            <a:srgbClr val="16273F"/>
          </a:solidFill>
          <a:ln w="12700">
            <a:solidFill>
              <a:srgbClr val="16273F"/>
            </a:solidFill>
            <a:prstDash val="solid"/>
          </a:ln>
        </p:spPr>
        <p:txBody>
          <a:bodyPr/>
          <a:p/>
        </p:txBody>
      </p:sp>
      <p:sp>
        <p:nvSpPr>
          <p:cNvPr id="24" name="Text 22"/>
          <p:cNvSpPr txBox="1"/>
          <p:nvPr/>
        </p:nvSpPr>
        <p:spPr>
          <a:xfrm>
            <a:off x="685800" y="3383280"/>
            <a:ext cx="1051560" cy="12984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15 min</a:t>
            </a:r>
            <a:endParaRPr lang="en-US" sz="1200" dirty="0"/>
          </a:p>
        </p:txBody>
      </p:sp>
      <p:sp>
        <p:nvSpPr>
          <p:cNvPr id="25" name="Text 23"/>
          <p:cNvSpPr txBox="1"/>
          <p:nvPr/>
        </p:nvSpPr>
        <p:spPr>
          <a:xfrm>
            <a:off x="1965960" y="3547872"/>
            <a:ext cx="6126480" cy="292608"/>
          </a:xfrm>
          <a:prstGeom prst="rect">
            <a:avLst/>
          </a:prstGeom>
          <a:noFill/>
          <a:ln/>
        </p:spPr>
        <p:txBody>
          <a:bodyPr wrap="square" lIns="0" tIns="0" rIns="0" bIns="0" rtlCol="0" anchor="ctr"/>
          <a:lstStyle/>
          <a:p>
            <a:pPr indent="0" marL="0">
              <a:buNone/>
            </a:pPr>
            <a:r>
              <a:rPr lang="en-US" sz="1500" b="1" dirty="0">
                <a:solidFill>
                  <a:srgbClr val="16273F"/>
                </a:solidFill>
                <a:latin typeface="Arial" pitchFamily="34" charset="0"/>
                <a:ea typeface="Arial" pitchFamily="34" charset="-122"/>
                <a:cs typeface="Arial" pitchFamily="34" charset="-120"/>
              </a:rPr>
              <a:t>Evaluación rigurosa</a:t>
            </a:r>
            <a:endParaRPr lang="en-US" sz="1500" dirty="0"/>
          </a:p>
        </p:txBody>
      </p:sp>
      <p:sp>
        <p:nvSpPr>
          <p:cNvPr id="26" name="Text 24"/>
          <p:cNvSpPr txBox="1"/>
          <p:nvPr/>
        </p:nvSpPr>
        <p:spPr>
          <a:xfrm>
            <a:off x="1965960" y="3886200"/>
            <a:ext cx="6126480" cy="685800"/>
          </a:xfrm>
          <a:prstGeom prst="rect">
            <a:avLst/>
          </a:prstGeom>
          <a:noFill/>
          <a:ln/>
        </p:spPr>
        <p:txBody>
          <a:bodyPr wrap="square" lIns="0" tIns="0" rIns="0" bIns="0" rtlCol="0" anchor="ctr"/>
          <a:lstStyle/>
          <a:p>
            <a:pPr indent="0" marL="0">
              <a:lnSpc>
                <a:spcPts val="1600"/>
              </a:lnSpc>
              <a:buNone/>
            </a:pPr>
            <a:r>
              <a:rPr lang="en-US" sz="1200" dirty="0">
                <a:solidFill>
                  <a:srgbClr val="1F2A36"/>
                </a:solidFill>
                <a:latin typeface="Calibri" pitchFamily="34" charset="0"/>
                <a:ea typeface="Calibri" pitchFamily="34" charset="-122"/>
                <a:cs typeface="Calibri" pitchFamily="34" charset="-120"/>
              </a:rPr>
              <a:t>Ubiquen cada riesgo en la matriz de impacto y probabilidad. Escriban la justificación: por qué ese cuadrante y no el vecino.</a:t>
            </a:r>
            <a:endParaRPr lang="en-US" sz="1200" dirty="0"/>
          </a:p>
        </p:txBody>
      </p:sp>
      <p:sp>
        <p:nvSpPr>
          <p:cNvPr id="27" name="Shape 25"/>
          <p:cNvSpPr/>
          <p:nvPr/>
        </p:nvSpPr>
        <p:spPr>
          <a:xfrm>
            <a:off x="685800" y="4754880"/>
            <a:ext cx="7589520" cy="1298448"/>
          </a:xfrm>
          <a:prstGeom prst="rect">
            <a:avLst/>
          </a:prstGeom>
          <a:solidFill>
            <a:srgbClr val="FFFFFF"/>
          </a:solidFill>
          <a:ln w="12700">
            <a:solidFill>
              <a:srgbClr val="C6C4B8"/>
            </a:solidFill>
            <a:prstDash val="solid"/>
          </a:ln>
        </p:spPr>
        <p:txBody>
          <a:bodyPr/>
          <a:p/>
        </p:txBody>
      </p:sp>
      <p:sp>
        <p:nvSpPr>
          <p:cNvPr id="28" name="Shape 26"/>
          <p:cNvSpPr/>
          <p:nvPr/>
        </p:nvSpPr>
        <p:spPr>
          <a:xfrm>
            <a:off x="685800" y="4754880"/>
            <a:ext cx="1051560" cy="1298448"/>
          </a:xfrm>
          <a:prstGeom prst="rect">
            <a:avLst/>
          </a:prstGeom>
          <a:solidFill>
            <a:srgbClr val="B85C2E"/>
          </a:solidFill>
          <a:ln w="12700">
            <a:solidFill>
              <a:srgbClr val="B85C2E"/>
            </a:solidFill>
            <a:prstDash val="solid"/>
          </a:ln>
        </p:spPr>
        <p:txBody>
          <a:bodyPr/>
          <a:p/>
        </p:txBody>
      </p:sp>
      <p:sp>
        <p:nvSpPr>
          <p:cNvPr id="29" name="Text 27"/>
          <p:cNvSpPr txBox="1"/>
          <p:nvPr/>
        </p:nvSpPr>
        <p:spPr>
          <a:xfrm>
            <a:off x="685800" y="4754880"/>
            <a:ext cx="1051560" cy="12984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15 min</a:t>
            </a:r>
            <a:endParaRPr lang="en-US" sz="1200" dirty="0"/>
          </a:p>
        </p:txBody>
      </p:sp>
      <p:sp>
        <p:nvSpPr>
          <p:cNvPr id="30" name="Text 28"/>
          <p:cNvSpPr txBox="1"/>
          <p:nvPr/>
        </p:nvSpPr>
        <p:spPr>
          <a:xfrm>
            <a:off x="1965960" y="4919472"/>
            <a:ext cx="6126480" cy="292608"/>
          </a:xfrm>
          <a:prstGeom prst="rect">
            <a:avLst/>
          </a:prstGeom>
          <a:noFill/>
          <a:ln/>
        </p:spPr>
        <p:txBody>
          <a:bodyPr wrap="square" lIns="0" tIns="0" rIns="0" bIns="0" rtlCol="0" anchor="ctr"/>
          <a:lstStyle/>
          <a:p>
            <a:pPr indent="0" marL="0">
              <a:buNone/>
            </a:pPr>
            <a:r>
              <a:rPr lang="en-US" sz="1500" b="1" dirty="0">
                <a:solidFill>
                  <a:srgbClr val="16273F"/>
                </a:solidFill>
                <a:latin typeface="Arial" pitchFamily="34" charset="0"/>
                <a:ea typeface="Arial" pitchFamily="34" charset="-122"/>
                <a:cs typeface="Arial" pitchFamily="34" charset="-120"/>
              </a:rPr>
              <a:t>Defensa de la mitigación</a:t>
            </a:r>
            <a:endParaRPr lang="en-US" sz="1500" dirty="0"/>
          </a:p>
        </p:txBody>
      </p:sp>
      <p:sp>
        <p:nvSpPr>
          <p:cNvPr id="31" name="Text 29"/>
          <p:cNvSpPr txBox="1"/>
          <p:nvPr/>
        </p:nvSpPr>
        <p:spPr>
          <a:xfrm>
            <a:off x="1965960" y="5257800"/>
            <a:ext cx="6126480" cy="685800"/>
          </a:xfrm>
          <a:prstGeom prst="rect">
            <a:avLst/>
          </a:prstGeom>
          <a:noFill/>
          <a:ln/>
        </p:spPr>
        <p:txBody>
          <a:bodyPr wrap="square" lIns="0" tIns="0" rIns="0" bIns="0" rtlCol="0" anchor="ctr"/>
          <a:lstStyle/>
          <a:p>
            <a:pPr indent="0" marL="0">
              <a:lnSpc>
                <a:spcPts val="1600"/>
              </a:lnSpc>
              <a:buNone/>
            </a:pPr>
            <a:r>
              <a:rPr lang="en-US" sz="1200" dirty="0">
                <a:solidFill>
                  <a:srgbClr val="1F2A36"/>
                </a:solidFill>
                <a:latin typeface="Calibri" pitchFamily="34" charset="0"/>
                <a:ea typeface="Calibri" pitchFamily="34" charset="-122"/>
                <a:cs typeface="Calibri" pitchFamily="34" charset="-120"/>
              </a:rPr>
              <a:t>Propongan una estrategia por riesgo crítico —eliminar, reducir, transferir o aceptar— y anticipen la pregunta que les va a hacer el comité.</a:t>
            </a:r>
            <a:endParaRPr lang="en-US" sz="1200" dirty="0"/>
          </a:p>
        </p:txBody>
      </p:sp>
      <p:sp>
        <p:nvSpPr>
          <p:cNvPr id="32" name="Shape 30"/>
          <p:cNvSpPr/>
          <p:nvPr/>
        </p:nvSpPr>
        <p:spPr>
          <a:xfrm>
            <a:off x="8549640" y="2011680"/>
            <a:ext cx="2953512" cy="4041648"/>
          </a:xfrm>
          <a:prstGeom prst="rect">
            <a:avLst/>
          </a:prstGeom>
          <a:solidFill>
            <a:srgbClr val="16273F"/>
          </a:solidFill>
          <a:ln w="12700">
            <a:solidFill>
              <a:srgbClr val="16273F"/>
            </a:solidFill>
            <a:prstDash val="solid"/>
          </a:ln>
        </p:spPr>
        <p:txBody>
          <a:bodyPr/>
          <a:p/>
        </p:txBody>
      </p:sp>
      <p:sp>
        <p:nvSpPr>
          <p:cNvPr id="33" name="Text 31"/>
          <p:cNvSpPr txBox="1"/>
          <p:nvPr/>
        </p:nvSpPr>
        <p:spPr>
          <a:xfrm>
            <a:off x="8778240" y="2212848"/>
            <a:ext cx="2560320" cy="219456"/>
          </a:xfrm>
          <a:prstGeom prst="rect">
            <a:avLst/>
          </a:prstGeom>
          <a:noFill/>
          <a:ln/>
        </p:spPr>
        <p:txBody>
          <a:bodyPr wrap="square" lIns="0" tIns="0" rIns="0" bIns="0" rtlCol="0" anchor="ctr"/>
          <a:lstStyle/>
          <a:p>
            <a:pPr indent="0" marL="0">
              <a:buNone/>
            </a:pPr>
            <a:r>
              <a:rPr lang="en-US" sz="850" spc="50" kern="0" dirty="0">
                <a:solidFill>
                  <a:srgbClr val="E8A66B"/>
                </a:solidFill>
                <a:latin typeface="Courier New" pitchFamily="34" charset="0"/>
                <a:ea typeface="Courier New" pitchFamily="34" charset="-122"/>
                <a:cs typeface="Courier New" pitchFamily="34" charset="-120"/>
              </a:rPr>
              <a:t>LO QUE PREGUNTA EL COMITÉ</a:t>
            </a:r>
            <a:endParaRPr lang="en-US" sz="850" dirty="0"/>
          </a:p>
        </p:txBody>
      </p:sp>
      <p:sp>
        <p:nvSpPr>
          <p:cNvPr id="34" name="Text 32"/>
          <p:cNvSpPr txBox="1"/>
          <p:nvPr/>
        </p:nvSpPr>
        <p:spPr>
          <a:xfrm>
            <a:off x="8778240" y="2560320"/>
            <a:ext cx="2514600" cy="3291840"/>
          </a:xfrm>
          <a:prstGeom prst="rect">
            <a:avLst/>
          </a:prstGeom>
          <a:noFill/>
          <a:ln/>
        </p:spPr>
        <p:txBody>
          <a:bodyPr wrap="square" lIns="0" tIns="0" rIns="0" bIns="0" rtlCol="0" anchor="ctr"/>
          <a:lstStyle/>
          <a:p>
            <a:pPr marL="342900" indent="-342900">
              <a:spcAft>
                <a:spcPts val="1300"/>
              </a:spcAft>
              <a:buSzPct val="100000"/>
              <a:buChar char="•"/>
            </a:pPr>
            <a:r>
              <a:rPr lang="en-US" sz="1250" dirty="0">
                <a:solidFill>
                  <a:srgbClr val="FFFFFF"/>
                </a:solidFill>
                <a:latin typeface="Calibri" pitchFamily="34" charset="0"/>
                <a:ea typeface="Calibri" pitchFamily="34" charset="-122"/>
                <a:cs typeface="Calibri" pitchFamily="34" charset="-120"/>
              </a:rPr>
              <a:t>¿Por qué este riesgo y no otro?</a:t>
            </a:r>
            <a:endParaRPr lang="en-US" sz="1250" dirty="0"/>
          </a:p>
          <a:p>
            <a:pPr marL="342900" indent="-342900">
              <a:spcAft>
                <a:spcPts val="1300"/>
              </a:spcAft>
              <a:buSzPct val="100000"/>
              <a:buChar char="•"/>
            </a:pPr>
            <a:r>
              <a:rPr lang="en-US" sz="1250" dirty="0">
                <a:solidFill>
                  <a:srgbClr val="FFFFFF"/>
                </a:solidFill>
                <a:latin typeface="Calibri" pitchFamily="34" charset="0"/>
                <a:ea typeface="Calibri" pitchFamily="34" charset="-122"/>
                <a:cs typeface="Calibri" pitchFamily="34" charset="-120"/>
              </a:rPr>
              <a:t>¿Qué evidencia respalda esa probabilidad?</a:t>
            </a:r>
            <a:endParaRPr lang="en-US" sz="1250" dirty="0"/>
          </a:p>
          <a:p>
            <a:pPr marL="342900" indent="-342900">
              <a:spcAft>
                <a:spcPts val="1300"/>
              </a:spcAft>
              <a:buSzPct val="100000"/>
              <a:buChar char="•"/>
            </a:pPr>
            <a:r>
              <a:rPr lang="en-US" sz="1250" dirty="0">
                <a:solidFill>
                  <a:srgbClr val="FFFFFF"/>
                </a:solidFill>
                <a:latin typeface="Calibri" pitchFamily="34" charset="0"/>
                <a:ea typeface="Calibri" pitchFamily="34" charset="-122"/>
                <a:cs typeface="Calibri" pitchFamily="34" charset="-120"/>
              </a:rPr>
              <a:t>¿Cuánto cuesta mitigarlo y cuánto cuesta no hacerlo?</a:t>
            </a:r>
            <a:endParaRPr lang="en-US" sz="1250" dirty="0"/>
          </a:p>
          <a:p>
            <a:pPr marL="342900" indent="-342900">
              <a:buSzPct val="100000"/>
              <a:buChar char="•"/>
            </a:pPr>
            <a:r>
              <a:rPr lang="en-US" sz="1250" dirty="0">
                <a:solidFill>
                  <a:srgbClr val="FFFFFF"/>
                </a:solidFill>
                <a:latin typeface="Calibri" pitchFamily="34" charset="0"/>
                <a:ea typeface="Calibri" pitchFamily="34" charset="-122"/>
                <a:cs typeface="Calibri" pitchFamily="34" charset="-120"/>
              </a:rPr>
              <a:t>¿Qué riesgo decidieron aceptar y por qué?</a:t>
            </a:r>
            <a:endParaRPr lang="en-US" sz="1250" dirty="0"/>
          </a:p>
        </p:txBody>
      </p:sp>
      <p:sp>
        <p:nvSpPr>
          <p:cNvPr id="35" name="Text 33"/>
          <p:cNvSpPr txBox="1"/>
          <p:nvPr/>
        </p:nvSpPr>
        <p:spPr>
          <a:xfrm>
            <a:off x="685800" y="6583680"/>
            <a:ext cx="6400800" cy="237744"/>
          </a:xfrm>
          <a:prstGeom prst="rect">
            <a:avLst/>
          </a:prstGeom>
          <a:noFill/>
          <a:ln/>
        </p:spPr>
        <p:txBody>
          <a:bodyPr wrap="square" lIns="0" tIns="0" rIns="0" bIns="0" rtlCol="0" anchor="ctr"/>
          <a:lstStyle/>
          <a:p>
            <a:pPr indent="0" marL="0">
              <a:buNone/>
            </a:pPr>
            <a:r>
              <a:rPr lang="en-US" sz="800" dirty="0">
                <a:solidFill>
                  <a:srgbClr val="707C86"/>
                </a:solidFill>
                <a:latin typeface="Courier New" pitchFamily="34" charset="0"/>
                <a:ea typeface="Courier New" pitchFamily="34" charset="-122"/>
                <a:cs typeface="Courier New" pitchFamily="34" charset="-120"/>
              </a:rPr>
              <a:t>AREM · Módulo 9 · Evaluación de Riesgos Arquitectónicos</a:t>
            </a:r>
            <a:endParaRPr lang="en-US" sz="800" dirty="0"/>
          </a:p>
        </p:txBody>
      </p:sp>
      <p:sp>
        <p:nvSpPr>
          <p:cNvPr id="36" name="Text 34"/>
          <p:cNvSpPr txBox="1"/>
          <p:nvPr/>
        </p:nvSpPr>
        <p:spPr>
          <a:xfrm>
            <a:off x="10881360" y="6583680"/>
            <a:ext cx="621792" cy="237744"/>
          </a:xfrm>
          <a:prstGeom prst="rect">
            <a:avLst/>
          </a:prstGeom>
          <a:noFill/>
          <a:ln/>
        </p:spPr>
        <p:txBody>
          <a:bodyPr wrap="square" lIns="0" tIns="0" rIns="0" bIns="0" rtlCol="0" anchor="ctr"/>
          <a:lstStyle/>
          <a:p>
            <a:pPr algn="r" indent="0" marL="0">
              <a:buNone/>
            </a:pPr>
            <a:r>
              <a:rPr lang="en-US" sz="800" dirty="0">
                <a:solidFill>
                  <a:srgbClr val="707C86"/>
                </a:solidFill>
                <a:latin typeface="Courier New" pitchFamily="34" charset="0"/>
                <a:ea typeface="Courier New" pitchFamily="34" charset="-122"/>
                <a:cs typeface="Courier New"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273F"/>
        </a:solidFill>
      </p:bgPr>
    </p:bg>
    <p:spTree>
      <p:nvGrpSpPr>
        <p:cNvPr id="1" name=""/>
        <p:cNvGrpSpPr/>
        <p:nvPr/>
      </p:nvGrpSpPr>
      <p:grpSpPr>
        <a:xfrm>
          <a:off x="0" y="0"/>
          <a:ext cx="0" cy="0"/>
          <a:chOff x="0" y="0"/>
          <a:chExt cx="0" cy="0"/>
        </a:xfrm>
      </p:grpSpPr>
      <p:sp>
        <p:nvSpPr>
          <p:cNvPr id="2" name="Shape 0"/>
          <p:cNvSpPr/>
          <p:nvPr/>
        </p:nvSpPr>
        <p:spPr>
          <a:xfrm>
            <a:off x="685800" y="685800"/>
            <a:ext cx="10817352" cy="5486400"/>
          </a:xfrm>
          <a:prstGeom prst="rect">
            <a:avLst/>
          </a:prstGeom>
          <a:solidFill>
            <a:srgbClr val="16273F"/>
          </a:solidFill>
          <a:ln w="12700">
            <a:solidFill>
              <a:srgbClr val="486680"/>
            </a:solidFill>
            <a:prstDash val="solid"/>
          </a:ln>
        </p:spPr>
        <p:txBody>
          <a:bodyPr/>
          <a:p/>
        </p:txBody>
      </p:sp>
      <p:sp>
        <p:nvSpPr>
          <p:cNvPr id="3" name="Text 1"/>
          <p:cNvSpPr txBox="1"/>
          <p:nvPr/>
        </p:nvSpPr>
        <p:spPr>
          <a:xfrm>
            <a:off x="1143000" y="1005840"/>
            <a:ext cx="5486400" cy="274320"/>
          </a:xfrm>
          <a:prstGeom prst="rect">
            <a:avLst/>
          </a:prstGeom>
          <a:noFill/>
          <a:ln/>
        </p:spPr>
        <p:txBody>
          <a:bodyPr wrap="square" lIns="0" tIns="0" rIns="0" bIns="0" rtlCol="0" anchor="ctr"/>
          <a:lstStyle/>
          <a:p>
            <a:pPr indent="0" marL="0">
              <a:buNone/>
            </a:pPr>
            <a:r>
              <a:rPr lang="en-US" sz="1000" spc="150" kern="0" dirty="0">
                <a:solidFill>
                  <a:srgbClr val="E8A66B"/>
                </a:solidFill>
                <a:latin typeface="Courier New" pitchFamily="34" charset="0"/>
                <a:ea typeface="Courier New" pitchFamily="34" charset="-122"/>
                <a:cs typeface="Courier New" pitchFamily="34" charset="-120"/>
              </a:rPr>
              <a:t>PARA LLEVARSE</a:t>
            </a:r>
            <a:endParaRPr lang="en-US" sz="1000" dirty="0"/>
          </a:p>
        </p:txBody>
      </p:sp>
      <p:sp>
        <p:nvSpPr>
          <p:cNvPr id="4" name="Text 2"/>
          <p:cNvSpPr txBox="1"/>
          <p:nvPr/>
        </p:nvSpPr>
        <p:spPr>
          <a:xfrm>
            <a:off x="1143000" y="1325880"/>
            <a:ext cx="9601200" cy="5486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El manifiesto del riesgo arquitectónico</a:t>
            </a:r>
            <a:endParaRPr lang="en-US" sz="3000" dirty="0"/>
          </a:p>
        </p:txBody>
      </p:sp>
      <p:sp>
        <p:nvSpPr>
          <p:cNvPr id="5" name="Text 3"/>
          <p:cNvSpPr txBox="1"/>
          <p:nvPr/>
        </p:nvSpPr>
        <p:spPr>
          <a:xfrm>
            <a:off x="1143000" y="2148840"/>
            <a:ext cx="502920" cy="274320"/>
          </a:xfrm>
          <a:prstGeom prst="rect">
            <a:avLst/>
          </a:prstGeom>
          <a:noFill/>
          <a:ln/>
        </p:spPr>
        <p:txBody>
          <a:bodyPr wrap="square" lIns="0" tIns="0" rIns="0" bIns="0" rtlCol="0" anchor="ctr"/>
          <a:lstStyle/>
          <a:p>
            <a:pPr indent="0" marL="0">
              <a:buNone/>
            </a:pPr>
            <a:r>
              <a:rPr lang="en-US" sz="1300" b="1" dirty="0">
                <a:solidFill>
                  <a:srgbClr val="E8A66B"/>
                </a:solidFill>
                <a:latin typeface="Courier New" pitchFamily="34" charset="0"/>
                <a:ea typeface="Courier New" pitchFamily="34" charset="-122"/>
                <a:cs typeface="Courier New" pitchFamily="34" charset="-120"/>
              </a:rPr>
              <a:t>01</a:t>
            </a:r>
            <a:endParaRPr lang="en-US" sz="1300" dirty="0"/>
          </a:p>
        </p:txBody>
      </p:sp>
      <p:sp>
        <p:nvSpPr>
          <p:cNvPr id="6" name="Text 4"/>
          <p:cNvSpPr txBox="1"/>
          <p:nvPr/>
        </p:nvSpPr>
        <p:spPr>
          <a:xfrm>
            <a:off x="1783080" y="2148840"/>
            <a:ext cx="265176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Detección proactiva</a:t>
            </a:r>
            <a:endParaRPr lang="en-US" sz="1400" dirty="0"/>
          </a:p>
        </p:txBody>
      </p:sp>
      <p:sp>
        <p:nvSpPr>
          <p:cNvPr id="7" name="Text 5"/>
          <p:cNvSpPr txBox="1"/>
          <p:nvPr/>
        </p:nvSpPr>
        <p:spPr>
          <a:xfrm>
            <a:off x="4526280" y="2148840"/>
            <a:ext cx="3566160" cy="566928"/>
          </a:xfrm>
          <a:prstGeom prst="rect">
            <a:avLst/>
          </a:prstGeom>
          <a:noFill/>
          <a:ln/>
        </p:spPr>
        <p:txBody>
          <a:bodyPr wrap="square" lIns="0" tIns="0" rIns="0" bIns="0" rtlCol="0" anchor="ctr"/>
          <a:lstStyle/>
          <a:p>
            <a:pPr indent="0" marL="0">
              <a:lnSpc>
                <a:spcPts val="1700"/>
              </a:lnSpc>
              <a:buNone/>
            </a:pPr>
            <a:r>
              <a:rPr lang="en-US" sz="1250" dirty="0">
                <a:solidFill>
                  <a:srgbClr val="C7D6E0"/>
                </a:solidFill>
                <a:latin typeface="Calibri" pitchFamily="34" charset="0"/>
                <a:ea typeface="Calibri" pitchFamily="34" charset="-122"/>
                <a:cs typeface="Calibri" pitchFamily="34" charset="-120"/>
              </a:rPr>
              <a:t>Descubrir dependencias ocultas a tiempo evita reestructuraciones exponenciales.</a:t>
            </a:r>
            <a:endParaRPr lang="en-US" sz="1250" dirty="0"/>
          </a:p>
        </p:txBody>
      </p:sp>
      <p:sp>
        <p:nvSpPr>
          <p:cNvPr id="8" name="Text 6"/>
          <p:cNvSpPr txBox="1"/>
          <p:nvPr/>
        </p:nvSpPr>
        <p:spPr>
          <a:xfrm>
            <a:off x="1143000" y="2926080"/>
            <a:ext cx="502920" cy="274320"/>
          </a:xfrm>
          <a:prstGeom prst="rect">
            <a:avLst/>
          </a:prstGeom>
          <a:noFill/>
          <a:ln/>
        </p:spPr>
        <p:txBody>
          <a:bodyPr wrap="square" lIns="0" tIns="0" rIns="0" bIns="0" rtlCol="0" anchor="ctr"/>
          <a:lstStyle/>
          <a:p>
            <a:pPr indent="0" marL="0">
              <a:buNone/>
            </a:pPr>
            <a:r>
              <a:rPr lang="en-US" sz="1300" b="1" dirty="0">
                <a:solidFill>
                  <a:srgbClr val="E8A66B"/>
                </a:solidFill>
                <a:latin typeface="Courier New" pitchFamily="34" charset="0"/>
                <a:ea typeface="Courier New" pitchFamily="34" charset="-122"/>
                <a:cs typeface="Courier New" pitchFamily="34" charset="-120"/>
              </a:rPr>
              <a:t>02</a:t>
            </a:r>
            <a:endParaRPr lang="en-US" sz="1300" dirty="0"/>
          </a:p>
        </p:txBody>
      </p:sp>
      <p:sp>
        <p:nvSpPr>
          <p:cNvPr id="9" name="Text 7"/>
          <p:cNvSpPr txBox="1"/>
          <p:nvPr/>
        </p:nvSpPr>
        <p:spPr>
          <a:xfrm>
            <a:off x="1783080" y="2926080"/>
            <a:ext cx="265176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Comunicación clara</a:t>
            </a:r>
            <a:endParaRPr lang="en-US" sz="1400" dirty="0"/>
          </a:p>
        </p:txBody>
      </p:sp>
      <p:sp>
        <p:nvSpPr>
          <p:cNvPr id="10" name="Text 8"/>
          <p:cNvSpPr txBox="1"/>
          <p:nvPr/>
        </p:nvSpPr>
        <p:spPr>
          <a:xfrm>
            <a:off x="4526280" y="2926080"/>
            <a:ext cx="3566160" cy="566928"/>
          </a:xfrm>
          <a:prstGeom prst="rect">
            <a:avLst/>
          </a:prstGeom>
          <a:noFill/>
          <a:ln/>
        </p:spPr>
        <p:txBody>
          <a:bodyPr wrap="square" lIns="0" tIns="0" rIns="0" bIns="0" rtlCol="0" anchor="ctr"/>
          <a:lstStyle/>
          <a:p>
            <a:pPr indent="0" marL="0">
              <a:lnSpc>
                <a:spcPts val="1700"/>
              </a:lnSpc>
              <a:buNone/>
            </a:pPr>
            <a:r>
              <a:rPr lang="en-US" sz="1250" dirty="0">
                <a:solidFill>
                  <a:srgbClr val="C7D6E0"/>
                </a:solidFill>
                <a:latin typeface="Calibri" pitchFamily="34" charset="0"/>
                <a:ea typeface="Calibri" pitchFamily="34" charset="-122"/>
                <a:cs typeface="Calibri" pitchFamily="34" charset="-120"/>
              </a:rPr>
              <a:t>Traducir la complejidad técnica en impacto de negocio para alinear al cliente.</a:t>
            </a:r>
            <a:endParaRPr lang="en-US" sz="1250" dirty="0"/>
          </a:p>
        </p:txBody>
      </p:sp>
      <p:sp>
        <p:nvSpPr>
          <p:cNvPr id="11" name="Text 9"/>
          <p:cNvSpPr txBox="1"/>
          <p:nvPr/>
        </p:nvSpPr>
        <p:spPr>
          <a:xfrm>
            <a:off x="1143000" y="3703320"/>
            <a:ext cx="502920" cy="274320"/>
          </a:xfrm>
          <a:prstGeom prst="rect">
            <a:avLst/>
          </a:prstGeom>
          <a:noFill/>
          <a:ln/>
        </p:spPr>
        <p:txBody>
          <a:bodyPr wrap="square" lIns="0" tIns="0" rIns="0" bIns="0" rtlCol="0" anchor="ctr"/>
          <a:lstStyle/>
          <a:p>
            <a:pPr indent="0" marL="0">
              <a:buNone/>
            </a:pPr>
            <a:r>
              <a:rPr lang="en-US" sz="1300" b="1" dirty="0">
                <a:solidFill>
                  <a:srgbClr val="E8A66B"/>
                </a:solidFill>
                <a:latin typeface="Courier New" pitchFamily="34" charset="0"/>
                <a:ea typeface="Courier New" pitchFamily="34" charset="-122"/>
                <a:cs typeface="Courier New" pitchFamily="34" charset="-120"/>
              </a:rPr>
              <a:t>03</a:t>
            </a:r>
            <a:endParaRPr lang="en-US" sz="1300" dirty="0"/>
          </a:p>
        </p:txBody>
      </p:sp>
      <p:sp>
        <p:nvSpPr>
          <p:cNvPr id="12" name="Text 10"/>
          <p:cNvSpPr txBox="1"/>
          <p:nvPr/>
        </p:nvSpPr>
        <p:spPr>
          <a:xfrm>
            <a:off x="1783080" y="3703320"/>
            <a:ext cx="265176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Enfoque estructurado</a:t>
            </a:r>
            <a:endParaRPr lang="en-US" sz="1400" dirty="0"/>
          </a:p>
        </p:txBody>
      </p:sp>
      <p:sp>
        <p:nvSpPr>
          <p:cNvPr id="13" name="Text 11"/>
          <p:cNvSpPr txBox="1"/>
          <p:nvPr/>
        </p:nvSpPr>
        <p:spPr>
          <a:xfrm>
            <a:off x="4526280" y="3703320"/>
            <a:ext cx="3566160" cy="566928"/>
          </a:xfrm>
          <a:prstGeom prst="rect">
            <a:avLst/>
          </a:prstGeom>
          <a:noFill/>
          <a:ln/>
        </p:spPr>
        <p:txBody>
          <a:bodyPr wrap="square" lIns="0" tIns="0" rIns="0" bIns="0" rtlCol="0" anchor="ctr"/>
          <a:lstStyle/>
          <a:p>
            <a:pPr indent="0" marL="0">
              <a:lnSpc>
                <a:spcPts val="1700"/>
              </a:lnSpc>
              <a:buNone/>
            </a:pPr>
            <a:r>
              <a:rPr lang="en-US" sz="1250" dirty="0">
                <a:solidFill>
                  <a:srgbClr val="C7D6E0"/>
                </a:solidFill>
                <a:latin typeface="Calibri" pitchFamily="34" charset="0"/>
                <a:ea typeface="Calibri" pitchFamily="34" charset="-122"/>
                <a:cs typeface="Calibri" pitchFamily="34" charset="-120"/>
              </a:rPr>
              <a:t>Usar métodos probados —ATAM, Risk Storming, Bow-Tie— reduce la omisión humana.</a:t>
            </a:r>
            <a:endParaRPr lang="en-US" sz="1250" dirty="0"/>
          </a:p>
        </p:txBody>
      </p:sp>
      <p:sp>
        <p:nvSpPr>
          <p:cNvPr id="14" name="Text 12"/>
          <p:cNvSpPr txBox="1"/>
          <p:nvPr/>
        </p:nvSpPr>
        <p:spPr>
          <a:xfrm>
            <a:off x="1143000" y="4480560"/>
            <a:ext cx="502920" cy="274320"/>
          </a:xfrm>
          <a:prstGeom prst="rect">
            <a:avLst/>
          </a:prstGeom>
          <a:noFill/>
          <a:ln/>
        </p:spPr>
        <p:txBody>
          <a:bodyPr wrap="square" lIns="0" tIns="0" rIns="0" bIns="0" rtlCol="0" anchor="ctr"/>
          <a:lstStyle/>
          <a:p>
            <a:pPr indent="0" marL="0">
              <a:buNone/>
            </a:pPr>
            <a:r>
              <a:rPr lang="en-US" sz="1300" b="1" dirty="0">
                <a:solidFill>
                  <a:srgbClr val="E8A66B"/>
                </a:solidFill>
                <a:latin typeface="Courier New" pitchFamily="34" charset="0"/>
                <a:ea typeface="Courier New" pitchFamily="34" charset="-122"/>
                <a:cs typeface="Courier New" pitchFamily="34" charset="-120"/>
              </a:rPr>
              <a:t>04</a:t>
            </a:r>
            <a:endParaRPr lang="en-US" sz="1300" dirty="0"/>
          </a:p>
        </p:txBody>
      </p:sp>
      <p:sp>
        <p:nvSpPr>
          <p:cNvPr id="15" name="Text 13"/>
          <p:cNvSpPr txBox="1"/>
          <p:nvPr/>
        </p:nvSpPr>
        <p:spPr>
          <a:xfrm>
            <a:off x="1783080" y="4480560"/>
            <a:ext cx="265176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Adaptabilidad continua</a:t>
            </a:r>
            <a:endParaRPr lang="en-US" sz="1400" dirty="0"/>
          </a:p>
        </p:txBody>
      </p:sp>
      <p:sp>
        <p:nvSpPr>
          <p:cNvPr id="16" name="Text 14"/>
          <p:cNvSpPr txBox="1"/>
          <p:nvPr/>
        </p:nvSpPr>
        <p:spPr>
          <a:xfrm>
            <a:off x="4526280" y="4480560"/>
            <a:ext cx="3566160" cy="566928"/>
          </a:xfrm>
          <a:prstGeom prst="rect">
            <a:avLst/>
          </a:prstGeom>
          <a:noFill/>
          <a:ln/>
        </p:spPr>
        <p:txBody>
          <a:bodyPr wrap="square" lIns="0" tIns="0" rIns="0" bIns="0" rtlCol="0" anchor="ctr"/>
          <a:lstStyle/>
          <a:p>
            <a:pPr indent="0" marL="0">
              <a:lnSpc>
                <a:spcPts val="1700"/>
              </a:lnSpc>
              <a:buNone/>
            </a:pPr>
            <a:r>
              <a:rPr lang="en-US" sz="1250" dirty="0">
                <a:solidFill>
                  <a:srgbClr val="C7D6E0"/>
                </a:solidFill>
                <a:latin typeface="Calibri" pitchFamily="34" charset="0"/>
                <a:ea typeface="Calibri" pitchFamily="34" charset="-122"/>
                <a:cs typeface="Calibri" pitchFamily="34" charset="-120"/>
              </a:rPr>
              <a:t>El riesgo muta: la evaluación es un proceso vivo, no una autopsia final.</a:t>
            </a:r>
            <a:endParaRPr lang="en-US" sz="1250" dirty="0"/>
          </a:p>
        </p:txBody>
      </p:sp>
      <p:sp>
        <p:nvSpPr>
          <p:cNvPr id="17" name="Shape 15"/>
          <p:cNvSpPr/>
          <p:nvPr/>
        </p:nvSpPr>
        <p:spPr>
          <a:xfrm>
            <a:off x="1143000" y="5394960"/>
            <a:ext cx="6949440" cy="685800"/>
          </a:xfrm>
          <a:prstGeom prst="rect">
            <a:avLst/>
          </a:prstGeom>
          <a:solidFill>
            <a:srgbClr val="16273F"/>
          </a:solidFill>
          <a:ln w="12700">
            <a:solidFill>
              <a:srgbClr val="B85C2E"/>
            </a:solidFill>
            <a:prstDash val="solid"/>
          </a:ln>
        </p:spPr>
        <p:txBody>
          <a:bodyPr/>
          <a:p/>
        </p:txBody>
      </p:sp>
      <p:sp>
        <p:nvSpPr>
          <p:cNvPr id="18" name="Text 16"/>
          <p:cNvSpPr txBox="1"/>
          <p:nvPr/>
        </p:nvSpPr>
        <p:spPr>
          <a:xfrm>
            <a:off x="1325880" y="5394960"/>
            <a:ext cx="6583680" cy="685800"/>
          </a:xfrm>
          <a:prstGeom prst="rect">
            <a:avLst/>
          </a:prstGeom>
          <a:noFill/>
          <a:ln/>
        </p:spPr>
        <p:txBody>
          <a:bodyPr wrap="square" lIns="0" tIns="0" rIns="0" bIns="0" rtlCol="0" anchor="ctr"/>
          <a:lstStyle/>
          <a:p>
            <a:pPr indent="0" marL="0">
              <a:buNone/>
            </a:pPr>
            <a:r>
              <a:rPr lang="en-US" sz="1250" dirty="0">
                <a:solidFill>
                  <a:srgbClr val="D6E2E9"/>
                </a:solidFill>
                <a:latin typeface="Calibri" pitchFamily="34" charset="0"/>
                <a:ea typeface="Calibri" pitchFamily="34" charset="-122"/>
                <a:cs typeface="Calibri" pitchFamily="34" charset="-120"/>
              </a:rPr>
              <a:t>Próximo paso: Taller 9 · análisis de riesgos del sistema del cliente y defensa ante el comité.</a:t>
            </a:r>
            <a:endParaRPr lang="en-US" sz="1250" dirty="0"/>
          </a:p>
        </p:txBody>
      </p:sp>
      <p:sp>
        <p:nvSpPr>
          <p:cNvPr id="19" name="Shape 17"/>
          <p:cNvSpPr/>
          <p:nvPr/>
        </p:nvSpPr>
        <p:spPr>
          <a:xfrm>
            <a:off x="8366760" y="2148840"/>
            <a:ext cx="3136392" cy="3931920"/>
          </a:xfrm>
          <a:prstGeom prst="rect">
            <a:avLst/>
          </a:prstGeom>
          <a:solidFill>
            <a:srgbClr val="18304C"/>
          </a:solidFill>
          <a:ln w="12700">
            <a:solidFill>
              <a:srgbClr val="486680"/>
            </a:solidFill>
            <a:prstDash val="solid"/>
          </a:ln>
        </p:spPr>
        <p:txBody>
          <a:bodyPr/>
          <a:p/>
        </p:txBody>
      </p:sp>
      <p:sp>
        <p:nvSpPr>
          <p:cNvPr id="20" name="Text 18"/>
          <p:cNvSpPr txBox="1"/>
          <p:nvPr/>
        </p:nvSpPr>
        <p:spPr>
          <a:xfrm>
            <a:off x="8595360" y="2359152"/>
            <a:ext cx="2743200" cy="256032"/>
          </a:xfrm>
          <a:prstGeom prst="rect">
            <a:avLst/>
          </a:prstGeom>
          <a:noFill/>
          <a:ln/>
        </p:spPr>
        <p:txBody>
          <a:bodyPr wrap="square" lIns="0" tIns="0" rIns="0" bIns="0" rtlCol="0" anchor="ctr"/>
          <a:lstStyle/>
          <a:p>
            <a:pPr indent="0" marL="0">
              <a:buNone/>
            </a:pPr>
            <a:r>
              <a:rPr lang="en-US" sz="900" spc="100" kern="0" dirty="0">
                <a:solidFill>
                  <a:srgbClr val="E8A66B"/>
                </a:solidFill>
                <a:latin typeface="Courier New" pitchFamily="34" charset="0"/>
                <a:ea typeface="Courier New" pitchFamily="34" charset="-122"/>
                <a:cs typeface="Courier New" pitchFamily="34" charset="-120"/>
              </a:rPr>
              <a:t>LECTURAS RECOMENDADAS</a:t>
            </a:r>
            <a:endParaRPr lang="en-US" sz="900" dirty="0"/>
          </a:p>
        </p:txBody>
      </p:sp>
      <p:sp>
        <p:nvSpPr>
          <p:cNvPr id="21" name="Text 19"/>
          <p:cNvSpPr txBox="1"/>
          <p:nvPr/>
        </p:nvSpPr>
        <p:spPr>
          <a:xfrm>
            <a:off x="8595360" y="2697480"/>
            <a:ext cx="2697480" cy="3200400"/>
          </a:xfrm>
          <a:prstGeom prst="rect">
            <a:avLst/>
          </a:prstGeom>
          <a:noFill/>
          <a:ln/>
        </p:spPr>
        <p:txBody>
          <a:bodyPr wrap="square" lIns="0" tIns="0" rIns="0" bIns="0" rtlCol="0" anchor="ctr"/>
          <a:lstStyle/>
          <a:p>
            <a:pPr indent="0" marL="0">
              <a:lnSpc>
                <a:spcPts val="1500"/>
              </a:lnSpc>
              <a:spcAft>
                <a:spcPts val="1300"/>
              </a:spcAft>
              <a:buNone/>
            </a:pPr>
            <a:r>
              <a:rPr lang="en-US" sz="1150" dirty="0">
                <a:solidFill>
                  <a:srgbClr val="C7D6E0"/>
                </a:solidFill>
                <a:latin typeface="Calibri" pitchFamily="34" charset="0"/>
                <a:ea typeface="Calibri" pitchFamily="34" charset="-122"/>
                <a:cs typeface="Calibri" pitchFamily="34" charset="-120"/>
              </a:rPr>
              <a:t>ISO 31000 — Gestión del riesgo: principios y directrices</a:t>
            </a:r>
            <a:endParaRPr lang="en-US" sz="1150" dirty="0"/>
          </a:p>
          <a:p>
            <a:pPr indent="0" marL="0">
              <a:lnSpc>
                <a:spcPts val="1500"/>
              </a:lnSpc>
              <a:spcAft>
                <a:spcPts val="1300"/>
              </a:spcAft>
              <a:buNone/>
            </a:pPr>
            <a:r>
              <a:rPr lang="en-US" sz="1150" dirty="0">
                <a:solidFill>
                  <a:srgbClr val="C7D6E0"/>
                </a:solidFill>
                <a:latin typeface="Calibri" pitchFamily="34" charset="0"/>
                <a:ea typeface="Calibri" pitchFamily="34" charset="-122"/>
                <a:cs typeface="Calibri" pitchFamily="34" charset="-120"/>
              </a:rPr>
              <a:t>ISO/IEC/IEEE 42010 — Descripción de arquitectura (reemplaza a IEEE 1471)</a:t>
            </a:r>
            <a:endParaRPr lang="en-US" sz="1150" dirty="0"/>
          </a:p>
          <a:p>
            <a:pPr indent="0" marL="0">
              <a:lnSpc>
                <a:spcPts val="1500"/>
              </a:lnSpc>
              <a:spcAft>
                <a:spcPts val="1300"/>
              </a:spcAft>
              <a:buNone/>
            </a:pPr>
            <a:r>
              <a:rPr lang="en-US" sz="1150" dirty="0">
                <a:solidFill>
                  <a:srgbClr val="C7D6E0"/>
                </a:solidFill>
                <a:latin typeface="Calibri" pitchFamily="34" charset="0"/>
                <a:ea typeface="Calibri" pitchFamily="34" charset="-122"/>
                <a:cs typeface="Calibri" pitchFamily="34" charset="-120"/>
              </a:rPr>
              <a:t>ATAM — Software Engineering Institute, Carnegie Mellon</a:t>
            </a:r>
            <a:endParaRPr lang="en-US" sz="1150" dirty="0"/>
          </a:p>
          <a:p>
            <a:pPr indent="0" marL="0">
              <a:lnSpc>
                <a:spcPts val="1500"/>
              </a:lnSpc>
              <a:spcAft>
                <a:spcPts val="1300"/>
              </a:spcAft>
              <a:buNone/>
            </a:pPr>
            <a:r>
              <a:rPr lang="en-US" sz="1150" dirty="0">
                <a:solidFill>
                  <a:srgbClr val="C7D6E0"/>
                </a:solidFill>
                <a:latin typeface="Calibri" pitchFamily="34" charset="0"/>
                <a:ea typeface="Calibri" pitchFamily="34" charset="-122"/>
                <a:cs typeface="Calibri" pitchFamily="34" charset="-120"/>
              </a:rPr>
              <a:t>Taxonomía de riesgos del SEI</a:t>
            </a:r>
            <a:endParaRPr lang="en-US" sz="1150" dirty="0"/>
          </a:p>
          <a:p>
            <a:pPr indent="0" marL="0">
              <a:lnSpc>
                <a:spcPts val="1500"/>
              </a:lnSpc>
              <a:spcAft>
                <a:spcPts val="1300"/>
              </a:spcAft>
              <a:buNone/>
            </a:pPr>
            <a:r>
              <a:rPr lang="en-US" sz="1150" dirty="0">
                <a:solidFill>
                  <a:srgbClr val="C7D6E0"/>
                </a:solidFill>
                <a:latin typeface="Calibri" pitchFamily="34" charset="0"/>
                <a:ea typeface="Calibri" pitchFamily="34" charset="-122"/>
                <a:cs typeface="Calibri" pitchFamily="34" charset="-120"/>
              </a:rPr>
              <a:t>Brown, S. — Risk Storming · riskstorming.com</a:t>
            </a:r>
            <a:endParaRPr lang="en-US" sz="1150" dirty="0"/>
          </a:p>
          <a:p>
            <a:pPr indent="0" marL="0">
              <a:lnSpc>
                <a:spcPts val="1500"/>
              </a:lnSpc>
              <a:buNone/>
            </a:pPr>
            <a:r>
              <a:rPr lang="en-US" sz="1150" dirty="0">
                <a:solidFill>
                  <a:srgbClr val="C7D6E0"/>
                </a:solidFill>
                <a:latin typeface="Calibri" pitchFamily="34" charset="0"/>
                <a:ea typeface="Calibri" pitchFamily="34" charset="-122"/>
                <a:cs typeface="Calibri" pitchFamily="34" charset="-120"/>
              </a:rPr>
              <a:t>Open FAIR — The Open Group</a:t>
            </a:r>
            <a:endParaRPr lang="en-US" sz="1150" dirty="0"/>
          </a:p>
        </p:txBody>
      </p:sp>
      <p:sp>
        <p:nvSpPr>
          <p:cNvPr id="22" name="Text 20"/>
          <p:cNvSpPr txBox="1"/>
          <p:nvPr/>
        </p:nvSpPr>
        <p:spPr>
          <a:xfrm>
            <a:off x="1143000" y="6400800"/>
            <a:ext cx="8229600" cy="256032"/>
          </a:xfrm>
          <a:prstGeom prst="rect">
            <a:avLst/>
          </a:prstGeom>
          <a:noFill/>
          <a:ln/>
        </p:spPr>
        <p:txBody>
          <a:bodyPr wrap="square" lIns="0" tIns="0" rIns="0" bIns="0" rtlCol="0" anchor="ctr"/>
          <a:lstStyle/>
          <a:p>
            <a:pPr indent="0" marL="0">
              <a:buNone/>
            </a:pPr>
            <a:r>
              <a:rPr lang="en-US" sz="850" dirty="0">
                <a:solidFill>
                  <a:srgbClr val="6B8598"/>
                </a:solidFill>
                <a:latin typeface="Courier New" pitchFamily="34" charset="0"/>
                <a:ea typeface="Courier New" pitchFamily="34" charset="-122"/>
                <a:cs typeface="Courier New" pitchFamily="34" charset="-120"/>
              </a:rPr>
              <a:t>AREM · Universidad de La Sabana · Ing. César Augusto Vega Fernández</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Módulo 9 - Evaluación de Riesgos Arquitectónicos</dc:title>
  <dc:subject>PptxGenJS Presentation</dc:subject>
  <dc:creator>César Augusto Vega Fernández</dc:creator>
  <cp:lastModifiedBy>César Augusto Vega Fernández</cp:lastModifiedBy>
  <cp:revision>1</cp:revision>
  <dcterms:created xsi:type="dcterms:W3CDTF">2026-08-29T02:31:58Z</dcterms:created>
  <dcterms:modified xsi:type="dcterms:W3CDTF">2026-08-29T02:31:58Z</dcterms:modified>
</cp:coreProperties>
</file>